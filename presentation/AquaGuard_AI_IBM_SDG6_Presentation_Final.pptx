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AquaGuard AI is a standalone, browser-based water-quality analysis and preliminary screening application, built for an IBM academic evaluation and aligned to UN SDG 6. It opens by double-clicking index.html: no installation, no server. State up front that it never certifies water as safe and that the demo data is synthetic.</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Summarise in three beats: the problem, what was built, and the evidence. The evidence is real: unit tests and browser tests were executed, and screenshots in this deck are captures of the running app. Be equally direct about what was not verified: Safari and Firefox, a live print dialog, and the reference thresholds against live sources.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SDG 6 aims to ensure availability and sustainable management of water and sanitation for all. This project touches two targets. Be precise: the app supports understanding and prioritisation of follow-up; it does not itself improve water quality.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it as an interpretation gap. Instruments are cheap and common; knowing what the numbers mean is the hard part. The over-trust risk matters: three in-range numbers do not make water safe, so the tool must never imply that.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transparent about provenance. The build environment had no internet, so these points come from the author's knowledge of the cited documents and are marked for verification in REFERENCES.md. Do not quote a global statistic without checking the latest WHO/UNICEF JMP report.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persona wants transparency, not a black-box score: they want to know why something was flagged. That drives the explanation and provenance features.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Position AquaGuard as complementary to laboratory testing. The gap is a free, offline, transparent tool that validates data and refuses to overclaim.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capabilities at a high level and point out that everything works from a double-click.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honest about status: five objectives are verified by automated tests; the real-world value objective has not been measured and needs a pilot.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runs in the browser. Plain scripts, not ES modules, so file:// works. The reference configuration lives in JSON and is embedded into data.js at build time by a small dev-only script, so the app can read it without a server.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Vanilla technologies keep the app dependency-free and file://-friendly. Chart.js could not be downloaded in the build environment, so a small SVG chart library was written; the same functions render on-screen charts and charts embedded in the HTML report.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module has one job. Users only need index.html and its folders; scripts, tests and presentation are for developers.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flat record type. The demo dataset is synthetic: 120 records, four fictional sites, 2026-08-01 to 2026-10-10, with ordinary values, missing measurements, exceedances and deliberate anomalies. It is generated by a script with a fixed seed.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the story of one record. It arrives through the form or a CSV, passes validation, is stored, is screened against the active profile, and then appears in charts, tables, explanations and exports. Reset Demo restores the original dataset at any time.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each parameter simply, and say what it can and cannot tell you. Accepted input ranges are plausibility limits for data entry, not water-quality thresholds.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profiles are configurable. Each threshold records standard, edition, unit, applicability, criterion type and source URL. They are all marked unverified. Distinguish drinking-water, operational and surface-water indicators.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five steps. Stress that the same function screens manual and imported records (a test proves it), that limits are inclusive, and that the wording is fixed so the tool cannot say 'safe'.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real screenshots captured from the running application opened from file:// in headless Chromium during the automated test run. The dashboard shows figures computed from the loaded records. The demo-mode label is always visible.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each safeguard. Fatal problems stop the import with a clear message; row-level problems are listed with reasons and never silently dropped; units are never converted. The demo data keeps working whatever happens to an upload.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Charts update with the filters. Outlier detection uses a robust z-score from the median and MAD; the demo data yields 5 unusual samples at the default threshold. It is deliberately called a statistical outlier detector, not AI or machine learning, and an unusual value is not necessarily contaminated.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Reports are generated in the browser from exactly the filtered records and the active profile. PDF is produced via the browser's print dialog because no PDF library could be bundled locally. The print dialog itself cannot be verified headlessly.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numbers come from tests/results.json written by the test runners. Unit tests (75 checks) run the logic modules in Node; the browser suite (46 checks) drives index.html via file:// in headless Chromium. Not verified: Safari, Firefox, the live print dialog, real mobile devices, accessibility audit with a screen reader, and thresholds against live sources.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a balanced view. The advantages are real but small in scope; the disadvantages are important for an honest evaluation.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each quadrant. The key ethical point is that the app must not be mistaken for a safety certificate, so it uses fixed wording, prominent disclaimers and no green badge.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pathway is a hypothesis, not a result. Make clear that no pilot has been run and none is claimed. Future work starts with verifying thresholds and testing in more browsers.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restating the contribution and the honest limits. All reference URLs were not re-opened during the build because the environment had no internet: verify them before presenting.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7.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F4A"/>
        </a:solidFill>
        <a:effectLst/>
      </p:bgPr>
    </p:bg>
    <p:spTree>
      <p:nvGrpSpPr>
        <p:cNvPr id="1" name=""/>
        <p:cNvGrpSpPr/>
        <p:nvPr/>
      </p:nvGrpSpPr>
      <p:grpSpPr/>
      <p:sp>
        <p:nvSpPr>
          <p:cNvPr id="2" name="TextBox 1"/>
          <p:cNvSpPr txBox="1"/>
          <p:nvPr/>
        </p:nvSpPr>
        <p:spPr>
          <a:xfrm>
            <a:off x="822960" y="1737360"/>
            <a:ext cx="10515600" cy="1188720"/>
          </a:xfrm>
          <a:prstGeom prst="rect">
            <a:avLst/>
          </a:prstGeom>
          <a:noFill/>
        </p:spPr>
        <p:txBody>
          <a:bodyPr wrap="square" anchor="t" lIns="36576" rIns="36576" tIns="18288" bIns="18288">
            <a:spAutoFit/>
          </a:bodyPr>
          <a:lstStyle/>
          <a:p>
            <a:pPr algn="l">
              <a:spcAft>
                <a:spcPts val="800"/>
              </a:spcAft>
            </a:pPr>
            <a:r>
              <a:rPr sz="6600" b="1">
                <a:solidFill>
                  <a:srgbClr val="FFFFFF"/>
                </a:solidFill>
                <a:latin typeface="Calibri"/>
              </a:rPr>
              <a:t>AquaGuard AI</a:t>
            </a:r>
          </a:p>
        </p:txBody>
      </p:sp>
      <p:sp>
        <p:nvSpPr>
          <p:cNvPr id="3" name="TextBox 2"/>
          <p:cNvSpPr txBox="1"/>
          <p:nvPr/>
        </p:nvSpPr>
        <p:spPr>
          <a:xfrm>
            <a:off x="822960" y="2971800"/>
            <a:ext cx="10515600" cy="822960"/>
          </a:xfrm>
          <a:prstGeom prst="rect">
            <a:avLst/>
          </a:prstGeom>
          <a:noFill/>
        </p:spPr>
        <p:txBody>
          <a:bodyPr wrap="square" anchor="t" lIns="36576" rIns="36576" tIns="18288" bIns="18288">
            <a:spAutoFit/>
          </a:bodyPr>
          <a:lstStyle/>
          <a:p>
            <a:pPr algn="l">
              <a:spcAft>
                <a:spcPts val="800"/>
              </a:spcAft>
            </a:pPr>
            <a:r>
              <a:rPr sz="2800" b="0">
                <a:solidFill>
                  <a:srgbClr val="9FD8E8"/>
                </a:solidFill>
                <a:latin typeface="Calibri"/>
              </a:rPr>
              <a:t>Water-quality analysis and preliminary screening in a single HTML file</a:t>
            </a:r>
          </a:p>
        </p:txBody>
      </p:sp>
      <p:sp>
        <p:nvSpPr>
          <p:cNvPr id="4" name="TextBox 3"/>
          <p:cNvSpPr txBox="1"/>
          <p:nvPr/>
        </p:nvSpPr>
        <p:spPr>
          <a:xfrm>
            <a:off x="822960" y="4206240"/>
            <a:ext cx="10515600" cy="1188720"/>
          </a:xfrm>
          <a:prstGeom prst="rect">
            <a:avLst/>
          </a:prstGeom>
          <a:noFill/>
        </p:spPr>
        <p:txBody>
          <a:bodyPr wrap="square" anchor="t" lIns="36576" rIns="36576" tIns="18288" bIns="18288">
            <a:spAutoFit/>
          </a:bodyPr>
          <a:lstStyle/>
          <a:p>
            <a:pPr algn="l">
              <a:spcAft>
                <a:spcPts val="800"/>
              </a:spcAft>
            </a:pPr>
            <a:r>
              <a:rPr sz="1800" b="0">
                <a:solidFill>
                  <a:srgbClr val="CADCFC"/>
                </a:solidFill>
                <a:latin typeface="Calibri"/>
              </a:rPr>
              <a:t>IBM academic project  |  UN SDG 6: Clean Water and Sanitation</a:t>
            </a:r>
          </a:p>
          <a:p>
            <a:pPr algn="l">
              <a:spcAft>
                <a:spcPts val="800"/>
              </a:spcAft>
            </a:pPr>
            <a:r>
              <a:rPr sz="1800" b="0">
                <a:solidFill>
                  <a:srgbClr val="CADCFC"/>
                </a:solidFill>
                <a:latin typeface="Calibri"/>
              </a:rPr>
              <a:t>Sohan Manoj  |  St. Claret College, Bengaluru</a:t>
            </a:r>
          </a:p>
        </p:txBody>
      </p:sp>
      <p:sp>
        <p:nvSpPr>
          <p:cNvPr id="5" name="Rounded Rectangle 4"/>
          <p:cNvSpPr/>
          <p:nvPr/>
        </p:nvSpPr>
        <p:spPr>
          <a:xfrm>
            <a:off x="822960" y="5577840"/>
            <a:ext cx="10515600" cy="685800"/>
          </a:xfrm>
          <a:prstGeom prst="roundRect">
            <a:avLst>
              <a:gd name="adj" fmla="val 5000"/>
            </a:avLst>
          </a:prstGeom>
          <a:solidFill>
            <a:srgbClr val="12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5650992"/>
            <a:ext cx="10149840" cy="548640"/>
          </a:xfrm>
          <a:prstGeom prst="rect">
            <a:avLst/>
          </a:prstGeom>
          <a:noFill/>
        </p:spPr>
        <p:txBody>
          <a:bodyPr wrap="square" anchor="ctr" lIns="36576" rIns="36576" tIns="18288" bIns="18288">
            <a:spAutoFit/>
          </a:bodyPr>
          <a:lstStyle/>
          <a:p>
            <a:pPr algn="l">
              <a:spcAft>
                <a:spcPts val="800"/>
              </a:spcAft>
            </a:pPr>
            <a:r>
              <a:rPr sz="1400" b="0">
                <a:solidFill>
                  <a:srgbClr val="FFD9A8"/>
                </a:solidFill>
                <a:latin typeface="Calibri"/>
              </a:rPr>
              <a:t>Educational screening tool. All demo data is synthetic. Not endorsed by IBM, the UN or any government agency.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7315200" cy="274320"/>
          </a:xfrm>
          <a:prstGeom prst="rect">
            <a:avLst/>
          </a:prstGeom>
          <a:noFill/>
        </p:spPr>
        <p:txBody>
          <a:bodyPr wrap="square" anchor="t" lIns="36576" rIns="36576" tIns="18288" bIns="18288">
            <a:spAutoFit/>
          </a:bodyPr>
          <a:lstStyle/>
          <a:p>
            <a:pPr algn="l">
              <a:spcAft>
                <a:spcPts val="800"/>
              </a:spcAft>
            </a:pPr>
            <a:r>
              <a:rPr sz="1100" b="1">
                <a:solidFill>
                  <a:srgbClr val="0B6E99"/>
                </a:solidFill>
                <a:latin typeface="Calibri"/>
              </a:rPr>
              <a:t>OVERVIEW</a:t>
            </a:r>
          </a:p>
        </p:txBody>
      </p:sp>
      <p:sp>
        <p:nvSpPr>
          <p:cNvPr id="3" name="TextBox 2"/>
          <p:cNvSpPr txBox="1"/>
          <p:nvPr/>
        </p:nvSpPr>
        <p:spPr>
          <a:xfrm>
            <a:off x="548640" y="548640"/>
            <a:ext cx="11064240" cy="685800"/>
          </a:xfrm>
          <a:prstGeom prst="rect">
            <a:avLst/>
          </a:prstGeom>
          <a:noFill/>
        </p:spPr>
        <p:txBody>
          <a:bodyPr wrap="square" anchor="ctr" lIns="36576" rIns="36576" tIns="18288" bIns="18288">
            <a:spAutoFit/>
          </a:bodyPr>
          <a:lstStyle/>
          <a:p>
            <a:pPr algn="l">
              <a:spcAft>
                <a:spcPts val="800"/>
              </a:spcAft>
            </a:pPr>
            <a:r>
              <a:rPr sz="3000" b="1">
                <a:solidFill>
                  <a:srgbClr val="0B2F4A"/>
                </a:solidFill>
                <a:latin typeface="Calibri"/>
              </a:rPr>
              <a:t>Executive summary</a:t>
            </a:r>
          </a:p>
        </p:txBody>
      </p:sp>
      <p:sp>
        <p:nvSpPr>
          <p:cNvPr id="4" name="TextBox 3"/>
          <p:cNvSpPr txBox="1"/>
          <p:nvPr/>
        </p:nvSpPr>
        <p:spPr>
          <a:xfrm>
            <a:off x="548640" y="6473952"/>
            <a:ext cx="9601200" cy="274320"/>
          </a:xfrm>
          <a:prstGeom prst="rect">
            <a:avLst/>
          </a:prstGeom>
          <a:noFill/>
        </p:spPr>
        <p:txBody>
          <a:bodyPr wrap="square" anchor="t" lIns="36576" rIns="36576" tIns="18288" bIns="18288">
            <a:spAutoFit/>
          </a:bodyPr>
          <a:lstStyle/>
          <a:p>
            <a:pPr algn="l">
              <a:spcAft>
                <a:spcPts val="800"/>
              </a:spcAft>
            </a:pPr>
            <a:r>
              <a:rPr sz="900" b="0">
                <a:solidFill>
                  <a:srgbClr val="4C5A67"/>
                </a:solidFill>
                <a:latin typeface="Calibri"/>
              </a:rPr>
              <a:t>AquaGuard AI  |  IBM academic project  |  UN SDG 6  |  Educational screening tool - not a safety certification. Not endorsed by IBM, the UN or any agency.</a:t>
            </a:r>
          </a:p>
        </p:txBody>
      </p:sp>
      <p:sp>
        <p:nvSpPr>
          <p:cNvPr id="5" name="TextBox 4"/>
          <p:cNvSpPr txBox="1"/>
          <p:nvPr/>
        </p:nvSpPr>
        <p:spPr>
          <a:xfrm>
            <a:off x="11155680" y="6473952"/>
            <a:ext cx="548640" cy="274320"/>
          </a:xfrm>
          <a:prstGeom prst="rect">
            <a:avLst/>
          </a:prstGeom>
          <a:noFill/>
        </p:spPr>
        <p:txBody>
          <a:bodyPr wrap="square" anchor="t" lIns="36576" rIns="36576" tIns="18288" bIns="18288">
            <a:spAutoFit/>
          </a:bodyPr>
          <a:lstStyle/>
          <a:p>
            <a:pPr algn="r">
              <a:spcAft>
                <a:spcPts val="800"/>
              </a:spcAft>
            </a:pPr>
            <a:r>
              <a:rPr sz="1000" b="0">
                <a:solidFill>
                  <a:srgbClr val="4C5A67"/>
                </a:solidFill>
                <a:latin typeface="Calibri"/>
              </a:rPr>
              <a:t>2</a:t>
            </a:r>
          </a:p>
        </p:txBody>
      </p:sp>
      <p:sp>
        <p:nvSpPr>
          <p:cNvPr id="6" name="Rounded Rectangle 5"/>
          <p:cNvSpPr/>
          <p:nvPr/>
        </p:nvSpPr>
        <p:spPr>
          <a:xfrm>
            <a:off x="548640" y="1463040"/>
            <a:ext cx="3611880" cy="3291840"/>
          </a:xfrm>
          <a:prstGeom prst="roundRect">
            <a:avLst>
              <a:gd name="adj" fmla="val 5000"/>
            </a:avLst>
          </a:prstGeom>
          <a:solidFill>
            <a:srgbClr val="E4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572768"/>
            <a:ext cx="3282696" cy="457200"/>
          </a:xfrm>
          <a:prstGeom prst="rect">
            <a:avLst/>
          </a:prstGeom>
          <a:noFill/>
        </p:spPr>
        <p:txBody>
          <a:bodyPr wrap="square" anchor="t" lIns="36576" rIns="36576" tIns="18288" bIns="18288">
            <a:spAutoFit/>
          </a:bodyPr>
          <a:lstStyle/>
          <a:p>
            <a:pPr algn="l">
              <a:spcAft>
                <a:spcPts val="800"/>
              </a:spcAft>
            </a:pPr>
            <a:r>
              <a:rPr sz="2200" b="1">
                <a:solidFill>
                  <a:srgbClr val="0B6E99"/>
                </a:solidFill>
                <a:latin typeface="Calibri"/>
              </a:rPr>
              <a:t>Problem</a:t>
            </a:r>
          </a:p>
        </p:txBody>
      </p:sp>
      <p:sp>
        <p:nvSpPr>
          <p:cNvPr id="8" name="TextBox 7"/>
          <p:cNvSpPr txBox="1"/>
          <p:nvPr/>
        </p:nvSpPr>
        <p:spPr>
          <a:xfrm>
            <a:off x="713232" y="2029968"/>
            <a:ext cx="3282696" cy="2651760"/>
          </a:xfrm>
          <a:prstGeom prst="rect">
            <a:avLst/>
          </a:prstGeom>
          <a:noFill/>
        </p:spPr>
        <p:txBody>
          <a:bodyPr wrap="square" anchor="t" lIns="36576" rIns="36576" tIns="18288" bIns="18288">
            <a:spAutoFit/>
          </a:bodyPr>
          <a:lstStyle/>
          <a:p>
            <a:pPr algn="l">
              <a:spcAft>
                <a:spcPts val="800"/>
              </a:spcAft>
            </a:pPr>
            <a:r>
              <a:rPr sz="2000" b="0">
                <a:solidFill>
                  <a:srgbClr val="0D2B3E"/>
                </a:solidFill>
                <a:latin typeface="Calibri"/>
              </a:rPr>
              <a:t>People have water-quality readings but no easy way to interpret them, see trends, or decide when further testing is needed.</a:t>
            </a:r>
          </a:p>
        </p:txBody>
      </p:sp>
      <p:sp>
        <p:nvSpPr>
          <p:cNvPr id="9" name="Rounded Rectangle 8"/>
          <p:cNvSpPr/>
          <p:nvPr/>
        </p:nvSpPr>
        <p:spPr>
          <a:xfrm>
            <a:off x="4343400" y="1463040"/>
            <a:ext cx="3611880" cy="3291840"/>
          </a:xfrm>
          <a:prstGeom prst="roundRect">
            <a:avLst>
              <a:gd name="adj" fmla="val 5000"/>
            </a:avLst>
          </a:prstGeom>
          <a:solidFill>
            <a:srgbClr val="E4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07992" y="1572768"/>
            <a:ext cx="3282696" cy="457200"/>
          </a:xfrm>
          <a:prstGeom prst="rect">
            <a:avLst/>
          </a:prstGeom>
          <a:noFill/>
        </p:spPr>
        <p:txBody>
          <a:bodyPr wrap="square" anchor="t" lIns="36576" rIns="36576" tIns="18288" bIns="18288">
            <a:spAutoFit/>
          </a:bodyPr>
          <a:lstStyle/>
          <a:p>
            <a:pPr algn="l">
              <a:spcAft>
                <a:spcPts val="800"/>
              </a:spcAft>
            </a:pPr>
            <a:r>
              <a:rPr sz="2200" b="1">
                <a:solidFill>
                  <a:srgbClr val="0B6E99"/>
                </a:solidFill>
                <a:latin typeface="Calibri"/>
              </a:rPr>
              <a:t>Solution</a:t>
            </a:r>
          </a:p>
        </p:txBody>
      </p:sp>
      <p:sp>
        <p:nvSpPr>
          <p:cNvPr id="11" name="TextBox 10"/>
          <p:cNvSpPr txBox="1"/>
          <p:nvPr/>
        </p:nvSpPr>
        <p:spPr>
          <a:xfrm>
            <a:off x="4507992" y="2029968"/>
            <a:ext cx="3282696" cy="2651760"/>
          </a:xfrm>
          <a:prstGeom prst="rect">
            <a:avLst/>
          </a:prstGeom>
          <a:noFill/>
        </p:spPr>
        <p:txBody>
          <a:bodyPr wrap="square" anchor="t" lIns="36576" rIns="36576" tIns="18288" bIns="18288">
            <a:spAutoFit/>
          </a:bodyPr>
          <a:lstStyle/>
          <a:p>
            <a:pPr algn="l">
              <a:spcAft>
                <a:spcPts val="800"/>
              </a:spcAft>
            </a:pPr>
            <a:r>
              <a:rPr sz="2000" b="0">
                <a:solidFill>
                  <a:srgbClr val="0D2B3E"/>
                </a:solidFill>
                <a:latin typeface="Calibri"/>
              </a:rPr>
              <a:t>A standalone HTML app: preloaded synthetic demo, validation, transparent screening, charts, outlier detection, CSV and HTML-report export.</a:t>
            </a:r>
          </a:p>
        </p:txBody>
      </p:sp>
      <p:sp>
        <p:nvSpPr>
          <p:cNvPr id="12" name="Rounded Rectangle 11"/>
          <p:cNvSpPr/>
          <p:nvPr/>
        </p:nvSpPr>
        <p:spPr>
          <a:xfrm>
            <a:off x="8138160" y="1463040"/>
            <a:ext cx="3611880" cy="3291840"/>
          </a:xfrm>
          <a:prstGeom prst="roundRect">
            <a:avLst>
              <a:gd name="adj" fmla="val 5000"/>
            </a:avLst>
          </a:prstGeom>
          <a:solidFill>
            <a:srgbClr val="E4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02752" y="1572768"/>
            <a:ext cx="3282696" cy="457200"/>
          </a:xfrm>
          <a:prstGeom prst="rect">
            <a:avLst/>
          </a:prstGeom>
          <a:noFill/>
        </p:spPr>
        <p:txBody>
          <a:bodyPr wrap="square" anchor="t" lIns="36576" rIns="36576" tIns="18288" bIns="18288">
            <a:spAutoFit/>
          </a:bodyPr>
          <a:lstStyle/>
          <a:p>
            <a:pPr algn="l">
              <a:spcAft>
                <a:spcPts val="800"/>
              </a:spcAft>
            </a:pPr>
            <a:r>
              <a:rPr sz="2200" b="1">
                <a:solidFill>
                  <a:srgbClr val="0B6E99"/>
                </a:solidFill>
                <a:latin typeface="Calibri"/>
              </a:rPr>
              <a:t>Evidence</a:t>
            </a:r>
          </a:p>
        </p:txBody>
      </p:sp>
      <p:sp>
        <p:nvSpPr>
          <p:cNvPr id="14" name="TextBox 13"/>
          <p:cNvSpPr txBox="1"/>
          <p:nvPr/>
        </p:nvSpPr>
        <p:spPr>
          <a:xfrm>
            <a:off x="8302752" y="2029968"/>
            <a:ext cx="3282696" cy="2651760"/>
          </a:xfrm>
          <a:prstGeom prst="rect">
            <a:avLst/>
          </a:prstGeom>
          <a:noFill/>
        </p:spPr>
        <p:txBody>
          <a:bodyPr wrap="square" anchor="t" lIns="36576" rIns="36576" tIns="18288" bIns="18288">
            <a:spAutoFit/>
          </a:bodyPr>
          <a:lstStyle/>
          <a:p>
            <a:pPr algn="l">
              <a:spcAft>
                <a:spcPts val="800"/>
              </a:spcAft>
            </a:pPr>
            <a:r>
              <a:rPr sz="2000" b="0">
                <a:solidFill>
                  <a:srgbClr val="0D2B3E"/>
                </a:solidFill>
                <a:latin typeface="Calibri"/>
              </a:rPr>
              <a:t>75 unit checks and 46 real-browser checks passed; no console errors; works offline from file://.</a:t>
            </a:r>
          </a:p>
        </p:txBody>
      </p:sp>
      <p:sp>
        <p:nvSpPr>
          <p:cNvPr id="15" name="Rounded Rectangle 14"/>
          <p:cNvSpPr/>
          <p:nvPr/>
        </p:nvSpPr>
        <p:spPr>
          <a:xfrm>
            <a:off x="548640" y="5029200"/>
            <a:ext cx="11064240" cy="1143000"/>
          </a:xfrm>
          <a:prstGeom prst="roundRect">
            <a:avLst>
              <a:gd name="adj" fmla="val 5000"/>
            </a:avLst>
          </a:prstGeom>
          <a:solidFill>
            <a:srgbClr val="FF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5102352"/>
            <a:ext cx="10698480" cy="1005840"/>
          </a:xfrm>
          <a:prstGeom prst="rect">
            <a:avLst/>
          </a:prstGeom>
          <a:noFill/>
        </p:spPr>
        <p:txBody>
          <a:bodyPr wrap="square" anchor="t" lIns="36576" rIns="36576" tIns="18288" bIns="18288">
            <a:spAutoFit/>
          </a:bodyPr>
          <a:lstStyle/>
          <a:p>
            <a:pPr algn="l">
              <a:spcAft>
                <a:spcPts val="300"/>
              </a:spcAft>
            </a:pPr>
            <a:r>
              <a:rPr sz="1500" b="0">
                <a:solidFill>
                  <a:srgbClr val="6B3A00"/>
                </a:solidFill>
                <a:latin typeface="Calibri"/>
              </a:rPr>
              <a:t>Honest limits: screening only (never "safe" or "unsafe"); thresholds are marked UNVERIFIED until checked against the sources;</a:t>
            </a:r>
          </a:p>
          <a:p>
            <a:pPr algn="l">
              <a:spcAft>
                <a:spcPts val="300"/>
              </a:spcAft>
            </a:pPr>
            <a:r>
              <a:rPr sz="1500" b="0">
                <a:solidFill>
                  <a:srgbClr val="6B3A00"/>
                </a:solidFill>
                <a:latin typeface="Calibri"/>
              </a:rPr>
              <a:t>tested in Chromium only; no field pilot has been run.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7315200" cy="274320"/>
          </a:xfrm>
          <a:prstGeom prst="rect">
            <a:avLst/>
          </a:prstGeom>
          <a:noFill/>
        </p:spPr>
        <p:txBody>
          <a:bodyPr wrap="square" anchor="t" lIns="36576" rIns="36576" tIns="18288" bIns="18288">
            <a:spAutoFit/>
          </a:bodyPr>
          <a:lstStyle/>
          <a:p>
            <a:pPr algn="l">
              <a:spcAft>
                <a:spcPts val="800"/>
              </a:spcAft>
            </a:pPr>
            <a:r>
              <a:rPr sz="1100" b="1">
                <a:solidFill>
                  <a:srgbClr val="0B6E99"/>
                </a:solidFill>
                <a:latin typeface="Calibri"/>
              </a:rPr>
              <a:t>CONTEXT</a:t>
            </a:r>
          </a:p>
        </p:txBody>
      </p:sp>
      <p:sp>
        <p:nvSpPr>
          <p:cNvPr id="3" name="TextBox 2"/>
          <p:cNvSpPr txBox="1"/>
          <p:nvPr/>
        </p:nvSpPr>
        <p:spPr>
          <a:xfrm>
            <a:off x="548640" y="548640"/>
            <a:ext cx="11064240" cy="685800"/>
          </a:xfrm>
          <a:prstGeom prst="rect">
            <a:avLst/>
          </a:prstGeom>
          <a:noFill/>
        </p:spPr>
        <p:txBody>
          <a:bodyPr wrap="square" anchor="ctr" lIns="36576" rIns="36576" tIns="18288" bIns="18288">
            <a:spAutoFit/>
          </a:bodyPr>
          <a:lstStyle/>
          <a:p>
            <a:pPr algn="l">
              <a:spcAft>
                <a:spcPts val="800"/>
              </a:spcAft>
            </a:pPr>
            <a:r>
              <a:rPr sz="3000" b="1">
                <a:solidFill>
                  <a:srgbClr val="0B2F4A"/>
                </a:solidFill>
                <a:latin typeface="Calibri"/>
              </a:rPr>
              <a:t>Introduction to SDG 6: Clean Water and Sanitation</a:t>
            </a:r>
          </a:p>
        </p:txBody>
      </p:sp>
      <p:sp>
        <p:nvSpPr>
          <p:cNvPr id="4" name="TextBox 3"/>
          <p:cNvSpPr txBox="1"/>
          <p:nvPr/>
        </p:nvSpPr>
        <p:spPr>
          <a:xfrm>
            <a:off x="548640" y="6473952"/>
            <a:ext cx="9601200" cy="274320"/>
          </a:xfrm>
          <a:prstGeom prst="rect">
            <a:avLst/>
          </a:prstGeom>
          <a:noFill/>
        </p:spPr>
        <p:txBody>
          <a:bodyPr wrap="square" anchor="t" lIns="36576" rIns="36576" tIns="18288" bIns="18288">
            <a:spAutoFit/>
          </a:bodyPr>
          <a:lstStyle/>
          <a:p>
            <a:pPr algn="l">
              <a:spcAft>
                <a:spcPts val="800"/>
              </a:spcAft>
            </a:pPr>
            <a:r>
              <a:rPr sz="900" b="0">
                <a:solidFill>
                  <a:srgbClr val="4C5A67"/>
                </a:solidFill>
                <a:latin typeface="Calibri"/>
              </a:rPr>
              <a:t>AquaGuard AI  |  IBM academic project  |  UN SDG 6  |  Educational screening tool - not a safety certification. Not endorsed by IBM, the UN or any agency.</a:t>
            </a:r>
          </a:p>
        </p:txBody>
      </p:sp>
      <p:sp>
        <p:nvSpPr>
          <p:cNvPr id="5" name="TextBox 4"/>
          <p:cNvSpPr txBox="1"/>
          <p:nvPr/>
        </p:nvSpPr>
        <p:spPr>
          <a:xfrm>
            <a:off x="11155680" y="6473952"/>
            <a:ext cx="548640" cy="274320"/>
          </a:xfrm>
          <a:prstGeom prst="rect">
            <a:avLst/>
          </a:prstGeom>
          <a:noFill/>
        </p:spPr>
        <p:txBody>
          <a:bodyPr wrap="square" anchor="t" lIns="36576" rIns="36576" tIns="18288" bIns="18288">
            <a:spAutoFit/>
          </a:bodyPr>
          <a:lstStyle/>
          <a:p>
            <a:pPr algn="r">
              <a:spcAft>
                <a:spcPts val="800"/>
              </a:spcAft>
            </a:pPr>
            <a:r>
              <a:rPr sz="1000" b="0">
                <a:solidFill>
                  <a:srgbClr val="4C5A67"/>
                </a:solidFill>
                <a:latin typeface="Calibri"/>
              </a:rPr>
              <a:t>3</a:t>
            </a:r>
          </a:p>
        </p:txBody>
      </p:sp>
      <p:sp>
        <p:nvSpPr>
          <p:cNvPr id="6" name="Rounded Rectangle 5"/>
          <p:cNvSpPr/>
          <p:nvPr/>
        </p:nvSpPr>
        <p:spPr>
          <a:xfrm>
            <a:off x="548640" y="1463040"/>
            <a:ext cx="5394960" cy="2286000"/>
          </a:xfrm>
          <a:prstGeom prst="roundRect">
            <a:avLst>
              <a:gd name="adj" fmla="val 5000"/>
            </a:avLst>
          </a:prstGeom>
          <a:solidFill>
            <a:srgbClr val="E4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572768"/>
            <a:ext cx="5065776" cy="457200"/>
          </a:xfrm>
          <a:prstGeom prst="rect">
            <a:avLst/>
          </a:prstGeom>
          <a:noFill/>
        </p:spPr>
        <p:txBody>
          <a:bodyPr wrap="square" anchor="t" lIns="36576" rIns="36576" tIns="18288" bIns="18288">
            <a:spAutoFit/>
          </a:bodyPr>
          <a:lstStyle/>
          <a:p>
            <a:pPr algn="l">
              <a:spcAft>
                <a:spcPts val="800"/>
              </a:spcAft>
            </a:pPr>
            <a:r>
              <a:rPr sz="1700" b="1">
                <a:solidFill>
                  <a:srgbClr val="0B6E99"/>
                </a:solidFill>
                <a:latin typeface="Calibri"/>
              </a:rPr>
              <a:t>Target 6.1</a:t>
            </a:r>
          </a:p>
        </p:txBody>
      </p:sp>
      <p:sp>
        <p:nvSpPr>
          <p:cNvPr id="8" name="TextBox 7"/>
          <p:cNvSpPr txBox="1"/>
          <p:nvPr/>
        </p:nvSpPr>
        <p:spPr>
          <a:xfrm>
            <a:off x="713232" y="2029968"/>
            <a:ext cx="5065776" cy="1645920"/>
          </a:xfrm>
          <a:prstGeom prst="rect">
            <a:avLst/>
          </a:prstGeom>
          <a:noFill/>
        </p:spPr>
        <p:txBody>
          <a:bodyPr wrap="square" anchor="t" lIns="36576" rIns="36576" tIns="18288" bIns="18288">
            <a:spAutoFit/>
          </a:bodyPr>
          <a:lstStyle/>
          <a:p>
            <a:pPr algn="l">
              <a:spcAft>
                <a:spcPts val="800"/>
              </a:spcAft>
            </a:pPr>
            <a:r>
              <a:rPr sz="1900" b="0">
                <a:solidFill>
                  <a:srgbClr val="0D2B3E"/>
                </a:solidFill>
                <a:latin typeface="Calibri"/>
              </a:rPr>
              <a:t>Universal and equitable access to safe and affordable drinking water. AquaGuard helps people notice readings that warrant further testing.</a:t>
            </a:r>
          </a:p>
        </p:txBody>
      </p:sp>
      <p:sp>
        <p:nvSpPr>
          <p:cNvPr id="9" name="Rounded Rectangle 8"/>
          <p:cNvSpPr/>
          <p:nvPr/>
        </p:nvSpPr>
        <p:spPr>
          <a:xfrm>
            <a:off x="6217920" y="1463040"/>
            <a:ext cx="5394960" cy="2286000"/>
          </a:xfrm>
          <a:prstGeom prst="roundRect">
            <a:avLst>
              <a:gd name="adj" fmla="val 5000"/>
            </a:avLst>
          </a:prstGeom>
          <a:solidFill>
            <a:srgbClr val="E4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2512" y="1572768"/>
            <a:ext cx="5065776" cy="457200"/>
          </a:xfrm>
          <a:prstGeom prst="rect">
            <a:avLst/>
          </a:prstGeom>
          <a:noFill/>
        </p:spPr>
        <p:txBody>
          <a:bodyPr wrap="square" anchor="t" lIns="36576" rIns="36576" tIns="18288" bIns="18288">
            <a:spAutoFit/>
          </a:bodyPr>
          <a:lstStyle/>
          <a:p>
            <a:pPr algn="l">
              <a:spcAft>
                <a:spcPts val="800"/>
              </a:spcAft>
            </a:pPr>
            <a:r>
              <a:rPr sz="1700" b="1">
                <a:solidFill>
                  <a:srgbClr val="0B6E99"/>
                </a:solidFill>
                <a:latin typeface="Calibri"/>
              </a:rPr>
              <a:t>Target 6.3</a:t>
            </a:r>
          </a:p>
        </p:txBody>
      </p:sp>
      <p:sp>
        <p:nvSpPr>
          <p:cNvPr id="11" name="TextBox 10"/>
          <p:cNvSpPr txBox="1"/>
          <p:nvPr/>
        </p:nvSpPr>
        <p:spPr>
          <a:xfrm>
            <a:off x="6382512" y="2029968"/>
            <a:ext cx="5065776" cy="1645920"/>
          </a:xfrm>
          <a:prstGeom prst="rect">
            <a:avLst/>
          </a:prstGeom>
          <a:noFill/>
        </p:spPr>
        <p:txBody>
          <a:bodyPr wrap="square" anchor="t" lIns="36576" rIns="36576" tIns="18288" bIns="18288">
            <a:spAutoFit/>
          </a:bodyPr>
          <a:lstStyle/>
          <a:p>
            <a:pPr algn="l">
              <a:spcAft>
                <a:spcPts val="800"/>
              </a:spcAft>
            </a:pPr>
            <a:r>
              <a:rPr sz="1900" b="0">
                <a:solidFill>
                  <a:srgbClr val="0D2B3E"/>
                </a:solidFill>
                <a:latin typeface="Calibri"/>
              </a:rPr>
              <a:t>Improve water quality by reducing pollution. Trend and location views help surface sites whose readings drift.</a:t>
            </a:r>
          </a:p>
        </p:txBody>
      </p:sp>
      <p:sp>
        <p:nvSpPr>
          <p:cNvPr id="12" name="Rounded Rectangle 11"/>
          <p:cNvSpPr/>
          <p:nvPr/>
        </p:nvSpPr>
        <p:spPr>
          <a:xfrm>
            <a:off x="548640" y="4023360"/>
            <a:ext cx="11064240" cy="2011680"/>
          </a:xfrm>
          <a:prstGeom prst="roundRect">
            <a:avLst>
              <a:gd name="adj" fmla="val 5000"/>
            </a:avLst>
          </a:prstGeom>
          <a:solidFill>
            <a:srgbClr val="FF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4133088"/>
            <a:ext cx="10735056" cy="457200"/>
          </a:xfrm>
          <a:prstGeom prst="rect">
            <a:avLst/>
          </a:prstGeom>
          <a:noFill/>
        </p:spPr>
        <p:txBody>
          <a:bodyPr wrap="square" anchor="t" lIns="36576" rIns="36576" tIns="18288" bIns="18288">
            <a:spAutoFit/>
          </a:bodyPr>
          <a:lstStyle/>
          <a:p>
            <a:pPr algn="l">
              <a:spcAft>
                <a:spcPts val="800"/>
              </a:spcAft>
            </a:pPr>
            <a:r>
              <a:rPr sz="1700" b="1">
                <a:solidFill>
                  <a:srgbClr val="C75F00"/>
                </a:solidFill>
                <a:latin typeface="Calibri"/>
              </a:rPr>
              <a:t>What this project does NOT claim</a:t>
            </a:r>
          </a:p>
        </p:txBody>
      </p:sp>
      <p:sp>
        <p:nvSpPr>
          <p:cNvPr id="14" name="TextBox 13"/>
          <p:cNvSpPr txBox="1"/>
          <p:nvPr/>
        </p:nvSpPr>
        <p:spPr>
          <a:xfrm>
            <a:off x="713232" y="4590288"/>
            <a:ext cx="10735056" cy="1371600"/>
          </a:xfrm>
          <a:prstGeom prst="rect">
            <a:avLst/>
          </a:prstGeom>
          <a:noFill/>
        </p:spPr>
        <p:txBody>
          <a:bodyPr wrap="square" anchor="t" lIns="36576" rIns="36576" tIns="18288" bIns="18288">
            <a:spAutoFit/>
          </a:bodyPr>
          <a:lstStyle/>
          <a:p>
            <a:pPr algn="l">
              <a:spcAft>
                <a:spcPts val="800"/>
              </a:spcAft>
            </a:pPr>
            <a:r>
              <a:rPr sz="1800" b="0">
                <a:solidFill>
                  <a:srgbClr val="0D2B3E"/>
                </a:solidFill>
                <a:latin typeface="Calibri"/>
              </a:rPr>
              <a:t>No improvement in any community's water has been achieved or measured. The tool supports interpretation and learning. Official source: https://sdgs.un.org/goals/goal6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7315200" cy="274320"/>
          </a:xfrm>
          <a:prstGeom prst="rect">
            <a:avLst/>
          </a:prstGeom>
          <a:noFill/>
        </p:spPr>
        <p:txBody>
          <a:bodyPr wrap="square" anchor="t" lIns="36576" rIns="36576" tIns="18288" bIns="18288">
            <a:spAutoFit/>
          </a:bodyPr>
          <a:lstStyle/>
          <a:p>
            <a:pPr algn="l">
              <a:spcAft>
                <a:spcPts val="800"/>
              </a:spcAft>
            </a:pPr>
            <a:r>
              <a:rPr sz="1100" b="1">
                <a:solidFill>
                  <a:srgbClr val="0B6E99"/>
                </a:solidFill>
                <a:latin typeface="Calibri"/>
              </a:rPr>
              <a:t>PROBLEM</a:t>
            </a:r>
          </a:p>
        </p:txBody>
      </p:sp>
      <p:sp>
        <p:nvSpPr>
          <p:cNvPr id="3" name="TextBox 2"/>
          <p:cNvSpPr txBox="1"/>
          <p:nvPr/>
        </p:nvSpPr>
        <p:spPr>
          <a:xfrm>
            <a:off x="548640" y="548640"/>
            <a:ext cx="11064240" cy="685800"/>
          </a:xfrm>
          <a:prstGeom prst="rect">
            <a:avLst/>
          </a:prstGeom>
          <a:noFill/>
        </p:spPr>
        <p:txBody>
          <a:bodyPr wrap="square" anchor="ctr" lIns="36576" rIns="36576" tIns="18288" bIns="18288">
            <a:spAutoFit/>
          </a:bodyPr>
          <a:lstStyle/>
          <a:p>
            <a:pPr algn="l">
              <a:spcAft>
                <a:spcPts val="800"/>
              </a:spcAft>
            </a:pPr>
            <a:r>
              <a:rPr sz="3000" b="1">
                <a:solidFill>
                  <a:srgbClr val="0B2F4A"/>
                </a:solidFill>
                <a:latin typeface="Calibri"/>
              </a:rPr>
              <a:t>Problem statement</a:t>
            </a:r>
          </a:p>
        </p:txBody>
      </p:sp>
      <p:sp>
        <p:nvSpPr>
          <p:cNvPr id="4" name="TextBox 3"/>
          <p:cNvSpPr txBox="1"/>
          <p:nvPr/>
        </p:nvSpPr>
        <p:spPr>
          <a:xfrm>
            <a:off x="548640" y="6473952"/>
            <a:ext cx="9601200" cy="274320"/>
          </a:xfrm>
          <a:prstGeom prst="rect">
            <a:avLst/>
          </a:prstGeom>
          <a:noFill/>
        </p:spPr>
        <p:txBody>
          <a:bodyPr wrap="square" anchor="t" lIns="36576" rIns="36576" tIns="18288" bIns="18288">
            <a:spAutoFit/>
          </a:bodyPr>
          <a:lstStyle/>
          <a:p>
            <a:pPr algn="l">
              <a:spcAft>
                <a:spcPts val="800"/>
              </a:spcAft>
            </a:pPr>
            <a:r>
              <a:rPr sz="900" b="0">
                <a:solidFill>
                  <a:srgbClr val="4C5A67"/>
                </a:solidFill>
                <a:latin typeface="Calibri"/>
              </a:rPr>
              <a:t>AquaGuard AI  |  IBM academic project  |  UN SDG 6  |  Educational screening tool - not a safety certification. Not endorsed by IBM, the UN or any agency.</a:t>
            </a:r>
          </a:p>
        </p:txBody>
      </p:sp>
      <p:sp>
        <p:nvSpPr>
          <p:cNvPr id="5" name="TextBox 4"/>
          <p:cNvSpPr txBox="1"/>
          <p:nvPr/>
        </p:nvSpPr>
        <p:spPr>
          <a:xfrm>
            <a:off x="11155680" y="6473952"/>
            <a:ext cx="548640" cy="274320"/>
          </a:xfrm>
          <a:prstGeom prst="rect">
            <a:avLst/>
          </a:prstGeom>
          <a:noFill/>
        </p:spPr>
        <p:txBody>
          <a:bodyPr wrap="square" anchor="t" lIns="36576" rIns="36576" tIns="18288" bIns="18288">
            <a:spAutoFit/>
          </a:bodyPr>
          <a:lstStyle/>
          <a:p>
            <a:pPr algn="r">
              <a:spcAft>
                <a:spcPts val="800"/>
              </a:spcAft>
            </a:pPr>
            <a:r>
              <a:rPr sz="1000" b="0">
                <a:solidFill>
                  <a:srgbClr val="4C5A67"/>
                </a:solidFill>
                <a:latin typeface="Calibri"/>
              </a:rPr>
              <a:t>4</a:t>
            </a:r>
          </a:p>
        </p:txBody>
      </p:sp>
      <p:sp>
        <p:nvSpPr>
          <p:cNvPr id="6" name="TextBox 5"/>
          <p:cNvSpPr txBox="1"/>
          <p:nvPr/>
        </p:nvSpPr>
        <p:spPr>
          <a:xfrm>
            <a:off x="548640" y="1417320"/>
            <a:ext cx="11064240" cy="4846320"/>
          </a:xfrm>
          <a:prstGeom prst="rect">
            <a:avLst/>
          </a:prstGeom>
          <a:noFill/>
        </p:spPr>
        <p:txBody>
          <a:bodyPr wrap="square" anchor="t" lIns="36576" rIns="36576" tIns="18288" bIns="18288">
            <a:spAutoFit/>
          </a:bodyPr>
          <a:lstStyle/>
          <a:p>
            <a:pPr algn="l" marL="300000" indent="-300000">
              <a:spcAft>
                <a:spcPts val="1400"/>
              </a:spcAft>
              <a:buChar char="•"/>
            </a:pPr>
            <a:r>
              <a:rPr sz="2300" b="0">
                <a:solidFill>
                  <a:srgbClr val="0D2B3E"/>
                </a:solidFill>
                <a:latin typeface="Calibri"/>
              </a:rPr>
              <a:t>Readings exist (handheld meters, school labs, community monitors) but are hard to interpret.</a:t>
            </a:r>
          </a:p>
          <a:p>
            <a:pPr algn="l" marL="300000" indent="-300000">
              <a:spcAft>
                <a:spcPts val="1400"/>
              </a:spcAft>
              <a:buChar char="•"/>
            </a:pPr>
            <a:r>
              <a:rPr sz="2300" b="0">
                <a:solidFill>
                  <a:srgbClr val="0D2B3E"/>
                </a:solidFill>
                <a:latin typeface="Calibri"/>
              </a:rPr>
              <a:t>Users lack a clear overview of abnormal readings, trends over time, and sensible next steps.</a:t>
            </a:r>
          </a:p>
          <a:p>
            <a:pPr algn="l" marL="300000" indent="-300000">
              <a:spcAft>
                <a:spcPts val="1400"/>
              </a:spcAft>
              <a:buChar char="•"/>
            </a:pPr>
            <a:r>
              <a:rPr sz="2300" b="0">
                <a:solidFill>
                  <a:srgbClr val="0D2B3E"/>
                </a:solidFill>
                <a:latin typeface="Calibri"/>
              </a:rPr>
              <a:t>Two risks: missing a real concern, or over-trusting a few in-range numbers.</a:t>
            </a:r>
          </a:p>
          <a:p>
            <a:pPr algn="l" marL="300000" indent="-300000">
              <a:spcAft>
                <a:spcPts val="1400"/>
              </a:spcAft>
              <a:buChar char="•"/>
            </a:pPr>
            <a:r>
              <a:rPr sz="2300" b="0">
                <a:solidFill>
                  <a:srgbClr val="0D2B3E"/>
                </a:solidFill>
                <a:latin typeface="Calibri"/>
              </a:rPr>
              <a:t>pH, turbidity and TDS alone can never establish that water is safe to drink.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7315200" cy="274320"/>
          </a:xfrm>
          <a:prstGeom prst="rect">
            <a:avLst/>
          </a:prstGeom>
          <a:noFill/>
        </p:spPr>
        <p:txBody>
          <a:bodyPr wrap="square" anchor="t" lIns="36576" rIns="36576" tIns="18288" bIns="18288">
            <a:spAutoFit/>
          </a:bodyPr>
          <a:lstStyle/>
          <a:p>
            <a:pPr algn="l">
              <a:spcAft>
                <a:spcPts val="800"/>
              </a:spcAft>
            </a:pPr>
            <a:r>
              <a:rPr sz="1100" b="1">
                <a:solidFill>
                  <a:srgbClr val="0B6E99"/>
                </a:solidFill>
                <a:latin typeface="Calibri"/>
              </a:rPr>
              <a:t>EVIDENCE</a:t>
            </a:r>
          </a:p>
        </p:txBody>
      </p:sp>
      <p:sp>
        <p:nvSpPr>
          <p:cNvPr id="3" name="TextBox 2"/>
          <p:cNvSpPr txBox="1"/>
          <p:nvPr/>
        </p:nvSpPr>
        <p:spPr>
          <a:xfrm>
            <a:off x="548640" y="548640"/>
            <a:ext cx="11064240" cy="685800"/>
          </a:xfrm>
          <a:prstGeom prst="rect">
            <a:avLst/>
          </a:prstGeom>
          <a:noFill/>
        </p:spPr>
        <p:txBody>
          <a:bodyPr wrap="square" anchor="ctr" lIns="36576" rIns="36576" tIns="18288" bIns="18288">
            <a:spAutoFit/>
          </a:bodyPr>
          <a:lstStyle/>
          <a:p>
            <a:pPr algn="l">
              <a:spcAft>
                <a:spcPts val="800"/>
              </a:spcAft>
            </a:pPr>
            <a:r>
              <a:rPr sz="3000" b="1">
                <a:solidFill>
                  <a:srgbClr val="0B2F4A"/>
                </a:solidFill>
                <a:latin typeface="Calibri"/>
              </a:rPr>
              <a:t>Background research and supporting evidence</a:t>
            </a:r>
          </a:p>
        </p:txBody>
      </p:sp>
      <p:sp>
        <p:nvSpPr>
          <p:cNvPr id="4" name="TextBox 3"/>
          <p:cNvSpPr txBox="1"/>
          <p:nvPr/>
        </p:nvSpPr>
        <p:spPr>
          <a:xfrm>
            <a:off x="548640" y="6473952"/>
            <a:ext cx="9601200" cy="274320"/>
          </a:xfrm>
          <a:prstGeom prst="rect">
            <a:avLst/>
          </a:prstGeom>
          <a:noFill/>
        </p:spPr>
        <p:txBody>
          <a:bodyPr wrap="square" anchor="t" lIns="36576" rIns="36576" tIns="18288" bIns="18288">
            <a:spAutoFit/>
          </a:bodyPr>
          <a:lstStyle/>
          <a:p>
            <a:pPr algn="l">
              <a:spcAft>
                <a:spcPts val="800"/>
              </a:spcAft>
            </a:pPr>
            <a:r>
              <a:rPr sz="900" b="0">
                <a:solidFill>
                  <a:srgbClr val="4C5A67"/>
                </a:solidFill>
                <a:latin typeface="Calibri"/>
              </a:rPr>
              <a:t>AquaGuard AI  |  IBM academic project  |  UN SDG 6  |  Educational screening tool - not a safety certification. Not endorsed by IBM, the UN or any agency.</a:t>
            </a:r>
          </a:p>
        </p:txBody>
      </p:sp>
      <p:sp>
        <p:nvSpPr>
          <p:cNvPr id="5" name="TextBox 4"/>
          <p:cNvSpPr txBox="1"/>
          <p:nvPr/>
        </p:nvSpPr>
        <p:spPr>
          <a:xfrm>
            <a:off x="11155680" y="6473952"/>
            <a:ext cx="548640" cy="274320"/>
          </a:xfrm>
          <a:prstGeom prst="rect">
            <a:avLst/>
          </a:prstGeom>
          <a:noFill/>
        </p:spPr>
        <p:txBody>
          <a:bodyPr wrap="square" anchor="t" lIns="36576" rIns="36576" tIns="18288" bIns="18288">
            <a:spAutoFit/>
          </a:bodyPr>
          <a:lstStyle/>
          <a:p>
            <a:pPr algn="r">
              <a:spcAft>
                <a:spcPts val="800"/>
              </a:spcAft>
            </a:pPr>
            <a:r>
              <a:rPr sz="1000" b="0">
                <a:solidFill>
                  <a:srgbClr val="4C5A67"/>
                </a:solidFill>
                <a:latin typeface="Calibri"/>
              </a:rPr>
              <a:t>5</a:t>
            </a:r>
          </a:p>
        </p:txBody>
      </p:sp>
      <p:graphicFrame>
        <p:nvGraphicFramePr>
          <p:cNvPr id="6" name="Table 5"/>
          <p:cNvGraphicFramePr>
            <a:graphicFrameLocks noGrp="1"/>
          </p:cNvGraphicFramePr>
          <p:nvPr/>
        </p:nvGraphicFramePr>
        <p:xfrm>
          <a:off x="548640" y="1463040"/>
          <a:ext cx="11064239" cy="3621024"/>
        </p:xfrm>
        <a:graphic>
          <a:graphicData uri="http://schemas.openxmlformats.org/drawingml/2006/table">
            <a:tbl>
              <a:tblPr firstRow="1" bandRow="1">
                <a:tableStyleId>{5C22544A-7EE6-4342-B048-85BDC9FD1C3A}</a:tableStyleId>
              </a:tblPr>
              <a:tblGrid>
                <a:gridCol w="3749039"/>
                <a:gridCol w="4572000"/>
                <a:gridCol w="2743200"/>
              </a:tblGrid>
              <a:tr h="603504">
                <a:tc>
                  <a:txBody>
                    <a:bodyPr/>
                    <a:lstStyle/>
                    <a:p>
                      <a:r>
                        <a:rPr sz="1500" b="1">
                          <a:solidFill>
                            <a:srgbClr val="FFFFFF"/>
                          </a:solidFill>
                          <a:latin typeface="Calibri"/>
                        </a:rPr>
                        <a:t>Source (URL in references)</a:t>
                      </a:r>
                    </a:p>
                  </a:txBody>
                  <a:tcPr marL="54864" marR="54864" marT="22860" marB="22860">
                    <a:solidFill>
                      <a:srgbClr val="0B6E99"/>
                    </a:solidFill>
                  </a:tcPr>
                </a:tc>
                <a:tc>
                  <a:txBody>
                    <a:bodyPr/>
                    <a:lstStyle/>
                    <a:p>
                      <a:r>
                        <a:rPr sz="1500" b="1">
                          <a:solidFill>
                            <a:srgbClr val="FFFFFF"/>
                          </a:solidFill>
                          <a:latin typeface="Calibri"/>
                        </a:rPr>
                        <a:t>What it supports</a:t>
                      </a:r>
                    </a:p>
                  </a:txBody>
                  <a:tcPr marL="54864" marR="54864" marT="22860" marB="22860">
                    <a:solidFill>
                      <a:srgbClr val="0B6E99"/>
                    </a:solidFill>
                  </a:tcPr>
                </a:tc>
                <a:tc>
                  <a:txBody>
                    <a:bodyPr/>
                    <a:lstStyle/>
                    <a:p>
                      <a:r>
                        <a:rPr sz="1500" b="1">
                          <a:solidFill>
                            <a:srgbClr val="FFFFFF"/>
                          </a:solidFill>
                          <a:latin typeface="Calibri"/>
                        </a:rPr>
                        <a:t>Status</a:t>
                      </a:r>
                    </a:p>
                  </a:txBody>
                  <a:tcPr marL="54864" marR="54864" marT="22860" marB="22860">
                    <a:solidFill>
                      <a:srgbClr val="0B6E99"/>
                    </a:solidFill>
                  </a:tcPr>
                </a:tc>
              </a:tr>
              <a:tr h="603504">
                <a:tc>
                  <a:txBody>
                    <a:bodyPr/>
                    <a:lstStyle/>
                    <a:p>
                      <a:r>
                        <a:rPr sz="1500" b="0">
                          <a:solidFill>
                            <a:srgbClr val="0D2B3E"/>
                          </a:solidFill>
                          <a:latin typeface="Calibri"/>
                        </a:rPr>
                        <a:t>UN SDG 6 (sdgs.un.org/goals/goal6)</a:t>
                      </a:r>
                    </a:p>
                  </a:txBody>
                  <a:tcPr marL="54864" marR="54864" marT="22860" marB="22860">
                    <a:solidFill>
                      <a:srgbClr val="F4F9FB"/>
                    </a:solidFill>
                  </a:tcPr>
                </a:tc>
                <a:tc>
                  <a:txBody>
                    <a:bodyPr/>
                    <a:lstStyle/>
                    <a:p>
                      <a:r>
                        <a:rPr sz="1500" b="0">
                          <a:solidFill>
                            <a:srgbClr val="0D2B3E"/>
                          </a:solidFill>
                          <a:latin typeface="Calibri"/>
                        </a:rPr>
                        <a:t>Goal and targets 6.1, 6.3</a:t>
                      </a:r>
                    </a:p>
                  </a:txBody>
                  <a:tcPr marL="54864" marR="54864" marT="22860" marB="22860">
                    <a:solidFill>
                      <a:srgbClr val="F4F9FB"/>
                    </a:solidFill>
                  </a:tcPr>
                </a:tc>
                <a:tc>
                  <a:txBody>
                    <a:bodyPr/>
                    <a:lstStyle/>
                    <a:p>
                      <a:r>
                        <a:rPr sz="1500" b="0">
                          <a:solidFill>
                            <a:srgbClr val="0D2B3E"/>
                          </a:solidFill>
                          <a:latin typeface="Calibri"/>
                        </a:rPr>
                        <a:t>Official goal page; not re-opened during build</a:t>
                      </a:r>
                    </a:p>
                  </a:txBody>
                  <a:tcPr marL="54864" marR="54864" marT="22860" marB="22860">
                    <a:solidFill>
                      <a:srgbClr val="F4F9FB"/>
                    </a:solidFill>
                  </a:tcPr>
                </a:tc>
              </a:tr>
              <a:tr h="603504">
                <a:tc>
                  <a:txBody>
                    <a:bodyPr/>
                    <a:lstStyle/>
                    <a:p>
                      <a:r>
                        <a:rPr sz="1500" b="0">
                          <a:solidFill>
                            <a:srgbClr val="0D2B3E"/>
                          </a:solidFill>
                          <a:latin typeface="Calibri"/>
                        </a:rPr>
                        <a:t>WHO Guidelines for drinking-water quality, 2022 ed.</a:t>
                      </a:r>
                    </a:p>
                  </a:txBody>
                  <a:tcPr marL="54864" marR="54864" marT="22860" marB="22860">
                    <a:solidFill>
                      <a:srgbClr val="FFFFFF"/>
                    </a:solidFill>
                  </a:tcPr>
                </a:tc>
                <a:tc>
                  <a:txBody>
                    <a:bodyPr/>
                    <a:lstStyle/>
                    <a:p>
                      <a:r>
                        <a:rPr sz="1500" b="0">
                          <a:solidFill>
                            <a:srgbClr val="0D2B3E"/>
                          </a:solidFill>
                          <a:latin typeface="Calibri"/>
                        </a:rPr>
                        <a:t>No health-based value for pH, TDS, turbidity; operational indicators</a:t>
                      </a:r>
                    </a:p>
                  </a:txBody>
                  <a:tcPr marL="54864" marR="54864" marT="22860" marB="22860">
                    <a:solidFill>
                      <a:srgbClr val="FFFFFF"/>
                    </a:solidFill>
                  </a:tcPr>
                </a:tc>
                <a:tc>
                  <a:txBody>
                    <a:bodyPr/>
                    <a:lstStyle/>
                    <a:p>
                      <a:r>
                        <a:rPr sz="1500" b="0">
                          <a:solidFill>
                            <a:srgbClr val="0D2B3E"/>
                          </a:solidFill>
                          <a:latin typeface="Calibri"/>
                        </a:rPr>
                        <a:t>From author knowledge: verify</a:t>
                      </a:r>
                    </a:p>
                  </a:txBody>
                  <a:tcPr marL="54864" marR="54864" marT="22860" marB="22860">
                    <a:solidFill>
                      <a:srgbClr val="FFFFFF"/>
                    </a:solidFill>
                  </a:tcPr>
                </a:tc>
              </a:tr>
              <a:tr h="603504">
                <a:tc>
                  <a:txBody>
                    <a:bodyPr/>
                    <a:lstStyle/>
                    <a:p>
                      <a:r>
                        <a:rPr sz="1500" b="0">
                          <a:solidFill>
                            <a:srgbClr val="0D2B3E"/>
                          </a:solidFill>
                          <a:latin typeface="Calibri"/>
                        </a:rPr>
                        <a:t>BIS IS 10500 (India)</a:t>
                      </a:r>
                    </a:p>
                  </a:txBody>
                  <a:tcPr marL="54864" marR="54864" marT="22860" marB="22860">
                    <a:solidFill>
                      <a:srgbClr val="F4F9FB"/>
                    </a:solidFill>
                  </a:tcPr>
                </a:tc>
                <a:tc>
                  <a:txBody>
                    <a:bodyPr/>
                    <a:lstStyle/>
                    <a:p>
                      <a:r>
                        <a:rPr sz="1500" b="0">
                          <a:solidFill>
                            <a:srgbClr val="0D2B3E"/>
                          </a:solidFill>
                          <a:latin typeface="Calibri"/>
                        </a:rPr>
                        <a:t>Acceptable / permissible limits for pH, turbidity, TDS</a:t>
                      </a:r>
                    </a:p>
                  </a:txBody>
                  <a:tcPr marL="54864" marR="54864" marT="22860" marB="22860">
                    <a:solidFill>
                      <a:srgbClr val="F4F9FB"/>
                    </a:solidFill>
                  </a:tcPr>
                </a:tc>
                <a:tc>
                  <a:txBody>
                    <a:bodyPr/>
                    <a:lstStyle/>
                    <a:p>
                      <a:r>
                        <a:rPr sz="1500" b="0">
                          <a:solidFill>
                            <a:srgbClr val="0D2B3E"/>
                          </a:solidFill>
                          <a:latin typeface="Calibri"/>
                        </a:rPr>
                        <a:t>Edition to be confirmed: verify</a:t>
                      </a:r>
                    </a:p>
                  </a:txBody>
                  <a:tcPr marL="54864" marR="54864" marT="22860" marB="22860">
                    <a:solidFill>
                      <a:srgbClr val="F4F9FB"/>
                    </a:solidFill>
                  </a:tcPr>
                </a:tc>
              </a:tr>
              <a:tr h="603504">
                <a:tc>
                  <a:txBody>
                    <a:bodyPr/>
                    <a:lstStyle/>
                    <a:p>
                      <a:r>
                        <a:rPr sz="1500" b="0">
                          <a:solidFill>
                            <a:srgbClr val="0D2B3E"/>
                          </a:solidFill>
                          <a:latin typeface="Calibri"/>
                        </a:rPr>
                        <a:t>CPCB designated best use classes</a:t>
                      </a:r>
                    </a:p>
                  </a:txBody>
                  <a:tcPr marL="54864" marR="54864" marT="22860" marB="22860">
                    <a:solidFill>
                      <a:srgbClr val="FFFFFF"/>
                    </a:solidFill>
                  </a:tcPr>
                </a:tc>
                <a:tc>
                  <a:txBody>
                    <a:bodyPr/>
                    <a:lstStyle/>
                    <a:p>
                      <a:r>
                        <a:rPr sz="1500" b="0">
                          <a:solidFill>
                            <a:srgbClr val="0D2B3E"/>
                          </a:solidFill>
                          <a:latin typeface="Calibri"/>
                        </a:rPr>
                        <a:t>Surface-water indicators (class A)</a:t>
                      </a:r>
                    </a:p>
                  </a:txBody>
                  <a:tcPr marL="54864" marR="54864" marT="22860" marB="22860">
                    <a:solidFill>
                      <a:srgbClr val="FFFFFF"/>
                    </a:solidFill>
                  </a:tcPr>
                </a:tc>
                <a:tc>
                  <a:txBody>
                    <a:bodyPr/>
                    <a:lstStyle/>
                    <a:p>
                      <a:r>
                        <a:rPr sz="1500" b="0">
                          <a:solidFill>
                            <a:srgbClr val="0D2B3E"/>
                          </a:solidFill>
                          <a:latin typeface="Calibri"/>
                        </a:rPr>
                        <a:t>URL page unconfirmed: verify</a:t>
                      </a:r>
                    </a:p>
                  </a:txBody>
                  <a:tcPr marL="54864" marR="54864" marT="22860" marB="22860">
                    <a:solidFill>
                      <a:srgbClr val="FFFFFF"/>
                    </a:solidFill>
                  </a:tcPr>
                </a:tc>
              </a:tr>
              <a:tr h="603504">
                <a:tc>
                  <a:txBody>
                    <a:bodyPr/>
                    <a:lstStyle/>
                    <a:p>
                      <a:r>
                        <a:rPr sz="1500" b="0">
                          <a:solidFill>
                            <a:srgbClr val="0D2B3E"/>
                          </a:solidFill>
                          <a:latin typeface="Calibri"/>
                        </a:rPr>
                        <a:t>WHO/UNICEF JMP (washdata.org)</a:t>
                      </a:r>
                    </a:p>
                  </a:txBody>
                  <a:tcPr marL="54864" marR="54864" marT="22860" marB="22860">
                    <a:solidFill>
                      <a:srgbClr val="F4F9FB"/>
                    </a:solidFill>
                  </a:tcPr>
                </a:tc>
                <a:tc>
                  <a:txBody>
                    <a:bodyPr/>
                    <a:lstStyle/>
                    <a:p>
                      <a:r>
                        <a:rPr sz="1500" b="0">
                          <a:solidFill>
                            <a:srgbClr val="0D2B3E"/>
                          </a:solidFill>
                          <a:latin typeface="Calibri"/>
                        </a:rPr>
                        <a:t>Global access statistics</a:t>
                      </a:r>
                    </a:p>
                  </a:txBody>
                  <a:tcPr marL="54864" marR="54864" marT="22860" marB="22860">
                    <a:solidFill>
                      <a:srgbClr val="F4F9FB"/>
                    </a:solidFill>
                  </a:tcPr>
                </a:tc>
                <a:tc>
                  <a:txBody>
                    <a:bodyPr/>
                    <a:lstStyle/>
                    <a:p>
                      <a:r>
                        <a:rPr sz="1500" b="0">
                          <a:solidFill>
                            <a:srgbClr val="0D2B3E"/>
                          </a:solidFill>
                          <a:latin typeface="Calibri"/>
                        </a:rPr>
                        <a:t>Re-check latest figure before quoting</a:t>
                      </a:r>
                    </a:p>
                  </a:txBody>
                  <a:tcPr marL="54864" marR="54864" marT="22860" marB="22860">
                    <a:solidFill>
                      <a:srgbClr val="F4F9FB"/>
                    </a:solidFill>
                  </a:tcPr>
                </a:tc>
              </a:tr>
            </a:tbl>
          </a:graphicData>
        </a:graphic>
      </p:graphicFrame>
      <p:sp>
        <p:nvSpPr>
          <p:cNvPr id="7" name="TextBox 6"/>
          <p:cNvSpPr txBox="1"/>
          <p:nvPr/>
        </p:nvSpPr>
        <p:spPr>
          <a:xfrm>
            <a:off x="548640" y="5120640"/>
            <a:ext cx="11064240" cy="1097280"/>
          </a:xfrm>
          <a:prstGeom prst="rect">
            <a:avLst/>
          </a:prstGeom>
          <a:noFill/>
        </p:spPr>
        <p:txBody>
          <a:bodyPr wrap="square" anchor="t" lIns="36576" rIns="36576" tIns="18288" bIns="18288">
            <a:spAutoFit/>
          </a:bodyPr>
          <a:lstStyle/>
          <a:p>
            <a:pPr algn="l">
              <a:spcAft>
                <a:spcPts val="800"/>
              </a:spcAft>
            </a:pPr>
            <a:r>
              <a:rPr sz="1700" b="1">
                <a:solidFill>
                  <a:srgbClr val="C75F00"/>
                </a:solidFill>
                <a:latin typeface="Calibri"/>
              </a:rPr>
              <a:t>All reference thresholds in the app carry the label UNVERIFIED (entered offline). No claim of official validation is made.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7315200" cy="274320"/>
          </a:xfrm>
          <a:prstGeom prst="rect">
            <a:avLst/>
          </a:prstGeom>
          <a:noFill/>
        </p:spPr>
        <p:txBody>
          <a:bodyPr wrap="square" anchor="t" lIns="36576" rIns="36576" tIns="18288" bIns="18288">
            <a:spAutoFit/>
          </a:bodyPr>
          <a:lstStyle/>
          <a:p>
            <a:pPr algn="l">
              <a:spcAft>
                <a:spcPts val="800"/>
              </a:spcAft>
            </a:pPr>
            <a:r>
              <a:rPr sz="1100" b="1">
                <a:solidFill>
                  <a:srgbClr val="0B6E99"/>
                </a:solidFill>
                <a:latin typeface="Calibri"/>
              </a:rPr>
              <a:t>USERS</a:t>
            </a:r>
          </a:p>
        </p:txBody>
      </p:sp>
      <p:sp>
        <p:nvSpPr>
          <p:cNvPr id="3" name="TextBox 2"/>
          <p:cNvSpPr txBox="1"/>
          <p:nvPr/>
        </p:nvSpPr>
        <p:spPr>
          <a:xfrm>
            <a:off x="548640" y="548640"/>
            <a:ext cx="11064240" cy="685800"/>
          </a:xfrm>
          <a:prstGeom prst="rect">
            <a:avLst/>
          </a:prstGeom>
          <a:noFill/>
        </p:spPr>
        <p:txBody>
          <a:bodyPr wrap="square" anchor="ctr" lIns="36576" rIns="36576" tIns="18288" bIns="18288">
            <a:spAutoFit/>
          </a:bodyPr>
          <a:lstStyle/>
          <a:p>
            <a:pPr algn="l">
              <a:spcAft>
                <a:spcPts val="800"/>
              </a:spcAft>
            </a:pPr>
            <a:r>
              <a:rPr sz="3000" b="1">
                <a:solidFill>
                  <a:srgbClr val="0B2F4A"/>
                </a:solidFill>
                <a:latin typeface="Calibri"/>
              </a:rPr>
              <a:t>Target users and their challenges</a:t>
            </a:r>
          </a:p>
        </p:txBody>
      </p:sp>
      <p:sp>
        <p:nvSpPr>
          <p:cNvPr id="4" name="TextBox 3"/>
          <p:cNvSpPr txBox="1"/>
          <p:nvPr/>
        </p:nvSpPr>
        <p:spPr>
          <a:xfrm>
            <a:off x="548640" y="6473952"/>
            <a:ext cx="9601200" cy="274320"/>
          </a:xfrm>
          <a:prstGeom prst="rect">
            <a:avLst/>
          </a:prstGeom>
          <a:noFill/>
        </p:spPr>
        <p:txBody>
          <a:bodyPr wrap="square" anchor="t" lIns="36576" rIns="36576" tIns="18288" bIns="18288">
            <a:spAutoFit/>
          </a:bodyPr>
          <a:lstStyle/>
          <a:p>
            <a:pPr algn="l">
              <a:spcAft>
                <a:spcPts val="800"/>
              </a:spcAft>
            </a:pPr>
            <a:r>
              <a:rPr sz="900" b="0">
                <a:solidFill>
                  <a:srgbClr val="4C5A67"/>
                </a:solidFill>
                <a:latin typeface="Calibri"/>
              </a:rPr>
              <a:t>AquaGuard AI  |  IBM academic project  |  UN SDG 6  |  Educational screening tool - not a safety certification. Not endorsed by IBM, the UN or any agency.</a:t>
            </a:r>
          </a:p>
        </p:txBody>
      </p:sp>
      <p:sp>
        <p:nvSpPr>
          <p:cNvPr id="5" name="TextBox 4"/>
          <p:cNvSpPr txBox="1"/>
          <p:nvPr/>
        </p:nvSpPr>
        <p:spPr>
          <a:xfrm>
            <a:off x="11155680" y="6473952"/>
            <a:ext cx="548640" cy="274320"/>
          </a:xfrm>
          <a:prstGeom prst="rect">
            <a:avLst/>
          </a:prstGeom>
          <a:noFill/>
        </p:spPr>
        <p:txBody>
          <a:bodyPr wrap="square" anchor="t" lIns="36576" rIns="36576" tIns="18288" bIns="18288">
            <a:spAutoFit/>
          </a:bodyPr>
          <a:lstStyle/>
          <a:p>
            <a:pPr algn="r">
              <a:spcAft>
                <a:spcPts val="800"/>
              </a:spcAft>
            </a:pPr>
            <a:r>
              <a:rPr sz="1000" b="0">
                <a:solidFill>
                  <a:srgbClr val="4C5A67"/>
                </a:solidFill>
                <a:latin typeface="Calibri"/>
              </a:rPr>
              <a:t>6</a:t>
            </a:r>
          </a:p>
        </p:txBody>
      </p:sp>
      <p:sp>
        <p:nvSpPr>
          <p:cNvPr id="6" name="Rounded Rectangle 5"/>
          <p:cNvSpPr/>
          <p:nvPr/>
        </p:nvSpPr>
        <p:spPr>
          <a:xfrm>
            <a:off x="548640" y="1554480"/>
            <a:ext cx="2651760" cy="3566160"/>
          </a:xfrm>
          <a:prstGeom prst="roundRect">
            <a:avLst>
              <a:gd name="adj" fmla="val 5000"/>
            </a:avLst>
          </a:prstGeom>
          <a:solidFill>
            <a:srgbClr val="E4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64207"/>
            <a:ext cx="2322576" cy="457200"/>
          </a:xfrm>
          <a:prstGeom prst="rect">
            <a:avLst/>
          </a:prstGeom>
          <a:noFill/>
        </p:spPr>
        <p:txBody>
          <a:bodyPr wrap="square" anchor="t" lIns="36576" rIns="36576" tIns="18288" bIns="18288">
            <a:spAutoFit/>
          </a:bodyPr>
          <a:lstStyle/>
          <a:p>
            <a:pPr algn="l">
              <a:spcAft>
                <a:spcPts val="800"/>
              </a:spcAft>
            </a:pPr>
            <a:r>
              <a:rPr sz="1700" b="1">
                <a:solidFill>
                  <a:srgbClr val="0B6E99"/>
                </a:solidFill>
                <a:latin typeface="Calibri"/>
              </a:rPr>
              <a:t>Students and teachers</a:t>
            </a:r>
          </a:p>
        </p:txBody>
      </p:sp>
      <p:sp>
        <p:nvSpPr>
          <p:cNvPr id="8" name="TextBox 7"/>
          <p:cNvSpPr txBox="1"/>
          <p:nvPr/>
        </p:nvSpPr>
        <p:spPr>
          <a:xfrm>
            <a:off x="713232" y="2121408"/>
            <a:ext cx="2322576" cy="2926080"/>
          </a:xfrm>
          <a:prstGeom prst="rect">
            <a:avLst/>
          </a:prstGeom>
          <a:noFill/>
        </p:spPr>
        <p:txBody>
          <a:bodyPr wrap="square" anchor="t" lIns="36576" rIns="36576" tIns="18288" bIns="18288">
            <a:spAutoFit/>
          </a:bodyPr>
          <a:lstStyle/>
          <a:p>
            <a:pPr algn="l">
              <a:spcAft>
                <a:spcPts val="800"/>
              </a:spcAft>
            </a:pPr>
            <a:r>
              <a:rPr sz="1900" b="0">
                <a:solidFill>
                  <a:srgbClr val="0D2B3E"/>
                </a:solidFill>
                <a:latin typeface="Calibri"/>
              </a:rPr>
              <a:t>Need a safe, hands-on way to learn water-quality data handling.</a:t>
            </a:r>
          </a:p>
        </p:txBody>
      </p:sp>
      <p:sp>
        <p:nvSpPr>
          <p:cNvPr id="9" name="Rounded Rectangle 8"/>
          <p:cNvSpPr/>
          <p:nvPr/>
        </p:nvSpPr>
        <p:spPr>
          <a:xfrm>
            <a:off x="3337560" y="1554480"/>
            <a:ext cx="2651760" cy="3566160"/>
          </a:xfrm>
          <a:prstGeom prst="roundRect">
            <a:avLst>
              <a:gd name="adj" fmla="val 5000"/>
            </a:avLst>
          </a:prstGeom>
          <a:solidFill>
            <a:srgbClr val="E4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02152" y="1664207"/>
            <a:ext cx="2322576" cy="457200"/>
          </a:xfrm>
          <a:prstGeom prst="rect">
            <a:avLst/>
          </a:prstGeom>
          <a:noFill/>
        </p:spPr>
        <p:txBody>
          <a:bodyPr wrap="square" anchor="t" lIns="36576" rIns="36576" tIns="18288" bIns="18288">
            <a:spAutoFit/>
          </a:bodyPr>
          <a:lstStyle/>
          <a:p>
            <a:pPr algn="l">
              <a:spcAft>
                <a:spcPts val="800"/>
              </a:spcAft>
            </a:pPr>
            <a:r>
              <a:rPr sz="1700" b="1">
                <a:solidFill>
                  <a:srgbClr val="0B6E99"/>
                </a:solidFill>
                <a:latin typeface="Calibri"/>
              </a:rPr>
              <a:t>NGO monitors</a:t>
            </a:r>
          </a:p>
        </p:txBody>
      </p:sp>
      <p:sp>
        <p:nvSpPr>
          <p:cNvPr id="11" name="TextBox 10"/>
          <p:cNvSpPr txBox="1"/>
          <p:nvPr/>
        </p:nvSpPr>
        <p:spPr>
          <a:xfrm>
            <a:off x="3502152" y="2121408"/>
            <a:ext cx="2322576" cy="2926080"/>
          </a:xfrm>
          <a:prstGeom prst="rect">
            <a:avLst/>
          </a:prstGeom>
          <a:noFill/>
        </p:spPr>
        <p:txBody>
          <a:bodyPr wrap="square" anchor="t" lIns="36576" rIns="36576" tIns="18288" bIns="18288">
            <a:spAutoFit/>
          </a:bodyPr>
          <a:lstStyle/>
          <a:p>
            <a:pPr algn="l">
              <a:spcAft>
                <a:spcPts val="800"/>
              </a:spcAft>
            </a:pPr>
            <a:r>
              <a:rPr sz="1900" b="0">
                <a:solidFill>
                  <a:srgbClr val="0D2B3E"/>
                </a:solidFill>
                <a:latin typeface="Calibri"/>
              </a:rPr>
              <a:t>Need to log samples, spot unusual sites and share a report.</a:t>
            </a:r>
          </a:p>
        </p:txBody>
      </p:sp>
      <p:sp>
        <p:nvSpPr>
          <p:cNvPr id="12" name="Rounded Rectangle 11"/>
          <p:cNvSpPr/>
          <p:nvPr/>
        </p:nvSpPr>
        <p:spPr>
          <a:xfrm>
            <a:off x="6126479" y="1554480"/>
            <a:ext cx="2651760" cy="3566160"/>
          </a:xfrm>
          <a:prstGeom prst="roundRect">
            <a:avLst>
              <a:gd name="adj" fmla="val 5000"/>
            </a:avLst>
          </a:prstGeom>
          <a:solidFill>
            <a:srgbClr val="E4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91071" y="1664207"/>
            <a:ext cx="2322576" cy="457200"/>
          </a:xfrm>
          <a:prstGeom prst="rect">
            <a:avLst/>
          </a:prstGeom>
          <a:noFill/>
        </p:spPr>
        <p:txBody>
          <a:bodyPr wrap="square" anchor="t" lIns="36576" rIns="36576" tIns="18288" bIns="18288">
            <a:spAutoFit/>
          </a:bodyPr>
          <a:lstStyle/>
          <a:p>
            <a:pPr algn="l">
              <a:spcAft>
                <a:spcPts val="800"/>
              </a:spcAft>
            </a:pPr>
            <a:r>
              <a:rPr sz="1700" b="1">
                <a:solidFill>
                  <a:srgbClr val="0B6E99"/>
                </a:solidFill>
                <a:latin typeface="Calibri"/>
              </a:rPr>
              <a:t>Small monitoring teams</a:t>
            </a:r>
          </a:p>
        </p:txBody>
      </p:sp>
      <p:sp>
        <p:nvSpPr>
          <p:cNvPr id="14" name="TextBox 13"/>
          <p:cNvSpPr txBox="1"/>
          <p:nvPr/>
        </p:nvSpPr>
        <p:spPr>
          <a:xfrm>
            <a:off x="6291071" y="2121408"/>
            <a:ext cx="2322576" cy="2926080"/>
          </a:xfrm>
          <a:prstGeom prst="rect">
            <a:avLst/>
          </a:prstGeom>
          <a:noFill/>
        </p:spPr>
        <p:txBody>
          <a:bodyPr wrap="square" anchor="t" lIns="36576" rIns="36576" tIns="18288" bIns="18288">
            <a:spAutoFit/>
          </a:bodyPr>
          <a:lstStyle/>
          <a:p>
            <a:pPr algn="l">
              <a:spcAft>
                <a:spcPts val="800"/>
              </a:spcAft>
            </a:pPr>
            <a:r>
              <a:rPr sz="1900" b="0">
                <a:solidFill>
                  <a:srgbClr val="0D2B3E"/>
                </a:solidFill>
                <a:latin typeface="Calibri"/>
              </a:rPr>
              <a:t>Need repeatable checks, trends by location and exports.</a:t>
            </a:r>
          </a:p>
        </p:txBody>
      </p:sp>
      <p:sp>
        <p:nvSpPr>
          <p:cNvPr id="15" name="Rounded Rectangle 14"/>
          <p:cNvSpPr/>
          <p:nvPr/>
        </p:nvSpPr>
        <p:spPr>
          <a:xfrm>
            <a:off x="8915399" y="1554480"/>
            <a:ext cx="2651760" cy="3566160"/>
          </a:xfrm>
          <a:prstGeom prst="roundRect">
            <a:avLst>
              <a:gd name="adj" fmla="val 5000"/>
            </a:avLst>
          </a:prstGeom>
          <a:solidFill>
            <a:srgbClr val="E4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79991" y="1664207"/>
            <a:ext cx="2322576" cy="457200"/>
          </a:xfrm>
          <a:prstGeom prst="rect">
            <a:avLst/>
          </a:prstGeom>
          <a:noFill/>
        </p:spPr>
        <p:txBody>
          <a:bodyPr wrap="square" anchor="t" lIns="36576" rIns="36576" tIns="18288" bIns="18288">
            <a:spAutoFit/>
          </a:bodyPr>
          <a:lstStyle/>
          <a:p>
            <a:pPr algn="l">
              <a:spcAft>
                <a:spcPts val="800"/>
              </a:spcAft>
            </a:pPr>
            <a:r>
              <a:rPr sz="1700" b="1">
                <a:solidFill>
                  <a:srgbClr val="0B6E99"/>
                </a:solidFill>
                <a:latin typeface="Calibri"/>
              </a:rPr>
              <a:t>Evaluators</a:t>
            </a:r>
          </a:p>
        </p:txBody>
      </p:sp>
      <p:sp>
        <p:nvSpPr>
          <p:cNvPr id="17" name="TextBox 16"/>
          <p:cNvSpPr txBox="1"/>
          <p:nvPr/>
        </p:nvSpPr>
        <p:spPr>
          <a:xfrm>
            <a:off x="9079991" y="2121408"/>
            <a:ext cx="2322576" cy="2926080"/>
          </a:xfrm>
          <a:prstGeom prst="rect">
            <a:avLst/>
          </a:prstGeom>
          <a:noFill/>
        </p:spPr>
        <p:txBody>
          <a:bodyPr wrap="square" anchor="t" lIns="36576" rIns="36576" tIns="18288" bIns="18288">
            <a:spAutoFit/>
          </a:bodyPr>
          <a:lstStyle/>
          <a:p>
            <a:pPr algn="l">
              <a:spcAft>
                <a:spcPts val="800"/>
              </a:spcAft>
            </a:pPr>
            <a:r>
              <a:rPr sz="1900" b="0">
                <a:solidFill>
                  <a:srgbClr val="0D2B3E"/>
                </a:solidFill>
                <a:latin typeface="Calibri"/>
              </a:rPr>
              <a:t>Need visible assumptions and transparent rules they can audit.</a:t>
            </a:r>
          </a:p>
        </p:txBody>
      </p:sp>
      <p:sp>
        <p:nvSpPr>
          <p:cNvPr id="18" name="TextBox 17"/>
          <p:cNvSpPr txBox="1"/>
          <p:nvPr/>
        </p:nvSpPr>
        <p:spPr>
          <a:xfrm>
            <a:off x="548640" y="5394960"/>
            <a:ext cx="11064240" cy="731520"/>
          </a:xfrm>
          <a:prstGeom prst="rect">
            <a:avLst/>
          </a:prstGeom>
          <a:noFill/>
        </p:spPr>
        <p:txBody>
          <a:bodyPr wrap="square" anchor="t" lIns="36576" rIns="36576" tIns="18288" bIns="18288">
            <a:spAutoFit/>
          </a:bodyPr>
          <a:lstStyle/>
          <a:p>
            <a:pPr algn="l">
              <a:spcAft>
                <a:spcPts val="800"/>
              </a:spcAft>
            </a:pPr>
            <a:r>
              <a:rPr sz="1800" b="1">
                <a:solidFill>
                  <a:srgbClr val="0B6E99"/>
                </a:solidFill>
                <a:latin typeface="Calibri"/>
              </a:rPr>
              <a:t>Common challenge: not knowing whether a reading is unusual, what to do next, or how to present the data.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7315200" cy="274320"/>
          </a:xfrm>
          <a:prstGeom prst="rect">
            <a:avLst/>
          </a:prstGeom>
          <a:noFill/>
        </p:spPr>
        <p:txBody>
          <a:bodyPr wrap="square" anchor="t" lIns="36576" rIns="36576" tIns="18288" bIns="18288">
            <a:spAutoFit/>
          </a:bodyPr>
          <a:lstStyle/>
          <a:p>
            <a:pPr algn="l">
              <a:spcAft>
                <a:spcPts val="800"/>
              </a:spcAft>
            </a:pPr>
            <a:r>
              <a:rPr sz="1100" b="1">
                <a:solidFill>
                  <a:srgbClr val="0B6E99"/>
                </a:solidFill>
                <a:latin typeface="Calibri"/>
              </a:rPr>
              <a:t>GAP</a:t>
            </a:r>
          </a:p>
        </p:txBody>
      </p:sp>
      <p:sp>
        <p:nvSpPr>
          <p:cNvPr id="3" name="TextBox 2"/>
          <p:cNvSpPr txBox="1"/>
          <p:nvPr/>
        </p:nvSpPr>
        <p:spPr>
          <a:xfrm>
            <a:off x="548640" y="548640"/>
            <a:ext cx="11064240" cy="685800"/>
          </a:xfrm>
          <a:prstGeom prst="rect">
            <a:avLst/>
          </a:prstGeom>
          <a:noFill/>
        </p:spPr>
        <p:txBody>
          <a:bodyPr wrap="square" anchor="ctr" lIns="36576" rIns="36576" tIns="18288" bIns="18288">
            <a:spAutoFit/>
          </a:bodyPr>
          <a:lstStyle/>
          <a:p>
            <a:pPr algn="l">
              <a:spcAft>
                <a:spcPts val="800"/>
              </a:spcAft>
            </a:pPr>
            <a:r>
              <a:rPr sz="3000" b="1">
                <a:solidFill>
                  <a:srgbClr val="0B2F4A"/>
                </a:solidFill>
                <a:latin typeface="Calibri"/>
              </a:rPr>
              <a:t>Existing approaches and the gap</a:t>
            </a:r>
          </a:p>
        </p:txBody>
      </p:sp>
      <p:sp>
        <p:nvSpPr>
          <p:cNvPr id="4" name="TextBox 3"/>
          <p:cNvSpPr txBox="1"/>
          <p:nvPr/>
        </p:nvSpPr>
        <p:spPr>
          <a:xfrm>
            <a:off x="548640" y="6473952"/>
            <a:ext cx="9601200" cy="274320"/>
          </a:xfrm>
          <a:prstGeom prst="rect">
            <a:avLst/>
          </a:prstGeom>
          <a:noFill/>
        </p:spPr>
        <p:txBody>
          <a:bodyPr wrap="square" anchor="t" lIns="36576" rIns="36576" tIns="18288" bIns="18288">
            <a:spAutoFit/>
          </a:bodyPr>
          <a:lstStyle/>
          <a:p>
            <a:pPr algn="l">
              <a:spcAft>
                <a:spcPts val="800"/>
              </a:spcAft>
            </a:pPr>
            <a:r>
              <a:rPr sz="900" b="0">
                <a:solidFill>
                  <a:srgbClr val="4C5A67"/>
                </a:solidFill>
                <a:latin typeface="Calibri"/>
              </a:rPr>
              <a:t>AquaGuard AI  |  IBM academic project  |  UN SDG 6  |  Educational screening tool - not a safety certification. Not endorsed by IBM, the UN or any agency.</a:t>
            </a:r>
          </a:p>
        </p:txBody>
      </p:sp>
      <p:sp>
        <p:nvSpPr>
          <p:cNvPr id="5" name="TextBox 4"/>
          <p:cNvSpPr txBox="1"/>
          <p:nvPr/>
        </p:nvSpPr>
        <p:spPr>
          <a:xfrm>
            <a:off x="11155680" y="6473952"/>
            <a:ext cx="548640" cy="274320"/>
          </a:xfrm>
          <a:prstGeom prst="rect">
            <a:avLst/>
          </a:prstGeom>
          <a:noFill/>
        </p:spPr>
        <p:txBody>
          <a:bodyPr wrap="square" anchor="t" lIns="36576" rIns="36576" tIns="18288" bIns="18288">
            <a:spAutoFit/>
          </a:bodyPr>
          <a:lstStyle/>
          <a:p>
            <a:pPr algn="r">
              <a:spcAft>
                <a:spcPts val="800"/>
              </a:spcAft>
            </a:pPr>
            <a:r>
              <a:rPr sz="1000" b="0">
                <a:solidFill>
                  <a:srgbClr val="4C5A67"/>
                </a:solidFill>
                <a:latin typeface="Calibri"/>
              </a:rPr>
              <a:t>7</a:t>
            </a:r>
          </a:p>
        </p:txBody>
      </p:sp>
      <p:graphicFrame>
        <p:nvGraphicFramePr>
          <p:cNvPr id="6" name="Table 5"/>
          <p:cNvGraphicFramePr>
            <a:graphicFrameLocks noGrp="1"/>
          </p:cNvGraphicFramePr>
          <p:nvPr/>
        </p:nvGraphicFramePr>
        <p:xfrm>
          <a:off x="548640" y="1554480"/>
          <a:ext cx="11064240" cy="4114800"/>
        </p:xfrm>
        <a:graphic>
          <a:graphicData uri="http://schemas.openxmlformats.org/drawingml/2006/table">
            <a:tbl>
              <a:tblPr firstRow="1" bandRow="1">
                <a:tableStyleId>{5C22544A-7EE6-4342-B048-85BDC9FD1C3A}</a:tableStyleId>
              </a:tblPr>
              <a:tblGrid>
                <a:gridCol w="2926080"/>
                <a:gridCol w="3840480"/>
                <a:gridCol w="4297680"/>
              </a:tblGrid>
              <a:tr h="685800">
                <a:tc>
                  <a:txBody>
                    <a:bodyPr/>
                    <a:lstStyle/>
                    <a:p>
                      <a:r>
                        <a:rPr sz="1800" b="1">
                          <a:solidFill>
                            <a:srgbClr val="FFFFFF"/>
                          </a:solidFill>
                          <a:latin typeface="Calibri"/>
                        </a:rPr>
                        <a:t>Approach</a:t>
                      </a:r>
                    </a:p>
                  </a:txBody>
                  <a:tcPr marL="54864" marR="54864" marT="22860" marB="22860">
                    <a:solidFill>
                      <a:srgbClr val="0B6E99"/>
                    </a:solidFill>
                  </a:tcPr>
                </a:tc>
                <a:tc>
                  <a:txBody>
                    <a:bodyPr/>
                    <a:lstStyle/>
                    <a:p>
                      <a:r>
                        <a:rPr sz="1800" b="1">
                          <a:solidFill>
                            <a:srgbClr val="FFFFFF"/>
                          </a:solidFill>
                          <a:latin typeface="Calibri"/>
                        </a:rPr>
                        <a:t>Strength</a:t>
                      </a:r>
                    </a:p>
                  </a:txBody>
                  <a:tcPr marL="54864" marR="54864" marT="22860" marB="22860">
                    <a:solidFill>
                      <a:srgbClr val="0B6E99"/>
                    </a:solidFill>
                  </a:tcPr>
                </a:tc>
                <a:tc>
                  <a:txBody>
                    <a:bodyPr/>
                    <a:lstStyle/>
                    <a:p>
                      <a:r>
                        <a:rPr sz="1800" b="1">
                          <a:solidFill>
                            <a:srgbClr val="FFFFFF"/>
                          </a:solidFill>
                          <a:latin typeface="Calibri"/>
                        </a:rPr>
                        <a:t>Limitation</a:t>
                      </a:r>
                    </a:p>
                  </a:txBody>
                  <a:tcPr marL="54864" marR="54864" marT="22860" marB="22860">
                    <a:solidFill>
                      <a:srgbClr val="0B6E99"/>
                    </a:solidFill>
                  </a:tcPr>
                </a:tc>
              </a:tr>
              <a:tr h="685800">
                <a:tc>
                  <a:txBody>
                    <a:bodyPr/>
                    <a:lstStyle/>
                    <a:p>
                      <a:r>
                        <a:rPr sz="1800" b="0">
                          <a:solidFill>
                            <a:srgbClr val="0D2B3E"/>
                          </a:solidFill>
                          <a:latin typeface="Calibri"/>
                        </a:rPr>
                        <a:t>Spreadsheets</a:t>
                      </a:r>
                    </a:p>
                  </a:txBody>
                  <a:tcPr marL="54864" marR="54864" marT="22860" marB="22860">
                    <a:solidFill>
                      <a:srgbClr val="F4F9FB"/>
                    </a:solidFill>
                  </a:tcPr>
                </a:tc>
                <a:tc>
                  <a:txBody>
                    <a:bodyPr/>
                    <a:lstStyle/>
                    <a:p>
                      <a:r>
                        <a:rPr sz="1800" b="0">
                          <a:solidFill>
                            <a:srgbClr val="0D2B3E"/>
                          </a:solidFill>
                          <a:latin typeface="Calibri"/>
                        </a:rPr>
                        <a:t>Flexible</a:t>
                      </a:r>
                    </a:p>
                  </a:txBody>
                  <a:tcPr marL="54864" marR="54864" marT="22860" marB="22860">
                    <a:solidFill>
                      <a:srgbClr val="F4F9FB"/>
                    </a:solidFill>
                  </a:tcPr>
                </a:tc>
                <a:tc>
                  <a:txBody>
                    <a:bodyPr/>
                    <a:lstStyle/>
                    <a:p>
                      <a:r>
                        <a:rPr sz="1800" b="0">
                          <a:solidFill>
                            <a:srgbClr val="0D2B3E"/>
                          </a:solidFill>
                          <a:latin typeface="Calibri"/>
                        </a:rPr>
                        <a:t>No validation; silent unit and typing errors</a:t>
                      </a:r>
                    </a:p>
                  </a:txBody>
                  <a:tcPr marL="54864" marR="54864" marT="22860" marB="22860">
                    <a:solidFill>
                      <a:srgbClr val="F4F9FB"/>
                    </a:solidFill>
                  </a:tcPr>
                </a:tc>
              </a:tr>
              <a:tr h="685800">
                <a:tc>
                  <a:txBody>
                    <a:bodyPr/>
                    <a:lstStyle/>
                    <a:p>
                      <a:r>
                        <a:rPr sz="1800" b="0">
                          <a:solidFill>
                            <a:srgbClr val="0D2B3E"/>
                          </a:solidFill>
                          <a:latin typeface="Calibri"/>
                        </a:rPr>
                        <a:t>Lab reports (PDF)</a:t>
                      </a:r>
                    </a:p>
                  </a:txBody>
                  <a:tcPr marL="54864" marR="54864" marT="22860" marB="22860">
                    <a:solidFill>
                      <a:srgbClr val="FFFFFF"/>
                    </a:solidFill>
                  </a:tcPr>
                </a:tc>
                <a:tc>
                  <a:txBody>
                    <a:bodyPr/>
                    <a:lstStyle/>
                    <a:p>
                      <a:r>
                        <a:rPr sz="1800" b="0">
                          <a:solidFill>
                            <a:srgbClr val="0D2B3E"/>
                          </a:solidFill>
                          <a:latin typeface="Calibri"/>
                        </a:rPr>
                        <a:t>Authoritative</a:t>
                      </a:r>
                    </a:p>
                  </a:txBody>
                  <a:tcPr marL="54864" marR="54864" marT="22860" marB="22860">
                    <a:solidFill>
                      <a:srgbClr val="FFFFFF"/>
                    </a:solidFill>
                  </a:tcPr>
                </a:tc>
                <a:tc>
                  <a:txBody>
                    <a:bodyPr/>
                    <a:lstStyle/>
                    <a:p>
                      <a:r>
                        <a:rPr sz="1800" b="0">
                          <a:solidFill>
                            <a:srgbClr val="0D2B3E"/>
                          </a:solidFill>
                          <a:latin typeface="Calibri"/>
                        </a:rPr>
                        <a:t>Slow, per-sample, hard to trend</a:t>
                      </a:r>
                    </a:p>
                  </a:txBody>
                  <a:tcPr marL="54864" marR="54864" marT="22860" marB="22860">
                    <a:solidFill>
                      <a:srgbClr val="FFFFFF"/>
                    </a:solidFill>
                  </a:tcPr>
                </a:tc>
              </a:tr>
              <a:tr h="685800">
                <a:tc>
                  <a:txBody>
                    <a:bodyPr/>
                    <a:lstStyle/>
                    <a:p>
                      <a:r>
                        <a:rPr sz="1800" b="0">
                          <a:solidFill>
                            <a:srgbClr val="0D2B3E"/>
                          </a:solidFill>
                          <a:latin typeface="Calibri"/>
                        </a:rPr>
                        <a:t>Commercial dashboards</a:t>
                      </a:r>
                    </a:p>
                  </a:txBody>
                  <a:tcPr marL="54864" marR="54864" marT="22860" marB="22860">
                    <a:solidFill>
                      <a:srgbClr val="F4F9FB"/>
                    </a:solidFill>
                  </a:tcPr>
                </a:tc>
                <a:tc>
                  <a:txBody>
                    <a:bodyPr/>
                    <a:lstStyle/>
                    <a:p>
                      <a:r>
                        <a:rPr sz="1800" b="0">
                          <a:solidFill>
                            <a:srgbClr val="0D2B3E"/>
                          </a:solidFill>
                          <a:latin typeface="Calibri"/>
                        </a:rPr>
                        <a:t>Polished</a:t>
                      </a:r>
                    </a:p>
                  </a:txBody>
                  <a:tcPr marL="54864" marR="54864" marT="22860" marB="22860">
                    <a:solidFill>
                      <a:srgbClr val="F4F9FB"/>
                    </a:solidFill>
                  </a:tcPr>
                </a:tc>
                <a:tc>
                  <a:txBody>
                    <a:bodyPr/>
                    <a:lstStyle/>
                    <a:p>
                      <a:r>
                        <a:rPr sz="1800" b="0">
                          <a:solidFill>
                            <a:srgbClr val="0D2B3E"/>
                          </a:solidFill>
                          <a:latin typeface="Calibri"/>
                        </a:rPr>
                        <a:t>Often paid and cloud-based; opaque scoring</a:t>
                      </a:r>
                    </a:p>
                  </a:txBody>
                  <a:tcPr marL="54864" marR="54864" marT="22860" marB="22860">
                    <a:solidFill>
                      <a:srgbClr val="F4F9FB"/>
                    </a:solidFill>
                  </a:tcPr>
                </a:tc>
              </a:tr>
              <a:tr h="685800">
                <a:tc>
                  <a:txBody>
                    <a:bodyPr/>
                    <a:lstStyle/>
                    <a:p>
                      <a:r>
                        <a:rPr sz="1800" b="0">
                          <a:solidFill>
                            <a:srgbClr val="0D2B3E"/>
                          </a:solidFill>
                          <a:latin typeface="Calibri"/>
                        </a:rPr>
                        <a:t>Paper logs</a:t>
                      </a:r>
                    </a:p>
                  </a:txBody>
                  <a:tcPr marL="54864" marR="54864" marT="22860" marB="22860">
                    <a:solidFill>
                      <a:srgbClr val="FFFFFF"/>
                    </a:solidFill>
                  </a:tcPr>
                </a:tc>
                <a:tc>
                  <a:txBody>
                    <a:bodyPr/>
                    <a:lstStyle/>
                    <a:p>
                      <a:r>
                        <a:rPr sz="1800" b="0">
                          <a:solidFill>
                            <a:srgbClr val="0D2B3E"/>
                          </a:solidFill>
                          <a:latin typeface="Calibri"/>
                        </a:rPr>
                        <a:t>Simple</a:t>
                      </a:r>
                    </a:p>
                  </a:txBody>
                  <a:tcPr marL="54864" marR="54864" marT="22860" marB="22860">
                    <a:solidFill>
                      <a:srgbClr val="FFFFFF"/>
                    </a:solidFill>
                  </a:tcPr>
                </a:tc>
                <a:tc>
                  <a:txBody>
                    <a:bodyPr/>
                    <a:lstStyle/>
                    <a:p>
                      <a:r>
                        <a:rPr sz="1800" b="0">
                          <a:solidFill>
                            <a:srgbClr val="0D2B3E"/>
                          </a:solidFill>
                          <a:latin typeface="Calibri"/>
                        </a:rPr>
                        <a:t>No analysis, no export</a:t>
                      </a:r>
                    </a:p>
                  </a:txBody>
                  <a:tcPr marL="54864" marR="54864" marT="22860" marB="22860">
                    <a:solidFill>
                      <a:srgbClr val="FFFFFF"/>
                    </a:solidFill>
                  </a:tcPr>
                </a:tc>
              </a:tr>
              <a:tr h="685800">
                <a:tc>
                  <a:txBody>
                    <a:bodyPr/>
                    <a:lstStyle/>
                    <a:p>
                      <a:r>
                        <a:rPr sz="1800" b="0">
                          <a:solidFill>
                            <a:srgbClr val="0D2B3E"/>
                          </a:solidFill>
                          <a:latin typeface="Calibri"/>
                        </a:rPr>
                        <a:t>AquaGuard AI</a:t>
                      </a:r>
                    </a:p>
                  </a:txBody>
                  <a:tcPr marL="54864" marR="54864" marT="22860" marB="22860">
                    <a:solidFill>
                      <a:srgbClr val="F4F9FB"/>
                    </a:solidFill>
                  </a:tcPr>
                </a:tc>
                <a:tc>
                  <a:txBody>
                    <a:bodyPr/>
                    <a:lstStyle/>
                    <a:p>
                      <a:r>
                        <a:rPr sz="1800" b="0">
                          <a:solidFill>
                            <a:srgbClr val="0D2B3E"/>
                          </a:solidFill>
                          <a:latin typeface="Calibri"/>
                        </a:rPr>
                        <a:t>Free, offline, transparent rules, validation</a:t>
                      </a:r>
                    </a:p>
                  </a:txBody>
                  <a:tcPr marL="54864" marR="54864" marT="22860" marB="22860">
                    <a:solidFill>
                      <a:srgbClr val="F4F9FB"/>
                    </a:solidFill>
                  </a:tcPr>
                </a:tc>
                <a:tc>
                  <a:txBody>
                    <a:bodyPr/>
                    <a:lstStyle/>
                    <a:p>
                      <a:r>
                        <a:rPr sz="1800" b="0">
                          <a:solidFill>
                            <a:srgbClr val="0D2B3E"/>
                          </a:solidFill>
                          <a:latin typeface="Calibri"/>
                        </a:rPr>
                        <a:t>Screening only; few parameters; thresholds to be verified</a:t>
                      </a:r>
                    </a:p>
                  </a:txBody>
                  <a:tcPr marL="54864" marR="54864" marT="22860" marB="22860">
                    <a:solidFill>
                      <a:srgbClr val="F4F9FB"/>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7315200" cy="274320"/>
          </a:xfrm>
          <a:prstGeom prst="rect">
            <a:avLst/>
          </a:prstGeom>
          <a:noFill/>
        </p:spPr>
        <p:txBody>
          <a:bodyPr wrap="square" anchor="t" lIns="36576" rIns="36576" tIns="18288" bIns="18288">
            <a:spAutoFit/>
          </a:bodyPr>
          <a:lstStyle/>
          <a:p>
            <a:pPr algn="l">
              <a:spcAft>
                <a:spcPts val="800"/>
              </a:spcAft>
            </a:pPr>
            <a:r>
              <a:rPr sz="1100" b="1">
                <a:solidFill>
                  <a:srgbClr val="0B6E99"/>
                </a:solidFill>
                <a:latin typeface="Calibri"/>
              </a:rPr>
              <a:t>SOLUTION</a:t>
            </a:r>
          </a:p>
        </p:txBody>
      </p:sp>
      <p:sp>
        <p:nvSpPr>
          <p:cNvPr id="3" name="TextBox 2"/>
          <p:cNvSpPr txBox="1"/>
          <p:nvPr/>
        </p:nvSpPr>
        <p:spPr>
          <a:xfrm>
            <a:off x="548640" y="548640"/>
            <a:ext cx="11064240" cy="685800"/>
          </a:xfrm>
          <a:prstGeom prst="rect">
            <a:avLst/>
          </a:prstGeom>
          <a:noFill/>
        </p:spPr>
        <p:txBody>
          <a:bodyPr wrap="square" anchor="ctr" lIns="36576" rIns="36576" tIns="18288" bIns="18288">
            <a:spAutoFit/>
          </a:bodyPr>
          <a:lstStyle/>
          <a:p>
            <a:pPr algn="l">
              <a:spcAft>
                <a:spcPts val="800"/>
              </a:spcAft>
            </a:pPr>
            <a:r>
              <a:rPr sz="3000" b="1">
                <a:solidFill>
                  <a:srgbClr val="0B2F4A"/>
                </a:solidFill>
                <a:latin typeface="Calibri"/>
              </a:rPr>
              <a:t>Proposed solution</a:t>
            </a:r>
          </a:p>
        </p:txBody>
      </p:sp>
      <p:sp>
        <p:nvSpPr>
          <p:cNvPr id="4" name="TextBox 3"/>
          <p:cNvSpPr txBox="1"/>
          <p:nvPr/>
        </p:nvSpPr>
        <p:spPr>
          <a:xfrm>
            <a:off x="548640" y="6473952"/>
            <a:ext cx="9601200" cy="274320"/>
          </a:xfrm>
          <a:prstGeom prst="rect">
            <a:avLst/>
          </a:prstGeom>
          <a:noFill/>
        </p:spPr>
        <p:txBody>
          <a:bodyPr wrap="square" anchor="t" lIns="36576" rIns="36576" tIns="18288" bIns="18288">
            <a:spAutoFit/>
          </a:bodyPr>
          <a:lstStyle/>
          <a:p>
            <a:pPr algn="l">
              <a:spcAft>
                <a:spcPts val="800"/>
              </a:spcAft>
            </a:pPr>
            <a:r>
              <a:rPr sz="900" b="0">
                <a:solidFill>
                  <a:srgbClr val="4C5A67"/>
                </a:solidFill>
                <a:latin typeface="Calibri"/>
              </a:rPr>
              <a:t>AquaGuard AI  |  IBM academic project  |  UN SDG 6  |  Educational screening tool - not a safety certification. Not endorsed by IBM, the UN or any agency.</a:t>
            </a:r>
          </a:p>
        </p:txBody>
      </p:sp>
      <p:sp>
        <p:nvSpPr>
          <p:cNvPr id="5" name="TextBox 4"/>
          <p:cNvSpPr txBox="1"/>
          <p:nvPr/>
        </p:nvSpPr>
        <p:spPr>
          <a:xfrm>
            <a:off x="11155680" y="6473952"/>
            <a:ext cx="548640" cy="274320"/>
          </a:xfrm>
          <a:prstGeom prst="rect">
            <a:avLst/>
          </a:prstGeom>
          <a:noFill/>
        </p:spPr>
        <p:txBody>
          <a:bodyPr wrap="square" anchor="t" lIns="36576" rIns="36576" tIns="18288" bIns="18288">
            <a:spAutoFit/>
          </a:bodyPr>
          <a:lstStyle/>
          <a:p>
            <a:pPr algn="r">
              <a:spcAft>
                <a:spcPts val="800"/>
              </a:spcAft>
            </a:pPr>
            <a:r>
              <a:rPr sz="1000" b="0">
                <a:solidFill>
                  <a:srgbClr val="4C5A67"/>
                </a:solidFill>
                <a:latin typeface="Calibri"/>
              </a:rPr>
              <a:t>8</a:t>
            </a:r>
          </a:p>
        </p:txBody>
      </p:sp>
      <p:sp>
        <p:nvSpPr>
          <p:cNvPr id="6" name="Rounded Rectangle 5"/>
          <p:cNvSpPr/>
          <p:nvPr/>
        </p:nvSpPr>
        <p:spPr>
          <a:xfrm>
            <a:off x="548640" y="1554480"/>
            <a:ext cx="3566160" cy="2103120"/>
          </a:xfrm>
          <a:prstGeom prst="roundRect">
            <a:avLst>
              <a:gd name="adj" fmla="val 5000"/>
            </a:avLst>
          </a:prstGeom>
          <a:solidFill>
            <a:srgbClr val="E4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64207"/>
            <a:ext cx="3236976" cy="457200"/>
          </a:xfrm>
          <a:prstGeom prst="rect">
            <a:avLst/>
          </a:prstGeom>
          <a:noFill/>
        </p:spPr>
        <p:txBody>
          <a:bodyPr wrap="square" anchor="t" lIns="36576" rIns="36576" tIns="18288" bIns="18288">
            <a:spAutoFit/>
          </a:bodyPr>
          <a:lstStyle/>
          <a:p>
            <a:pPr algn="l">
              <a:spcAft>
                <a:spcPts val="800"/>
              </a:spcAft>
            </a:pPr>
            <a:r>
              <a:rPr sz="1700" b="1">
                <a:solidFill>
                  <a:srgbClr val="0B6E99"/>
                </a:solidFill>
                <a:latin typeface="Calibri"/>
              </a:rPr>
              <a:t>Preloaded demo</a:t>
            </a:r>
          </a:p>
        </p:txBody>
      </p:sp>
      <p:sp>
        <p:nvSpPr>
          <p:cNvPr id="8" name="TextBox 7"/>
          <p:cNvSpPr txBox="1"/>
          <p:nvPr/>
        </p:nvSpPr>
        <p:spPr>
          <a:xfrm>
            <a:off x="713232" y="2121408"/>
            <a:ext cx="3236976" cy="1463039"/>
          </a:xfrm>
          <a:prstGeom prst="rect">
            <a:avLst/>
          </a:prstGeom>
          <a:noFill/>
        </p:spPr>
        <p:txBody>
          <a:bodyPr wrap="square" anchor="t" lIns="36576" rIns="36576" tIns="18288" bIns="18288">
            <a:spAutoFit/>
          </a:bodyPr>
          <a:lstStyle/>
          <a:p>
            <a:pPr algn="l">
              <a:spcAft>
                <a:spcPts val="800"/>
              </a:spcAft>
            </a:pPr>
            <a:r>
              <a:rPr sz="1900" b="0">
                <a:solidFill>
                  <a:srgbClr val="0D2B3E"/>
                </a:solidFill>
                <a:latin typeface="Calibri"/>
              </a:rPr>
              <a:t>120 synthetic records load on first open</a:t>
            </a:r>
          </a:p>
        </p:txBody>
      </p:sp>
      <p:sp>
        <p:nvSpPr>
          <p:cNvPr id="9" name="Rounded Rectangle 8"/>
          <p:cNvSpPr/>
          <p:nvPr/>
        </p:nvSpPr>
        <p:spPr>
          <a:xfrm>
            <a:off x="4297679" y="1554480"/>
            <a:ext cx="3566160" cy="2103120"/>
          </a:xfrm>
          <a:prstGeom prst="roundRect">
            <a:avLst>
              <a:gd name="adj" fmla="val 5000"/>
            </a:avLst>
          </a:prstGeom>
          <a:solidFill>
            <a:srgbClr val="E4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62271" y="1664207"/>
            <a:ext cx="3236976" cy="457200"/>
          </a:xfrm>
          <a:prstGeom prst="rect">
            <a:avLst/>
          </a:prstGeom>
          <a:noFill/>
        </p:spPr>
        <p:txBody>
          <a:bodyPr wrap="square" anchor="t" lIns="36576" rIns="36576" tIns="18288" bIns="18288">
            <a:spAutoFit/>
          </a:bodyPr>
          <a:lstStyle/>
          <a:p>
            <a:pPr algn="l">
              <a:spcAft>
                <a:spcPts val="800"/>
              </a:spcAft>
            </a:pPr>
            <a:r>
              <a:rPr sz="1700" b="1">
                <a:solidFill>
                  <a:srgbClr val="0B6E99"/>
                </a:solidFill>
                <a:latin typeface="Calibri"/>
              </a:rPr>
              <a:t>Validated input</a:t>
            </a:r>
          </a:p>
        </p:txBody>
      </p:sp>
      <p:sp>
        <p:nvSpPr>
          <p:cNvPr id="11" name="TextBox 10"/>
          <p:cNvSpPr txBox="1"/>
          <p:nvPr/>
        </p:nvSpPr>
        <p:spPr>
          <a:xfrm>
            <a:off x="4462271" y="2121408"/>
            <a:ext cx="3236976" cy="1463039"/>
          </a:xfrm>
          <a:prstGeom prst="rect">
            <a:avLst/>
          </a:prstGeom>
          <a:noFill/>
        </p:spPr>
        <p:txBody>
          <a:bodyPr wrap="square" anchor="t" lIns="36576" rIns="36576" tIns="18288" bIns="18288">
            <a:spAutoFit/>
          </a:bodyPr>
          <a:lstStyle/>
          <a:p>
            <a:pPr algn="l">
              <a:spcAft>
                <a:spcPts val="800"/>
              </a:spcAft>
            </a:pPr>
            <a:r>
              <a:rPr sz="1900" b="0">
                <a:solidFill>
                  <a:srgbClr val="0D2B3E"/>
                </a:solidFill>
                <a:latin typeface="Calibri"/>
              </a:rPr>
              <a:t>Manual form and CSV; reasons for every rejection</a:t>
            </a:r>
          </a:p>
        </p:txBody>
      </p:sp>
      <p:sp>
        <p:nvSpPr>
          <p:cNvPr id="12" name="Rounded Rectangle 11"/>
          <p:cNvSpPr/>
          <p:nvPr/>
        </p:nvSpPr>
        <p:spPr>
          <a:xfrm>
            <a:off x="8046719" y="1554480"/>
            <a:ext cx="3566160" cy="2103120"/>
          </a:xfrm>
          <a:prstGeom prst="roundRect">
            <a:avLst>
              <a:gd name="adj" fmla="val 5000"/>
            </a:avLst>
          </a:prstGeom>
          <a:solidFill>
            <a:srgbClr val="E4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11311" y="1664207"/>
            <a:ext cx="3236976" cy="457200"/>
          </a:xfrm>
          <a:prstGeom prst="rect">
            <a:avLst/>
          </a:prstGeom>
          <a:noFill/>
        </p:spPr>
        <p:txBody>
          <a:bodyPr wrap="square" anchor="t" lIns="36576" rIns="36576" tIns="18288" bIns="18288">
            <a:spAutoFit/>
          </a:bodyPr>
          <a:lstStyle/>
          <a:p>
            <a:pPr algn="l">
              <a:spcAft>
                <a:spcPts val="800"/>
              </a:spcAft>
            </a:pPr>
            <a:r>
              <a:rPr sz="1700" b="1">
                <a:solidFill>
                  <a:srgbClr val="0B6E99"/>
                </a:solidFill>
                <a:latin typeface="Calibri"/>
              </a:rPr>
              <a:t>Transparent screening</a:t>
            </a:r>
          </a:p>
        </p:txBody>
      </p:sp>
      <p:sp>
        <p:nvSpPr>
          <p:cNvPr id="14" name="TextBox 13"/>
          <p:cNvSpPr txBox="1"/>
          <p:nvPr/>
        </p:nvSpPr>
        <p:spPr>
          <a:xfrm>
            <a:off x="8211311" y="2121408"/>
            <a:ext cx="3236976" cy="1463039"/>
          </a:xfrm>
          <a:prstGeom prst="rect">
            <a:avLst/>
          </a:prstGeom>
          <a:noFill/>
        </p:spPr>
        <p:txBody>
          <a:bodyPr wrap="square" anchor="t" lIns="36576" rIns="36576" tIns="18288" bIns="18288">
            <a:spAutoFit/>
          </a:bodyPr>
          <a:lstStyle/>
          <a:p>
            <a:pPr algn="l">
              <a:spcAft>
                <a:spcPts val="800"/>
              </a:spcAft>
            </a:pPr>
            <a:r>
              <a:rPr sz="1900" b="0">
                <a:solidFill>
                  <a:srgbClr val="0D2B3E"/>
                </a:solidFill>
                <a:latin typeface="Calibri"/>
              </a:rPr>
              <a:t>Rules against a selectable, documented profile</a:t>
            </a:r>
          </a:p>
        </p:txBody>
      </p:sp>
      <p:sp>
        <p:nvSpPr>
          <p:cNvPr id="15" name="Rounded Rectangle 14"/>
          <p:cNvSpPr/>
          <p:nvPr/>
        </p:nvSpPr>
        <p:spPr>
          <a:xfrm>
            <a:off x="548640" y="3840480"/>
            <a:ext cx="3566160" cy="2103120"/>
          </a:xfrm>
          <a:prstGeom prst="roundRect">
            <a:avLst>
              <a:gd name="adj" fmla="val 5000"/>
            </a:avLst>
          </a:prstGeom>
          <a:solidFill>
            <a:srgbClr val="E4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3950208"/>
            <a:ext cx="3236976" cy="457200"/>
          </a:xfrm>
          <a:prstGeom prst="rect">
            <a:avLst/>
          </a:prstGeom>
          <a:noFill/>
        </p:spPr>
        <p:txBody>
          <a:bodyPr wrap="square" anchor="t" lIns="36576" rIns="36576" tIns="18288" bIns="18288">
            <a:spAutoFit/>
          </a:bodyPr>
          <a:lstStyle/>
          <a:p>
            <a:pPr algn="l">
              <a:spcAft>
                <a:spcPts val="800"/>
              </a:spcAft>
            </a:pPr>
            <a:r>
              <a:rPr sz="1700" b="1">
                <a:solidFill>
                  <a:srgbClr val="0B6E99"/>
                </a:solidFill>
                <a:latin typeface="Calibri"/>
              </a:rPr>
              <a:t>Charts and filters</a:t>
            </a:r>
          </a:p>
        </p:txBody>
      </p:sp>
      <p:sp>
        <p:nvSpPr>
          <p:cNvPr id="17" name="TextBox 16"/>
          <p:cNvSpPr txBox="1"/>
          <p:nvPr/>
        </p:nvSpPr>
        <p:spPr>
          <a:xfrm>
            <a:off x="713232" y="4407408"/>
            <a:ext cx="3236976" cy="1463039"/>
          </a:xfrm>
          <a:prstGeom prst="rect">
            <a:avLst/>
          </a:prstGeom>
          <a:noFill/>
        </p:spPr>
        <p:txBody>
          <a:bodyPr wrap="square" anchor="t" lIns="36576" rIns="36576" tIns="18288" bIns="18288">
            <a:spAutoFit/>
          </a:bodyPr>
          <a:lstStyle/>
          <a:p>
            <a:pPr algn="l">
              <a:spcAft>
                <a:spcPts val="800"/>
              </a:spcAft>
            </a:pPr>
            <a:r>
              <a:rPr sz="1900" b="0">
                <a:solidFill>
                  <a:srgbClr val="0D2B3E"/>
                </a:solidFill>
                <a:latin typeface="Calibri"/>
              </a:rPr>
              <a:t>Date, location, search and parameter filters</a:t>
            </a:r>
          </a:p>
        </p:txBody>
      </p:sp>
      <p:sp>
        <p:nvSpPr>
          <p:cNvPr id="18" name="Rounded Rectangle 17"/>
          <p:cNvSpPr/>
          <p:nvPr/>
        </p:nvSpPr>
        <p:spPr>
          <a:xfrm>
            <a:off x="4297679" y="3840480"/>
            <a:ext cx="3566160" cy="2103120"/>
          </a:xfrm>
          <a:prstGeom prst="roundRect">
            <a:avLst>
              <a:gd name="adj" fmla="val 5000"/>
            </a:avLst>
          </a:prstGeom>
          <a:solidFill>
            <a:srgbClr val="E4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62271" y="3950208"/>
            <a:ext cx="3236976" cy="457200"/>
          </a:xfrm>
          <a:prstGeom prst="rect">
            <a:avLst/>
          </a:prstGeom>
          <a:noFill/>
        </p:spPr>
        <p:txBody>
          <a:bodyPr wrap="square" anchor="t" lIns="36576" rIns="36576" tIns="18288" bIns="18288">
            <a:spAutoFit/>
          </a:bodyPr>
          <a:lstStyle/>
          <a:p>
            <a:pPr algn="l">
              <a:spcAft>
                <a:spcPts val="800"/>
              </a:spcAft>
            </a:pPr>
            <a:r>
              <a:rPr sz="1700" b="1">
                <a:solidFill>
                  <a:srgbClr val="0B6E99"/>
                </a:solidFill>
                <a:latin typeface="Calibri"/>
              </a:rPr>
              <a:t>Outlier detection</a:t>
            </a:r>
          </a:p>
        </p:txBody>
      </p:sp>
      <p:sp>
        <p:nvSpPr>
          <p:cNvPr id="20" name="TextBox 19"/>
          <p:cNvSpPr txBox="1"/>
          <p:nvPr/>
        </p:nvSpPr>
        <p:spPr>
          <a:xfrm>
            <a:off x="4462271" y="4407408"/>
            <a:ext cx="3236976" cy="1463039"/>
          </a:xfrm>
          <a:prstGeom prst="rect">
            <a:avLst/>
          </a:prstGeom>
          <a:noFill/>
        </p:spPr>
        <p:txBody>
          <a:bodyPr wrap="square" anchor="t" lIns="36576" rIns="36576" tIns="18288" bIns="18288">
            <a:spAutoFit/>
          </a:bodyPr>
          <a:lstStyle/>
          <a:p>
            <a:pPr algn="l">
              <a:spcAft>
                <a:spcPts val="800"/>
              </a:spcAft>
            </a:pPr>
            <a:r>
              <a:rPr sz="1900" b="0">
                <a:solidFill>
                  <a:srgbClr val="0D2B3E"/>
                </a:solidFill>
                <a:latin typeface="Calibri"/>
              </a:rPr>
              <a:t>Robust statistics, clearly not machine learning</a:t>
            </a:r>
          </a:p>
        </p:txBody>
      </p:sp>
      <p:sp>
        <p:nvSpPr>
          <p:cNvPr id="21" name="Rounded Rectangle 20"/>
          <p:cNvSpPr/>
          <p:nvPr/>
        </p:nvSpPr>
        <p:spPr>
          <a:xfrm>
            <a:off x="8046719" y="3840480"/>
            <a:ext cx="3566160" cy="2103120"/>
          </a:xfrm>
          <a:prstGeom prst="roundRect">
            <a:avLst>
              <a:gd name="adj" fmla="val 5000"/>
            </a:avLst>
          </a:prstGeom>
          <a:solidFill>
            <a:srgbClr val="E4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11311" y="3950208"/>
            <a:ext cx="3236976" cy="457200"/>
          </a:xfrm>
          <a:prstGeom prst="rect">
            <a:avLst/>
          </a:prstGeom>
          <a:noFill/>
        </p:spPr>
        <p:txBody>
          <a:bodyPr wrap="square" anchor="t" lIns="36576" rIns="36576" tIns="18288" bIns="18288">
            <a:spAutoFit/>
          </a:bodyPr>
          <a:lstStyle/>
          <a:p>
            <a:pPr algn="l">
              <a:spcAft>
                <a:spcPts val="800"/>
              </a:spcAft>
            </a:pPr>
            <a:r>
              <a:rPr sz="1700" b="1">
                <a:solidFill>
                  <a:srgbClr val="0B6E99"/>
                </a:solidFill>
                <a:latin typeface="Calibri"/>
              </a:rPr>
              <a:t>Reports</a:t>
            </a:r>
          </a:p>
        </p:txBody>
      </p:sp>
      <p:sp>
        <p:nvSpPr>
          <p:cNvPr id="23" name="TextBox 22"/>
          <p:cNvSpPr txBox="1"/>
          <p:nvPr/>
        </p:nvSpPr>
        <p:spPr>
          <a:xfrm>
            <a:off x="8211311" y="4407408"/>
            <a:ext cx="3236976" cy="1463039"/>
          </a:xfrm>
          <a:prstGeom prst="rect">
            <a:avLst/>
          </a:prstGeom>
          <a:noFill/>
        </p:spPr>
        <p:txBody>
          <a:bodyPr wrap="square" anchor="t" lIns="36576" rIns="36576" tIns="18288" bIns="18288">
            <a:spAutoFit/>
          </a:bodyPr>
          <a:lstStyle/>
          <a:p>
            <a:pPr algn="l">
              <a:spcAft>
                <a:spcPts val="800"/>
              </a:spcAft>
            </a:pPr>
            <a:r>
              <a:rPr sz="1900" b="0">
                <a:solidFill>
                  <a:srgbClr val="0D2B3E"/>
                </a:solidFill>
                <a:latin typeface="Calibri"/>
              </a:rPr>
              <a:t>HTML report, CSV exports, print to PDF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7315200" cy="274320"/>
          </a:xfrm>
          <a:prstGeom prst="rect">
            <a:avLst/>
          </a:prstGeom>
          <a:noFill/>
        </p:spPr>
        <p:txBody>
          <a:bodyPr wrap="square" anchor="t" lIns="36576" rIns="36576" tIns="18288" bIns="18288">
            <a:spAutoFit/>
          </a:bodyPr>
          <a:lstStyle/>
          <a:p>
            <a:pPr algn="l">
              <a:spcAft>
                <a:spcPts val="800"/>
              </a:spcAft>
            </a:pPr>
            <a:r>
              <a:rPr sz="1100" b="1">
                <a:solidFill>
                  <a:srgbClr val="0B6E99"/>
                </a:solidFill>
                <a:latin typeface="Calibri"/>
              </a:rPr>
              <a:t>GOALS</a:t>
            </a:r>
          </a:p>
        </p:txBody>
      </p:sp>
      <p:sp>
        <p:nvSpPr>
          <p:cNvPr id="3" name="TextBox 2"/>
          <p:cNvSpPr txBox="1"/>
          <p:nvPr/>
        </p:nvSpPr>
        <p:spPr>
          <a:xfrm>
            <a:off x="548640" y="548640"/>
            <a:ext cx="11064240" cy="685800"/>
          </a:xfrm>
          <a:prstGeom prst="rect">
            <a:avLst/>
          </a:prstGeom>
          <a:noFill/>
        </p:spPr>
        <p:txBody>
          <a:bodyPr wrap="square" anchor="ctr" lIns="36576" rIns="36576" tIns="18288" bIns="18288">
            <a:spAutoFit/>
          </a:bodyPr>
          <a:lstStyle/>
          <a:p>
            <a:pPr algn="l">
              <a:spcAft>
                <a:spcPts val="800"/>
              </a:spcAft>
            </a:pPr>
            <a:r>
              <a:rPr sz="3000" b="1">
                <a:solidFill>
                  <a:srgbClr val="0B2F4A"/>
                </a:solidFill>
                <a:latin typeface="Calibri"/>
              </a:rPr>
              <a:t>Project objectives</a:t>
            </a:r>
          </a:p>
        </p:txBody>
      </p:sp>
      <p:sp>
        <p:nvSpPr>
          <p:cNvPr id="4" name="TextBox 3"/>
          <p:cNvSpPr txBox="1"/>
          <p:nvPr/>
        </p:nvSpPr>
        <p:spPr>
          <a:xfrm>
            <a:off x="548640" y="6473952"/>
            <a:ext cx="9601200" cy="274320"/>
          </a:xfrm>
          <a:prstGeom prst="rect">
            <a:avLst/>
          </a:prstGeom>
          <a:noFill/>
        </p:spPr>
        <p:txBody>
          <a:bodyPr wrap="square" anchor="t" lIns="36576" rIns="36576" tIns="18288" bIns="18288">
            <a:spAutoFit/>
          </a:bodyPr>
          <a:lstStyle/>
          <a:p>
            <a:pPr algn="l">
              <a:spcAft>
                <a:spcPts val="800"/>
              </a:spcAft>
            </a:pPr>
            <a:r>
              <a:rPr sz="900" b="0">
                <a:solidFill>
                  <a:srgbClr val="4C5A67"/>
                </a:solidFill>
                <a:latin typeface="Calibri"/>
              </a:rPr>
              <a:t>AquaGuard AI  |  IBM academic project  |  UN SDG 6  |  Educational screening tool - not a safety certification. Not endorsed by IBM, the UN or any agency.</a:t>
            </a:r>
          </a:p>
        </p:txBody>
      </p:sp>
      <p:sp>
        <p:nvSpPr>
          <p:cNvPr id="5" name="TextBox 4"/>
          <p:cNvSpPr txBox="1"/>
          <p:nvPr/>
        </p:nvSpPr>
        <p:spPr>
          <a:xfrm>
            <a:off x="11155680" y="6473952"/>
            <a:ext cx="548640" cy="274320"/>
          </a:xfrm>
          <a:prstGeom prst="rect">
            <a:avLst/>
          </a:prstGeom>
          <a:noFill/>
        </p:spPr>
        <p:txBody>
          <a:bodyPr wrap="square" anchor="t" lIns="36576" rIns="36576" tIns="18288" bIns="18288">
            <a:spAutoFit/>
          </a:bodyPr>
          <a:lstStyle/>
          <a:p>
            <a:pPr algn="r">
              <a:spcAft>
                <a:spcPts val="800"/>
              </a:spcAft>
            </a:pPr>
            <a:r>
              <a:rPr sz="1000" b="0">
                <a:solidFill>
                  <a:srgbClr val="4C5A67"/>
                </a:solidFill>
                <a:latin typeface="Calibri"/>
              </a:rPr>
              <a:t>9</a:t>
            </a:r>
          </a:p>
        </p:txBody>
      </p:sp>
      <p:graphicFrame>
        <p:nvGraphicFramePr>
          <p:cNvPr id="6" name="Table 5"/>
          <p:cNvGraphicFramePr>
            <a:graphicFrameLocks noGrp="1"/>
          </p:cNvGraphicFramePr>
          <p:nvPr/>
        </p:nvGraphicFramePr>
        <p:xfrm>
          <a:off x="548640" y="1463040"/>
          <a:ext cx="11064240" cy="4352544"/>
        </p:xfrm>
        <a:graphic>
          <a:graphicData uri="http://schemas.openxmlformats.org/drawingml/2006/table">
            <a:tbl>
              <a:tblPr firstRow="1" bandRow="1">
                <a:tableStyleId>{5C22544A-7EE6-4342-B048-85BDC9FD1C3A}</a:tableStyleId>
              </a:tblPr>
              <a:tblGrid>
                <a:gridCol w="4572000"/>
                <a:gridCol w="4023360"/>
                <a:gridCol w="2468880"/>
              </a:tblGrid>
              <a:tr h="621792">
                <a:tc>
                  <a:txBody>
                    <a:bodyPr/>
                    <a:lstStyle/>
                    <a:p>
                      <a:r>
                        <a:rPr sz="1800" b="1">
                          <a:solidFill>
                            <a:srgbClr val="FFFFFF"/>
                          </a:solidFill>
                          <a:latin typeface="Calibri"/>
                        </a:rPr>
                        <a:t>Objective</a:t>
                      </a:r>
                    </a:p>
                  </a:txBody>
                  <a:tcPr marL="54864" marR="54864" marT="22860" marB="22860">
                    <a:solidFill>
                      <a:srgbClr val="0B6E99"/>
                    </a:solidFill>
                  </a:tcPr>
                </a:tc>
                <a:tc>
                  <a:txBody>
                    <a:bodyPr/>
                    <a:lstStyle/>
                    <a:p>
                      <a:r>
                        <a:rPr sz="1800" b="1">
                          <a:solidFill>
                            <a:srgbClr val="FFFFFF"/>
                          </a:solidFill>
                          <a:latin typeface="Calibri"/>
                        </a:rPr>
                        <a:t>Measure</a:t>
                      </a:r>
                    </a:p>
                  </a:txBody>
                  <a:tcPr marL="54864" marR="54864" marT="22860" marB="22860">
                    <a:solidFill>
                      <a:srgbClr val="0B6E99"/>
                    </a:solidFill>
                  </a:tcPr>
                </a:tc>
                <a:tc>
                  <a:txBody>
                    <a:bodyPr/>
                    <a:lstStyle/>
                    <a:p>
                      <a:r>
                        <a:rPr sz="1800" b="1">
                          <a:solidFill>
                            <a:srgbClr val="FFFFFF"/>
                          </a:solidFill>
                          <a:latin typeface="Calibri"/>
                        </a:rPr>
                        <a:t>Status</a:t>
                      </a:r>
                    </a:p>
                  </a:txBody>
                  <a:tcPr marL="54864" marR="54864" marT="22860" marB="22860">
                    <a:solidFill>
                      <a:srgbClr val="0B6E99"/>
                    </a:solidFill>
                  </a:tcPr>
                </a:tc>
              </a:tr>
              <a:tr h="621792">
                <a:tc>
                  <a:txBody>
                    <a:bodyPr/>
                    <a:lstStyle/>
                    <a:p>
                      <a:r>
                        <a:rPr sz="1800" b="0">
                          <a:solidFill>
                            <a:srgbClr val="0D2B3E"/>
                          </a:solidFill>
                          <a:latin typeface="Calibri"/>
                        </a:rPr>
                        <a:t>Opens by double-click, no installs</a:t>
                      </a:r>
                    </a:p>
                  </a:txBody>
                  <a:tcPr marL="54864" marR="54864" marT="22860" marB="22860">
                    <a:solidFill>
                      <a:srgbClr val="F4F9FB"/>
                    </a:solidFill>
                  </a:tcPr>
                </a:tc>
                <a:tc>
                  <a:txBody>
                    <a:bodyPr/>
                    <a:lstStyle/>
                    <a:p>
                      <a:r>
                        <a:rPr sz="1800" b="0">
                          <a:solidFill>
                            <a:srgbClr val="0D2B3E"/>
                          </a:solidFill>
                          <a:latin typeface="Calibri"/>
                        </a:rPr>
                        <a:t>Browser test via file://</a:t>
                      </a:r>
                    </a:p>
                  </a:txBody>
                  <a:tcPr marL="54864" marR="54864" marT="22860" marB="22860">
                    <a:solidFill>
                      <a:srgbClr val="F4F9FB"/>
                    </a:solidFill>
                  </a:tcPr>
                </a:tc>
                <a:tc>
                  <a:txBody>
                    <a:bodyPr/>
                    <a:lstStyle/>
                    <a:p>
                      <a:r>
                        <a:rPr sz="1800" b="0">
                          <a:solidFill>
                            <a:srgbClr val="0D2B3E"/>
                          </a:solidFill>
                          <a:latin typeface="Calibri"/>
                        </a:rPr>
                        <a:t>Verified (Chromium)</a:t>
                      </a:r>
                    </a:p>
                  </a:txBody>
                  <a:tcPr marL="54864" marR="54864" marT="22860" marB="22860">
                    <a:solidFill>
                      <a:srgbClr val="F4F9FB"/>
                    </a:solidFill>
                  </a:tcPr>
                </a:tc>
              </a:tr>
              <a:tr h="621792">
                <a:tc>
                  <a:txBody>
                    <a:bodyPr/>
                    <a:lstStyle/>
                    <a:p>
                      <a:r>
                        <a:rPr sz="1800" b="0">
                          <a:solidFill>
                            <a:srgbClr val="0D2B3E"/>
                          </a:solidFill>
                          <a:latin typeface="Calibri"/>
                        </a:rPr>
                        <a:t>Correct validation with clear errors</a:t>
                      </a:r>
                    </a:p>
                  </a:txBody>
                  <a:tcPr marL="54864" marR="54864" marT="22860" marB="22860">
                    <a:solidFill>
                      <a:srgbClr val="FFFFFF"/>
                    </a:solidFill>
                  </a:tcPr>
                </a:tc>
                <a:tc>
                  <a:txBody>
                    <a:bodyPr/>
                    <a:lstStyle/>
                    <a:p>
                      <a:r>
                        <a:rPr sz="1800" b="0">
                          <a:solidFill>
                            <a:srgbClr val="0D2B3E"/>
                          </a:solidFill>
                          <a:latin typeface="Calibri"/>
                        </a:rPr>
                        <a:t>Unit + browser tests</a:t>
                      </a:r>
                    </a:p>
                  </a:txBody>
                  <a:tcPr marL="54864" marR="54864" marT="22860" marB="22860">
                    <a:solidFill>
                      <a:srgbClr val="FFFFFF"/>
                    </a:solidFill>
                  </a:tcPr>
                </a:tc>
                <a:tc>
                  <a:txBody>
                    <a:bodyPr/>
                    <a:lstStyle/>
                    <a:p>
                      <a:r>
                        <a:rPr sz="1800" b="0">
                          <a:solidFill>
                            <a:srgbClr val="0D2B3E"/>
                          </a:solidFill>
                          <a:latin typeface="Calibri"/>
                        </a:rPr>
                        <a:t>Verified</a:t>
                      </a:r>
                    </a:p>
                  </a:txBody>
                  <a:tcPr marL="54864" marR="54864" marT="22860" marB="22860">
                    <a:solidFill>
                      <a:srgbClr val="FFFFFF"/>
                    </a:solidFill>
                  </a:tcPr>
                </a:tc>
              </a:tr>
              <a:tr h="621792">
                <a:tc>
                  <a:txBody>
                    <a:bodyPr/>
                    <a:lstStyle/>
                    <a:p>
                      <a:r>
                        <a:rPr sz="1800" b="0">
                          <a:solidFill>
                            <a:srgbClr val="0D2B3E"/>
                          </a:solidFill>
                          <a:latin typeface="Calibri"/>
                        </a:rPr>
                        <a:t>Transparent screening, never safe/unsafe</a:t>
                      </a:r>
                    </a:p>
                  </a:txBody>
                  <a:tcPr marL="54864" marR="54864" marT="22860" marB="22860">
                    <a:solidFill>
                      <a:srgbClr val="F4F9FB"/>
                    </a:solidFill>
                  </a:tcPr>
                </a:tc>
                <a:tc>
                  <a:txBody>
                    <a:bodyPr/>
                    <a:lstStyle/>
                    <a:p>
                      <a:r>
                        <a:rPr sz="1800" b="0">
                          <a:solidFill>
                            <a:srgbClr val="0D2B3E"/>
                          </a:solidFill>
                          <a:latin typeface="Calibri"/>
                        </a:rPr>
                        <a:t>Wording tests; no safe badge</a:t>
                      </a:r>
                    </a:p>
                  </a:txBody>
                  <a:tcPr marL="54864" marR="54864" marT="22860" marB="22860">
                    <a:solidFill>
                      <a:srgbClr val="F4F9FB"/>
                    </a:solidFill>
                  </a:tcPr>
                </a:tc>
                <a:tc>
                  <a:txBody>
                    <a:bodyPr/>
                    <a:lstStyle/>
                    <a:p>
                      <a:r>
                        <a:rPr sz="1800" b="0">
                          <a:solidFill>
                            <a:srgbClr val="0D2B3E"/>
                          </a:solidFill>
                          <a:latin typeface="Calibri"/>
                        </a:rPr>
                        <a:t>Verified</a:t>
                      </a:r>
                    </a:p>
                  </a:txBody>
                  <a:tcPr marL="54864" marR="54864" marT="22860" marB="22860">
                    <a:solidFill>
                      <a:srgbClr val="F4F9FB"/>
                    </a:solidFill>
                  </a:tcPr>
                </a:tc>
              </a:tr>
              <a:tr h="621792">
                <a:tc>
                  <a:txBody>
                    <a:bodyPr/>
                    <a:lstStyle/>
                    <a:p>
                      <a:r>
                        <a:rPr sz="1800" b="0">
                          <a:solidFill>
                            <a:srgbClr val="0D2B3E"/>
                          </a:solidFill>
                          <a:latin typeface="Calibri"/>
                        </a:rPr>
                        <a:t>Dashboard figures from actual records</a:t>
                      </a:r>
                    </a:p>
                  </a:txBody>
                  <a:tcPr marL="54864" marR="54864" marT="22860" marB="22860">
                    <a:solidFill>
                      <a:srgbClr val="FFFFFF"/>
                    </a:solidFill>
                  </a:tcPr>
                </a:tc>
                <a:tc>
                  <a:txBody>
                    <a:bodyPr/>
                    <a:lstStyle/>
                    <a:p>
                      <a:r>
                        <a:rPr sz="1800" b="0">
                          <a:solidFill>
                            <a:srgbClr val="0D2B3E"/>
                          </a:solidFill>
                          <a:latin typeface="Calibri"/>
                        </a:rPr>
                        <a:t>KPIs cross-checked independently</a:t>
                      </a:r>
                    </a:p>
                  </a:txBody>
                  <a:tcPr marL="54864" marR="54864" marT="22860" marB="22860">
                    <a:solidFill>
                      <a:srgbClr val="FFFFFF"/>
                    </a:solidFill>
                  </a:tcPr>
                </a:tc>
                <a:tc>
                  <a:txBody>
                    <a:bodyPr/>
                    <a:lstStyle/>
                    <a:p>
                      <a:r>
                        <a:rPr sz="1800" b="0">
                          <a:solidFill>
                            <a:srgbClr val="0D2B3E"/>
                          </a:solidFill>
                          <a:latin typeface="Calibri"/>
                        </a:rPr>
                        <a:t>Verified</a:t>
                      </a:r>
                    </a:p>
                  </a:txBody>
                  <a:tcPr marL="54864" marR="54864" marT="22860" marB="22860">
                    <a:solidFill>
                      <a:srgbClr val="FFFFFF"/>
                    </a:solidFill>
                  </a:tcPr>
                </a:tc>
              </a:tr>
              <a:tr h="621792">
                <a:tc>
                  <a:txBody>
                    <a:bodyPr/>
                    <a:lstStyle/>
                    <a:p>
                      <a:r>
                        <a:rPr sz="1800" b="0">
                          <a:solidFill>
                            <a:srgbClr val="0D2B3E"/>
                          </a:solidFill>
                          <a:latin typeface="Calibri"/>
                        </a:rPr>
                        <a:t>Works offline</a:t>
                      </a:r>
                    </a:p>
                  </a:txBody>
                  <a:tcPr marL="54864" marR="54864" marT="22860" marB="22860">
                    <a:solidFill>
                      <a:srgbClr val="F4F9FB"/>
                    </a:solidFill>
                  </a:tcPr>
                </a:tc>
                <a:tc>
                  <a:txBody>
                    <a:bodyPr/>
                    <a:lstStyle/>
                    <a:p>
                      <a:r>
                        <a:rPr sz="1800" b="0">
                          <a:solidFill>
                            <a:srgbClr val="0D2B3E"/>
                          </a:solidFill>
                          <a:latin typeface="Calibri"/>
                        </a:rPr>
                        <a:t>Zero network requests recorded</a:t>
                      </a:r>
                    </a:p>
                  </a:txBody>
                  <a:tcPr marL="54864" marR="54864" marT="22860" marB="22860">
                    <a:solidFill>
                      <a:srgbClr val="F4F9FB"/>
                    </a:solidFill>
                  </a:tcPr>
                </a:tc>
                <a:tc>
                  <a:txBody>
                    <a:bodyPr/>
                    <a:lstStyle/>
                    <a:p>
                      <a:r>
                        <a:rPr sz="1800" b="0">
                          <a:solidFill>
                            <a:srgbClr val="0D2B3E"/>
                          </a:solidFill>
                          <a:latin typeface="Calibri"/>
                        </a:rPr>
                        <a:t>Verified</a:t>
                      </a:r>
                    </a:p>
                  </a:txBody>
                  <a:tcPr marL="54864" marR="54864" marT="22860" marB="22860">
                    <a:solidFill>
                      <a:srgbClr val="F4F9FB"/>
                    </a:solidFill>
                  </a:tcPr>
                </a:tc>
              </a:tr>
              <a:tr h="621792">
                <a:tc>
                  <a:txBody>
                    <a:bodyPr/>
                    <a:lstStyle/>
                    <a:p>
                      <a:r>
                        <a:rPr sz="1800" b="0">
                          <a:solidFill>
                            <a:srgbClr val="0D2B3E"/>
                          </a:solidFill>
                          <a:latin typeface="Calibri"/>
                        </a:rPr>
                        <a:t>Real-world value for users</a:t>
                      </a:r>
                    </a:p>
                  </a:txBody>
                  <a:tcPr marL="54864" marR="54864" marT="22860" marB="22860">
                    <a:solidFill>
                      <a:srgbClr val="FFFFFF"/>
                    </a:solidFill>
                  </a:tcPr>
                </a:tc>
                <a:tc>
                  <a:txBody>
                    <a:bodyPr/>
                    <a:lstStyle/>
                    <a:p>
                      <a:r>
                        <a:rPr sz="1800" b="0">
                          <a:solidFill>
                            <a:srgbClr val="0D2B3E"/>
                          </a:solidFill>
                          <a:latin typeface="Calibri"/>
                        </a:rPr>
                        <a:t>Needs a user pilot</a:t>
                      </a:r>
                    </a:p>
                  </a:txBody>
                  <a:tcPr marL="54864" marR="54864" marT="22860" marB="22860">
                    <a:solidFill>
                      <a:srgbClr val="FFFFFF"/>
                    </a:solidFill>
                  </a:tcPr>
                </a:tc>
                <a:tc>
                  <a:txBody>
                    <a:bodyPr/>
                    <a:lstStyle/>
                    <a:p>
                      <a:r>
                        <a:rPr sz="1800" b="0">
                          <a:solidFill>
                            <a:srgbClr val="0D2B3E"/>
                          </a:solidFill>
                          <a:latin typeface="Calibri"/>
                        </a:rPr>
                        <a:t>NOT measured</a:t>
                      </a:r>
                    </a:p>
                  </a:txBody>
                  <a:tcPr marL="54864" marR="54864" marT="22860" marB="22860">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7315200" cy="274320"/>
          </a:xfrm>
          <a:prstGeom prst="rect">
            <a:avLst/>
          </a:prstGeom>
          <a:noFill/>
        </p:spPr>
        <p:txBody>
          <a:bodyPr wrap="square" anchor="t" lIns="36576" rIns="36576" tIns="18288" bIns="18288">
            <a:spAutoFit/>
          </a:bodyPr>
          <a:lstStyle/>
          <a:p>
            <a:pPr algn="l">
              <a:spcAft>
                <a:spcPts val="800"/>
              </a:spcAft>
            </a:pPr>
            <a:r>
              <a:rPr sz="1100" b="1">
                <a:solidFill>
                  <a:srgbClr val="0B6E99"/>
                </a:solidFill>
                <a:latin typeface="Calibri"/>
              </a:rPr>
              <a:t>DESIGN</a:t>
            </a:r>
          </a:p>
        </p:txBody>
      </p:sp>
      <p:sp>
        <p:nvSpPr>
          <p:cNvPr id="3" name="TextBox 2"/>
          <p:cNvSpPr txBox="1"/>
          <p:nvPr/>
        </p:nvSpPr>
        <p:spPr>
          <a:xfrm>
            <a:off x="548640" y="548640"/>
            <a:ext cx="11064240" cy="685800"/>
          </a:xfrm>
          <a:prstGeom prst="rect">
            <a:avLst/>
          </a:prstGeom>
          <a:noFill/>
        </p:spPr>
        <p:txBody>
          <a:bodyPr wrap="square" anchor="ctr" lIns="36576" rIns="36576" tIns="18288" bIns="18288">
            <a:spAutoFit/>
          </a:bodyPr>
          <a:lstStyle/>
          <a:p>
            <a:pPr algn="l">
              <a:spcAft>
                <a:spcPts val="800"/>
              </a:spcAft>
            </a:pPr>
            <a:r>
              <a:rPr sz="3000" b="1">
                <a:solidFill>
                  <a:srgbClr val="0B2F4A"/>
                </a:solidFill>
                <a:latin typeface="Calibri"/>
              </a:rPr>
              <a:t>System architecture</a:t>
            </a:r>
          </a:p>
        </p:txBody>
      </p:sp>
      <p:sp>
        <p:nvSpPr>
          <p:cNvPr id="4" name="TextBox 3"/>
          <p:cNvSpPr txBox="1"/>
          <p:nvPr/>
        </p:nvSpPr>
        <p:spPr>
          <a:xfrm>
            <a:off x="548640" y="6473952"/>
            <a:ext cx="9601200" cy="274320"/>
          </a:xfrm>
          <a:prstGeom prst="rect">
            <a:avLst/>
          </a:prstGeom>
          <a:noFill/>
        </p:spPr>
        <p:txBody>
          <a:bodyPr wrap="square" anchor="t" lIns="36576" rIns="36576" tIns="18288" bIns="18288">
            <a:spAutoFit/>
          </a:bodyPr>
          <a:lstStyle/>
          <a:p>
            <a:pPr algn="l">
              <a:spcAft>
                <a:spcPts val="800"/>
              </a:spcAft>
            </a:pPr>
            <a:r>
              <a:rPr sz="900" b="0">
                <a:solidFill>
                  <a:srgbClr val="4C5A67"/>
                </a:solidFill>
                <a:latin typeface="Calibri"/>
              </a:rPr>
              <a:t>AquaGuard AI  |  IBM academic project  |  UN SDG 6  |  Educational screening tool - not a safety certification. Not endorsed by IBM, the UN or any agency.</a:t>
            </a:r>
          </a:p>
        </p:txBody>
      </p:sp>
      <p:sp>
        <p:nvSpPr>
          <p:cNvPr id="5" name="TextBox 4"/>
          <p:cNvSpPr txBox="1"/>
          <p:nvPr/>
        </p:nvSpPr>
        <p:spPr>
          <a:xfrm>
            <a:off x="11155680" y="6473952"/>
            <a:ext cx="548640" cy="274320"/>
          </a:xfrm>
          <a:prstGeom prst="rect">
            <a:avLst/>
          </a:prstGeom>
          <a:noFill/>
        </p:spPr>
        <p:txBody>
          <a:bodyPr wrap="square" anchor="t" lIns="36576" rIns="36576" tIns="18288" bIns="18288">
            <a:spAutoFit/>
          </a:bodyPr>
          <a:lstStyle/>
          <a:p>
            <a:pPr algn="r">
              <a:spcAft>
                <a:spcPts val="800"/>
              </a:spcAft>
            </a:pPr>
            <a:r>
              <a:rPr sz="1000" b="0">
                <a:solidFill>
                  <a:srgbClr val="4C5A67"/>
                </a:solidFill>
                <a:latin typeface="Calibri"/>
              </a:rPr>
              <a:t>10</a:t>
            </a:r>
          </a:p>
        </p:txBody>
      </p:sp>
      <p:pic>
        <p:nvPicPr>
          <p:cNvPr id="6" name="Picture 5" descr="architecture.png"/>
          <p:cNvPicPr>
            <a:picLocks noChangeAspect="1"/>
          </p:cNvPicPr>
          <p:nvPr/>
        </p:nvPicPr>
        <p:blipFill>
          <a:blip r:embed="rId3"/>
          <a:stretch>
            <a:fillRect/>
          </a:stretch>
        </p:blipFill>
        <p:spPr>
          <a:xfrm>
            <a:off x="1216040" y="1325880"/>
            <a:ext cx="9729439" cy="5029200"/>
          </a:xfrm>
          <a:prstGeom prst="rect">
            <a:avLst/>
          </a:prstGeom>
          <a:ln w="12700">
            <a:solidFill>
              <a:srgbClr val="B8CEDB"/>
            </a:solidFill>
          </a:ln>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7315200" cy="274320"/>
          </a:xfrm>
          <a:prstGeom prst="rect">
            <a:avLst/>
          </a:prstGeom>
          <a:noFill/>
        </p:spPr>
        <p:txBody>
          <a:bodyPr wrap="square" anchor="t" lIns="36576" rIns="36576" tIns="18288" bIns="18288">
            <a:spAutoFit/>
          </a:bodyPr>
          <a:lstStyle/>
          <a:p>
            <a:pPr algn="l">
              <a:spcAft>
                <a:spcPts val="800"/>
              </a:spcAft>
            </a:pPr>
            <a:r>
              <a:rPr sz="1100" b="1">
                <a:solidFill>
                  <a:srgbClr val="0B6E99"/>
                </a:solidFill>
                <a:latin typeface="Calibri"/>
              </a:rPr>
              <a:t>DESIGN</a:t>
            </a:r>
          </a:p>
        </p:txBody>
      </p:sp>
      <p:sp>
        <p:nvSpPr>
          <p:cNvPr id="3" name="TextBox 2"/>
          <p:cNvSpPr txBox="1"/>
          <p:nvPr/>
        </p:nvSpPr>
        <p:spPr>
          <a:xfrm>
            <a:off x="548640" y="548640"/>
            <a:ext cx="11064240" cy="685800"/>
          </a:xfrm>
          <a:prstGeom prst="rect">
            <a:avLst/>
          </a:prstGeom>
          <a:noFill/>
        </p:spPr>
        <p:txBody>
          <a:bodyPr wrap="square" anchor="ctr" lIns="36576" rIns="36576" tIns="18288" bIns="18288">
            <a:spAutoFit/>
          </a:bodyPr>
          <a:lstStyle/>
          <a:p>
            <a:pPr algn="l">
              <a:spcAft>
                <a:spcPts val="800"/>
              </a:spcAft>
            </a:pPr>
            <a:r>
              <a:rPr sz="3000" b="1">
                <a:solidFill>
                  <a:srgbClr val="0B2F4A"/>
                </a:solidFill>
                <a:latin typeface="Calibri"/>
              </a:rPr>
              <a:t>Technology stack and rationale</a:t>
            </a:r>
          </a:p>
        </p:txBody>
      </p:sp>
      <p:sp>
        <p:nvSpPr>
          <p:cNvPr id="4" name="TextBox 3"/>
          <p:cNvSpPr txBox="1"/>
          <p:nvPr/>
        </p:nvSpPr>
        <p:spPr>
          <a:xfrm>
            <a:off x="548640" y="6473952"/>
            <a:ext cx="9601200" cy="274320"/>
          </a:xfrm>
          <a:prstGeom prst="rect">
            <a:avLst/>
          </a:prstGeom>
          <a:noFill/>
        </p:spPr>
        <p:txBody>
          <a:bodyPr wrap="square" anchor="t" lIns="36576" rIns="36576" tIns="18288" bIns="18288">
            <a:spAutoFit/>
          </a:bodyPr>
          <a:lstStyle/>
          <a:p>
            <a:pPr algn="l">
              <a:spcAft>
                <a:spcPts val="800"/>
              </a:spcAft>
            </a:pPr>
            <a:r>
              <a:rPr sz="900" b="0">
                <a:solidFill>
                  <a:srgbClr val="4C5A67"/>
                </a:solidFill>
                <a:latin typeface="Calibri"/>
              </a:rPr>
              <a:t>AquaGuard AI  |  IBM academic project  |  UN SDG 6  |  Educational screening tool - not a safety certification. Not endorsed by IBM, the UN or any agency.</a:t>
            </a:r>
          </a:p>
        </p:txBody>
      </p:sp>
      <p:sp>
        <p:nvSpPr>
          <p:cNvPr id="5" name="TextBox 4"/>
          <p:cNvSpPr txBox="1"/>
          <p:nvPr/>
        </p:nvSpPr>
        <p:spPr>
          <a:xfrm>
            <a:off x="11155680" y="6473952"/>
            <a:ext cx="548640" cy="274320"/>
          </a:xfrm>
          <a:prstGeom prst="rect">
            <a:avLst/>
          </a:prstGeom>
          <a:noFill/>
        </p:spPr>
        <p:txBody>
          <a:bodyPr wrap="square" anchor="t" lIns="36576" rIns="36576" tIns="18288" bIns="18288">
            <a:spAutoFit/>
          </a:bodyPr>
          <a:lstStyle/>
          <a:p>
            <a:pPr algn="r">
              <a:spcAft>
                <a:spcPts val="800"/>
              </a:spcAft>
            </a:pPr>
            <a:r>
              <a:rPr sz="1000" b="0">
                <a:solidFill>
                  <a:srgbClr val="4C5A67"/>
                </a:solidFill>
                <a:latin typeface="Calibri"/>
              </a:rPr>
              <a:t>11</a:t>
            </a:r>
          </a:p>
        </p:txBody>
      </p:sp>
      <p:graphicFrame>
        <p:nvGraphicFramePr>
          <p:cNvPr id="6" name="Table 5"/>
          <p:cNvGraphicFramePr>
            <a:graphicFrameLocks noGrp="1"/>
          </p:cNvGraphicFramePr>
          <p:nvPr/>
        </p:nvGraphicFramePr>
        <p:xfrm>
          <a:off x="548640" y="1463040"/>
          <a:ext cx="11064240" cy="4608576"/>
        </p:xfrm>
        <a:graphic>
          <a:graphicData uri="http://schemas.openxmlformats.org/drawingml/2006/table">
            <a:tbl>
              <a:tblPr firstRow="1" bandRow="1">
                <a:tableStyleId>{5C22544A-7EE6-4342-B048-85BDC9FD1C3A}</a:tableStyleId>
              </a:tblPr>
              <a:tblGrid>
                <a:gridCol w="4206240"/>
                <a:gridCol w="6858000"/>
              </a:tblGrid>
              <a:tr h="658368">
                <a:tc>
                  <a:txBody>
                    <a:bodyPr/>
                    <a:lstStyle/>
                    <a:p>
                      <a:r>
                        <a:rPr sz="1700" b="1">
                          <a:solidFill>
                            <a:srgbClr val="FFFFFF"/>
                          </a:solidFill>
                          <a:latin typeface="Calibri"/>
                        </a:rPr>
                        <a:t>Choice</a:t>
                      </a:r>
                    </a:p>
                  </a:txBody>
                  <a:tcPr marL="54864" marR="54864" marT="22860" marB="22860">
                    <a:solidFill>
                      <a:srgbClr val="0B6E99"/>
                    </a:solidFill>
                  </a:tcPr>
                </a:tc>
                <a:tc>
                  <a:txBody>
                    <a:bodyPr/>
                    <a:lstStyle/>
                    <a:p>
                      <a:r>
                        <a:rPr sz="1700" b="1">
                          <a:solidFill>
                            <a:srgbClr val="FFFFFF"/>
                          </a:solidFill>
                          <a:latin typeface="Calibri"/>
                        </a:rPr>
                        <a:t>Why</a:t>
                      </a:r>
                    </a:p>
                  </a:txBody>
                  <a:tcPr marL="54864" marR="54864" marT="22860" marB="22860">
                    <a:solidFill>
                      <a:srgbClr val="0B6E99"/>
                    </a:solidFill>
                  </a:tcPr>
                </a:tc>
              </a:tr>
              <a:tr h="658368">
                <a:tc>
                  <a:txBody>
                    <a:bodyPr/>
                    <a:lstStyle/>
                    <a:p>
                      <a:r>
                        <a:rPr sz="1700" b="0">
                          <a:solidFill>
                            <a:srgbClr val="0D2B3E"/>
                          </a:solidFill>
                          <a:latin typeface="Calibri"/>
                        </a:rPr>
                        <a:t>HTML5 + CSS3 + vanilla JavaScript</a:t>
                      </a:r>
                    </a:p>
                  </a:txBody>
                  <a:tcPr marL="54864" marR="54864" marT="22860" marB="22860">
                    <a:solidFill>
                      <a:srgbClr val="F4F9FB"/>
                    </a:solidFill>
                  </a:tcPr>
                </a:tc>
                <a:tc>
                  <a:txBody>
                    <a:bodyPr/>
                    <a:lstStyle/>
                    <a:p>
                      <a:r>
                        <a:rPr sz="1700" b="0">
                          <a:solidFill>
                            <a:srgbClr val="0D2B3E"/>
                          </a:solidFill>
                          <a:latin typeface="Calibri"/>
                        </a:rPr>
                        <a:t>Runs by double-click; no build step, no frameworks</a:t>
                      </a:r>
                    </a:p>
                  </a:txBody>
                  <a:tcPr marL="54864" marR="54864" marT="22860" marB="22860">
                    <a:solidFill>
                      <a:srgbClr val="F4F9FB"/>
                    </a:solidFill>
                  </a:tcPr>
                </a:tc>
              </a:tr>
              <a:tr h="658368">
                <a:tc>
                  <a:txBody>
                    <a:bodyPr/>
                    <a:lstStyle/>
                    <a:p>
                      <a:r>
                        <a:rPr sz="1700" b="0">
                          <a:solidFill>
                            <a:srgbClr val="0D2B3E"/>
                          </a:solidFill>
                          <a:latin typeface="Calibri"/>
                        </a:rPr>
                        <a:t>Plain &lt;script&gt; files (no ES modules)</a:t>
                      </a:r>
                    </a:p>
                  </a:txBody>
                  <a:tcPr marL="54864" marR="54864" marT="22860" marB="22860">
                    <a:solidFill>
                      <a:srgbClr val="FFFFFF"/>
                    </a:solidFill>
                  </a:tcPr>
                </a:tc>
                <a:tc>
                  <a:txBody>
                    <a:bodyPr/>
                    <a:lstStyle/>
                    <a:p>
                      <a:r>
                        <a:rPr sz="1700" b="0">
                          <a:solidFill>
                            <a:srgbClr val="0D2B3E"/>
                          </a:solidFill>
                          <a:latin typeface="Calibri"/>
                        </a:rPr>
                        <a:t>Modules are blocked on file:// in some browsers</a:t>
                      </a:r>
                    </a:p>
                  </a:txBody>
                  <a:tcPr marL="54864" marR="54864" marT="22860" marB="22860">
                    <a:solidFill>
                      <a:srgbClr val="FFFFFF"/>
                    </a:solidFill>
                  </a:tcPr>
                </a:tc>
              </a:tr>
              <a:tr h="658368">
                <a:tc>
                  <a:txBody>
                    <a:bodyPr/>
                    <a:lstStyle/>
                    <a:p>
                      <a:r>
                        <a:rPr sz="1700" b="0">
                          <a:solidFill>
                            <a:srgbClr val="0D2B3E"/>
                          </a:solidFill>
                          <a:latin typeface="Calibri"/>
                        </a:rPr>
                        <a:t>Custom SVG charts (js/charts.js)</a:t>
                      </a:r>
                    </a:p>
                  </a:txBody>
                  <a:tcPr marL="54864" marR="54864" marT="22860" marB="22860">
                    <a:solidFill>
                      <a:srgbClr val="F4F9FB"/>
                    </a:solidFill>
                  </a:tcPr>
                </a:tc>
                <a:tc>
                  <a:txBody>
                    <a:bodyPr/>
                    <a:lstStyle/>
                    <a:p>
                      <a:r>
                        <a:rPr sz="1700" b="0">
                          <a:solidFill>
                            <a:srgbClr val="0D2B3E"/>
                          </a:solidFill>
                          <a:latin typeface="Calibri"/>
                        </a:rPr>
                        <a:t>Offline; also used inside exported reports; accessible titles</a:t>
                      </a:r>
                    </a:p>
                  </a:txBody>
                  <a:tcPr marL="54864" marR="54864" marT="22860" marB="22860">
                    <a:solidFill>
                      <a:srgbClr val="F4F9FB"/>
                    </a:solidFill>
                  </a:tcPr>
                </a:tc>
              </a:tr>
              <a:tr h="658368">
                <a:tc>
                  <a:txBody>
                    <a:bodyPr/>
                    <a:lstStyle/>
                    <a:p>
                      <a:r>
                        <a:rPr sz="1700" b="0">
                          <a:solidFill>
                            <a:srgbClr val="0D2B3E"/>
                          </a:solidFill>
                          <a:latin typeface="Calibri"/>
                        </a:rPr>
                        <a:t>localStorage</a:t>
                      </a:r>
                    </a:p>
                  </a:txBody>
                  <a:tcPr marL="54864" marR="54864" marT="22860" marB="22860">
                    <a:solidFill>
                      <a:srgbClr val="FFFFFF"/>
                    </a:solidFill>
                  </a:tcPr>
                </a:tc>
                <a:tc>
                  <a:txBody>
                    <a:bodyPr/>
                    <a:lstStyle/>
                    <a:p>
                      <a:r>
                        <a:rPr sz="1700" b="0">
                          <a:solidFill>
                            <a:srgbClr val="0D2B3E"/>
                          </a:solidFill>
                          <a:latin typeface="Calibri"/>
                        </a:rPr>
                        <a:t>Persistence without a server; per-browser and private</a:t>
                      </a:r>
                    </a:p>
                  </a:txBody>
                  <a:tcPr marL="54864" marR="54864" marT="22860" marB="22860">
                    <a:solidFill>
                      <a:srgbClr val="FFFFFF"/>
                    </a:solidFill>
                  </a:tcPr>
                </a:tc>
              </a:tr>
              <a:tr h="658368">
                <a:tc>
                  <a:txBody>
                    <a:bodyPr/>
                    <a:lstStyle/>
                    <a:p>
                      <a:r>
                        <a:rPr sz="1700" b="0">
                          <a:solidFill>
                            <a:srgbClr val="0D2B3E"/>
                          </a:solidFill>
                          <a:latin typeface="Calibri"/>
                        </a:rPr>
                        <a:t>Embedded data.js</a:t>
                      </a:r>
                    </a:p>
                  </a:txBody>
                  <a:tcPr marL="54864" marR="54864" marT="22860" marB="22860">
                    <a:solidFill>
                      <a:srgbClr val="F4F9FB"/>
                    </a:solidFill>
                  </a:tcPr>
                </a:tc>
                <a:tc>
                  <a:txBody>
                    <a:bodyPr/>
                    <a:lstStyle/>
                    <a:p>
                      <a:r>
                        <a:rPr sz="1700" b="0">
                          <a:solidFill>
                            <a:srgbClr val="0D2B3E"/>
                          </a:solidFill>
                          <a:latin typeface="Calibri"/>
                        </a:rPr>
                        <a:t>fetch() of local JSON is blocked on file://; data.js loads as a normal script</a:t>
                      </a:r>
                    </a:p>
                  </a:txBody>
                  <a:tcPr marL="54864" marR="54864" marT="22860" marB="22860">
                    <a:solidFill>
                      <a:srgbClr val="F4F9FB"/>
                    </a:solidFill>
                  </a:tcPr>
                </a:tc>
              </a:tr>
              <a:tr h="658368">
                <a:tc>
                  <a:txBody>
                    <a:bodyPr/>
                    <a:lstStyle/>
                    <a:p>
                      <a:r>
                        <a:rPr sz="1700" b="0">
                          <a:solidFill>
                            <a:srgbClr val="0D2B3E"/>
                          </a:solidFill>
                          <a:latin typeface="Calibri"/>
                        </a:rPr>
                        <a:t>Node / Playwright (dev only)</a:t>
                      </a:r>
                    </a:p>
                  </a:txBody>
                  <a:tcPr marL="54864" marR="54864" marT="22860" marB="22860">
                    <a:solidFill>
                      <a:srgbClr val="FFFFFF"/>
                    </a:solidFill>
                  </a:tcPr>
                </a:tc>
                <a:tc>
                  <a:txBody>
                    <a:bodyPr/>
                    <a:lstStyle/>
                    <a:p>
                      <a:r>
                        <a:rPr sz="1700" b="0">
                          <a:solidFill>
                            <a:srgbClr val="0D2B3E"/>
                          </a:solidFill>
                          <a:latin typeface="Calibri"/>
                        </a:rPr>
                        <a:t>Test runner and screenshots; NOT needed by users</a:t>
                      </a:r>
                    </a:p>
                  </a:txBody>
                  <a:tcPr marL="54864" marR="54864" marT="22860" marB="22860">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7315200" cy="274320"/>
          </a:xfrm>
          <a:prstGeom prst="rect">
            <a:avLst/>
          </a:prstGeom>
          <a:noFill/>
        </p:spPr>
        <p:txBody>
          <a:bodyPr wrap="square" anchor="t" lIns="36576" rIns="36576" tIns="18288" bIns="18288">
            <a:spAutoFit/>
          </a:bodyPr>
          <a:lstStyle/>
          <a:p>
            <a:pPr algn="l">
              <a:spcAft>
                <a:spcPts val="800"/>
              </a:spcAft>
            </a:pPr>
            <a:r>
              <a:rPr sz="1100" b="1">
                <a:solidFill>
                  <a:srgbClr val="0B6E99"/>
                </a:solidFill>
                <a:latin typeface="Calibri"/>
              </a:rPr>
              <a:t>DESIGN</a:t>
            </a:r>
          </a:p>
        </p:txBody>
      </p:sp>
      <p:sp>
        <p:nvSpPr>
          <p:cNvPr id="3" name="TextBox 2"/>
          <p:cNvSpPr txBox="1"/>
          <p:nvPr/>
        </p:nvSpPr>
        <p:spPr>
          <a:xfrm>
            <a:off x="548640" y="548640"/>
            <a:ext cx="11064240" cy="685800"/>
          </a:xfrm>
          <a:prstGeom prst="rect">
            <a:avLst/>
          </a:prstGeom>
          <a:noFill/>
        </p:spPr>
        <p:txBody>
          <a:bodyPr wrap="square" anchor="ctr" lIns="36576" rIns="36576" tIns="18288" bIns="18288">
            <a:spAutoFit/>
          </a:bodyPr>
          <a:lstStyle/>
          <a:p>
            <a:pPr algn="l">
              <a:spcAft>
                <a:spcPts val="800"/>
              </a:spcAft>
            </a:pPr>
            <a:r>
              <a:rPr sz="3000" b="1">
                <a:solidFill>
                  <a:srgbClr val="0B2F4A"/>
                </a:solidFill>
                <a:latin typeface="Calibri"/>
              </a:rPr>
              <a:t>Application folder structure</a:t>
            </a:r>
          </a:p>
        </p:txBody>
      </p:sp>
      <p:sp>
        <p:nvSpPr>
          <p:cNvPr id="4" name="TextBox 3"/>
          <p:cNvSpPr txBox="1"/>
          <p:nvPr/>
        </p:nvSpPr>
        <p:spPr>
          <a:xfrm>
            <a:off x="548640" y="6473952"/>
            <a:ext cx="9601200" cy="274320"/>
          </a:xfrm>
          <a:prstGeom prst="rect">
            <a:avLst/>
          </a:prstGeom>
          <a:noFill/>
        </p:spPr>
        <p:txBody>
          <a:bodyPr wrap="square" anchor="t" lIns="36576" rIns="36576" tIns="18288" bIns="18288">
            <a:spAutoFit/>
          </a:bodyPr>
          <a:lstStyle/>
          <a:p>
            <a:pPr algn="l">
              <a:spcAft>
                <a:spcPts val="800"/>
              </a:spcAft>
            </a:pPr>
            <a:r>
              <a:rPr sz="900" b="0">
                <a:solidFill>
                  <a:srgbClr val="4C5A67"/>
                </a:solidFill>
                <a:latin typeface="Calibri"/>
              </a:rPr>
              <a:t>AquaGuard AI  |  IBM academic project  |  UN SDG 6  |  Educational screening tool - not a safety certification. Not endorsed by IBM, the UN or any agency.</a:t>
            </a:r>
          </a:p>
        </p:txBody>
      </p:sp>
      <p:sp>
        <p:nvSpPr>
          <p:cNvPr id="5" name="TextBox 4"/>
          <p:cNvSpPr txBox="1"/>
          <p:nvPr/>
        </p:nvSpPr>
        <p:spPr>
          <a:xfrm>
            <a:off x="11155680" y="6473952"/>
            <a:ext cx="548640" cy="274320"/>
          </a:xfrm>
          <a:prstGeom prst="rect">
            <a:avLst/>
          </a:prstGeom>
          <a:noFill/>
        </p:spPr>
        <p:txBody>
          <a:bodyPr wrap="square" anchor="t" lIns="36576" rIns="36576" tIns="18288" bIns="18288">
            <a:spAutoFit/>
          </a:bodyPr>
          <a:lstStyle/>
          <a:p>
            <a:pPr algn="r">
              <a:spcAft>
                <a:spcPts val="800"/>
              </a:spcAft>
            </a:pPr>
            <a:r>
              <a:rPr sz="1000" b="0">
                <a:solidFill>
                  <a:srgbClr val="4C5A67"/>
                </a:solidFill>
                <a:latin typeface="Calibri"/>
              </a:rPr>
              <a:t>12</a:t>
            </a:r>
          </a:p>
        </p:txBody>
      </p:sp>
      <p:sp>
        <p:nvSpPr>
          <p:cNvPr id="6" name="Rounded Rectangle 5"/>
          <p:cNvSpPr/>
          <p:nvPr/>
        </p:nvSpPr>
        <p:spPr>
          <a:xfrm>
            <a:off x="548640" y="1417320"/>
            <a:ext cx="6949440" cy="4846320"/>
          </a:xfrm>
          <a:prstGeom prst="roundRect">
            <a:avLst>
              <a:gd name="adj" fmla="val 5000"/>
            </a:avLst>
          </a:prstGeom>
          <a:solidFill>
            <a:srgbClr val="F4F9FB"/>
          </a:solidFill>
          <a:ln w="12700">
            <a:solidFill>
              <a:srgbClr val="B8CE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508760"/>
            <a:ext cx="6675120" cy="4663440"/>
          </a:xfrm>
          <a:prstGeom prst="rect">
            <a:avLst/>
          </a:prstGeom>
          <a:noFill/>
        </p:spPr>
        <p:txBody>
          <a:bodyPr wrap="square" anchor="t" lIns="36576" rIns="36576" tIns="18288" bIns="18288">
            <a:spAutoFit/>
          </a:bodyPr>
          <a:lstStyle/>
          <a:p>
            <a:pPr algn="l">
              <a:spcAft>
                <a:spcPts val="200"/>
              </a:spcAft>
            </a:pPr>
            <a:r>
              <a:rPr sz="1400" b="0">
                <a:solidFill>
                  <a:srgbClr val="0D2B3E"/>
                </a:solidFill>
                <a:latin typeface="Consolas"/>
              </a:rPr>
              <a:t>AquaGuard-AI/</a:t>
            </a:r>
          </a:p>
          <a:p>
            <a:pPr algn="l">
              <a:spcAft>
                <a:spcPts val="200"/>
              </a:spcAft>
            </a:pPr>
            <a:r>
              <a:rPr sz="1400" b="0">
                <a:solidFill>
                  <a:srgbClr val="0D2B3E"/>
                </a:solidFill>
                <a:latin typeface="Consolas"/>
              </a:rPr>
              <a:t>|-- index.html              &lt;- double-click this</a:t>
            </a:r>
          </a:p>
          <a:p>
            <a:pPr algn="l">
              <a:spcAft>
                <a:spcPts val="200"/>
              </a:spcAft>
            </a:pPr>
            <a:r>
              <a:rPr sz="1400" b="0">
                <a:solidFill>
                  <a:srgbClr val="0D2B3E"/>
                </a:solidFill>
                <a:latin typeface="Consolas"/>
              </a:rPr>
              <a:t>|-- css/styles.css</a:t>
            </a:r>
          </a:p>
          <a:p>
            <a:pPr algn="l">
              <a:spcAft>
                <a:spcPts val="200"/>
              </a:spcAft>
            </a:pPr>
            <a:r>
              <a:rPr sz="1400" b="0">
                <a:solidFill>
                  <a:srgbClr val="0D2B3E"/>
                </a:solidFill>
                <a:latin typeface="Consolas"/>
              </a:rPr>
              <a:t>|-- js/</a:t>
            </a:r>
          </a:p>
          <a:p>
            <a:pPr algn="l">
              <a:spcAft>
                <a:spcPts val="200"/>
              </a:spcAft>
            </a:pPr>
            <a:r>
              <a:rPr sz="1400" b="0">
                <a:solidFill>
                  <a:srgbClr val="0D2B3E"/>
                </a:solidFill>
                <a:latin typeface="Consolas"/>
              </a:rPr>
              <a:t>|   |-- app.js              UI controller</a:t>
            </a:r>
          </a:p>
          <a:p>
            <a:pPr algn="l">
              <a:spcAft>
                <a:spcPts val="200"/>
              </a:spcAft>
            </a:pPr>
            <a:r>
              <a:rPr sz="1400" b="0">
                <a:solidFill>
                  <a:srgbClr val="0D2B3E"/>
                </a:solidFill>
                <a:latin typeface="Consolas"/>
              </a:rPr>
              <a:t>|   |-- data.js             demo rows + references (generated)</a:t>
            </a:r>
          </a:p>
          <a:p>
            <a:pPr algn="l">
              <a:spcAft>
                <a:spcPts val="200"/>
              </a:spcAft>
            </a:pPr>
            <a:r>
              <a:rPr sz="1400" b="0">
                <a:solidFill>
                  <a:srgbClr val="0D2B3E"/>
                </a:solidFill>
                <a:latin typeface="Consolas"/>
              </a:rPr>
              <a:t>|   |-- validation.js       rules + CSV parser</a:t>
            </a:r>
          </a:p>
          <a:p>
            <a:pPr algn="l">
              <a:spcAft>
                <a:spcPts val="200"/>
              </a:spcAft>
            </a:pPr>
            <a:r>
              <a:rPr sz="1400" b="0">
                <a:solidFill>
                  <a:srgbClr val="0D2B3E"/>
                </a:solidFill>
                <a:latin typeface="Consolas"/>
              </a:rPr>
              <a:t>|   |-- analysis.js         screening, stats, outliers</a:t>
            </a:r>
          </a:p>
          <a:p>
            <a:pPr algn="l">
              <a:spcAft>
                <a:spcPts val="200"/>
              </a:spcAft>
            </a:pPr>
            <a:r>
              <a:rPr sz="1400" b="0">
                <a:solidFill>
                  <a:srgbClr val="0D2B3E"/>
                </a:solidFill>
                <a:latin typeface="Consolas"/>
              </a:rPr>
              <a:t>|   |-- charts.js           SVG charts</a:t>
            </a:r>
          </a:p>
          <a:p>
            <a:pPr algn="l">
              <a:spcAft>
                <a:spcPts val="200"/>
              </a:spcAft>
            </a:pPr>
            <a:r>
              <a:rPr sz="1400" b="0">
                <a:solidFill>
                  <a:srgbClr val="0D2B3E"/>
                </a:solidFill>
                <a:latin typeface="Consolas"/>
              </a:rPr>
              <a:t>|   |-- storage.js          localStorage</a:t>
            </a:r>
          </a:p>
          <a:p>
            <a:pPr algn="l">
              <a:spcAft>
                <a:spcPts val="200"/>
              </a:spcAft>
            </a:pPr>
            <a:r>
              <a:rPr sz="1400" b="0">
                <a:solidFill>
                  <a:srgbClr val="0D2B3E"/>
                </a:solidFill>
                <a:latin typeface="Consolas"/>
              </a:rPr>
              <a:t>|   `-- reports.js          CSV + HTML report</a:t>
            </a:r>
          </a:p>
          <a:p>
            <a:pPr algn="l">
              <a:spcAft>
                <a:spcPts val="200"/>
              </a:spcAft>
            </a:pPr>
            <a:r>
              <a:rPr sz="1400" b="0">
                <a:solidFill>
                  <a:srgbClr val="0D2B3E"/>
                </a:solidFill>
                <a:latin typeface="Consolas"/>
              </a:rPr>
              <a:t>|-- data/demo-water-quality.csv</a:t>
            </a:r>
          </a:p>
          <a:p>
            <a:pPr algn="l">
              <a:spcAft>
                <a:spcPts val="200"/>
              </a:spcAft>
            </a:pPr>
            <a:r>
              <a:rPr sz="1400" b="0">
                <a:solidFill>
                  <a:srgbClr val="0D2B3E"/>
                </a:solidFill>
                <a:latin typeface="Consolas"/>
              </a:rPr>
              <a:t>|-- config/water-quality-references.json</a:t>
            </a:r>
          </a:p>
          <a:p>
            <a:pPr algn="l">
              <a:spcAft>
                <a:spcPts val="200"/>
              </a:spcAft>
            </a:pPr>
            <a:r>
              <a:rPr sz="1400" b="0">
                <a:solidFill>
                  <a:srgbClr val="0D2B3E"/>
                </a:solidFill>
                <a:latin typeface="Consolas"/>
              </a:rPr>
              <a:t>|-- assets/ (logo, diagrams)   screenshots/</a:t>
            </a:r>
          </a:p>
          <a:p>
            <a:pPr algn="l">
              <a:spcAft>
                <a:spcPts val="200"/>
              </a:spcAft>
            </a:pPr>
            <a:r>
              <a:rPr sz="1400" b="0">
                <a:solidFill>
                  <a:srgbClr val="0D2B3E"/>
                </a:solidFill>
                <a:latin typeface="Consolas"/>
              </a:rPr>
              <a:t>|-- tests/ (unit + browser)   scripts/ (dev tools)</a:t>
            </a:r>
          </a:p>
          <a:p>
            <a:pPr algn="l">
              <a:spcAft>
                <a:spcPts val="200"/>
              </a:spcAft>
            </a:pPr>
            <a:r>
              <a:rPr sz="1400" b="0">
                <a:solidFill>
                  <a:srgbClr val="0D2B3E"/>
                </a:solidFill>
                <a:latin typeface="Consolas"/>
              </a:rPr>
              <a:t>|-- presentation/ (this deck + source)</a:t>
            </a:r>
          </a:p>
          <a:p>
            <a:pPr algn="l">
              <a:spcAft>
                <a:spcPts val="200"/>
              </a:spcAft>
            </a:pPr>
            <a:r>
              <a:rPr sz="1400" b="0">
                <a:solidFill>
                  <a:srgbClr val="0D2B3E"/>
                </a:solidFill>
                <a:latin typeface="Consolas"/>
              </a:rPr>
              <a:t>`-- README.md, PROJECT_REPORT.md, ... LICENSE</a:t>
            </a:r>
          </a:p>
        </p:txBody>
      </p:sp>
      <p:sp>
        <p:nvSpPr>
          <p:cNvPr id="8" name="Rounded Rectangle 7"/>
          <p:cNvSpPr/>
          <p:nvPr/>
        </p:nvSpPr>
        <p:spPr>
          <a:xfrm>
            <a:off x="7772400" y="1417320"/>
            <a:ext cx="3840480" cy="4846320"/>
          </a:xfrm>
          <a:prstGeom prst="roundRect">
            <a:avLst>
              <a:gd name="adj" fmla="val 5000"/>
            </a:avLst>
          </a:prstGeom>
          <a:solidFill>
            <a:srgbClr val="E4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36992" y="1527048"/>
            <a:ext cx="3511296" cy="457200"/>
          </a:xfrm>
          <a:prstGeom prst="rect">
            <a:avLst/>
          </a:prstGeom>
          <a:noFill/>
        </p:spPr>
        <p:txBody>
          <a:bodyPr wrap="square" anchor="t" lIns="36576" rIns="36576" tIns="18288" bIns="18288">
            <a:spAutoFit/>
          </a:bodyPr>
          <a:lstStyle/>
          <a:p>
            <a:pPr algn="l">
              <a:spcAft>
                <a:spcPts val="800"/>
              </a:spcAft>
            </a:pPr>
            <a:r>
              <a:rPr sz="1700" b="1">
                <a:solidFill>
                  <a:srgbClr val="0B6E99"/>
                </a:solidFill>
                <a:latin typeface="Calibri"/>
              </a:rPr>
              <a:t>What users need</a:t>
            </a:r>
          </a:p>
        </p:txBody>
      </p:sp>
      <p:sp>
        <p:nvSpPr>
          <p:cNvPr id="10" name="TextBox 9"/>
          <p:cNvSpPr txBox="1"/>
          <p:nvPr/>
        </p:nvSpPr>
        <p:spPr>
          <a:xfrm>
            <a:off x="7936992" y="1984248"/>
            <a:ext cx="3511296" cy="4206240"/>
          </a:xfrm>
          <a:prstGeom prst="rect">
            <a:avLst/>
          </a:prstGeom>
          <a:noFill/>
        </p:spPr>
        <p:txBody>
          <a:bodyPr wrap="square" anchor="t" lIns="36576" rIns="36576" tIns="18288" bIns="18288">
            <a:spAutoFit/>
          </a:bodyPr>
          <a:lstStyle/>
          <a:p>
            <a:pPr algn="l">
              <a:spcAft>
                <a:spcPts val="800"/>
              </a:spcAft>
            </a:pPr>
            <a:r>
              <a:rPr sz="1600" b="0">
                <a:solidFill>
                  <a:srgbClr val="0D2B3E"/>
                </a:solidFill>
                <a:latin typeface="Calibri"/>
              </a:rPr>
              <a:t>index.html</a:t>
            </a:r>
          </a:p>
          <a:p>
            <a:pPr algn="l">
              <a:spcAft>
                <a:spcPts val="800"/>
              </a:spcAft>
            </a:pPr>
            <a:r>
              <a:rPr sz="1600" b="0">
                <a:solidFill>
                  <a:srgbClr val="0D2B3E"/>
                </a:solidFill>
                <a:latin typeface="Calibri"/>
              </a:rPr>
              <a:t>css/ and js/</a:t>
            </a:r>
          </a:p>
          <a:p>
            <a:pPr algn="l">
              <a:spcAft>
                <a:spcPts val="800"/>
              </a:spcAft>
            </a:pPr>
            <a:r>
              <a:rPr sz="1600" b="0">
                <a:solidFill>
                  <a:srgbClr val="0D2B3E"/>
                </a:solidFill>
                <a:latin typeface="Calibri"/>
              </a:rPr>
              <a:t>data/ and config/ (reference copies)</a:t>
            </a:r>
          </a:p>
          <a:p>
            <a:pPr algn="l">
              <a:spcAft>
                <a:spcPts val="800"/>
              </a:spcAft>
            </a:pPr>
            <a:r>
              <a:rPr sz="1600" b="0">
                <a:solidFill>
                  <a:srgbClr val="0D2B3E"/>
                </a:solidFill>
                <a:latin typeface="Calibri"/>
              </a:rPr>
              <a:t/>
            </a:r>
          </a:p>
          <a:p>
            <a:pPr algn="l">
              <a:spcAft>
                <a:spcPts val="800"/>
              </a:spcAft>
            </a:pPr>
            <a:r>
              <a:rPr sz="1600" b="0">
                <a:solidFill>
                  <a:srgbClr val="0D2B3E"/>
                </a:solidFill>
                <a:latin typeface="Calibri"/>
              </a:rPr>
              <a:t>Everything else is documentation and developer tooling.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7315200" cy="274320"/>
          </a:xfrm>
          <a:prstGeom prst="rect">
            <a:avLst/>
          </a:prstGeom>
          <a:noFill/>
        </p:spPr>
        <p:txBody>
          <a:bodyPr wrap="square" anchor="t" lIns="36576" rIns="36576" tIns="18288" bIns="18288">
            <a:spAutoFit/>
          </a:bodyPr>
          <a:lstStyle/>
          <a:p>
            <a:pPr algn="l">
              <a:spcAft>
                <a:spcPts val="800"/>
              </a:spcAft>
            </a:pPr>
            <a:r>
              <a:rPr sz="1100" b="1">
                <a:solidFill>
                  <a:srgbClr val="0B6E99"/>
                </a:solidFill>
                <a:latin typeface="Calibri"/>
              </a:rPr>
              <a:t>DATA</a:t>
            </a:r>
          </a:p>
        </p:txBody>
      </p:sp>
      <p:sp>
        <p:nvSpPr>
          <p:cNvPr id="3" name="TextBox 2"/>
          <p:cNvSpPr txBox="1"/>
          <p:nvPr/>
        </p:nvSpPr>
        <p:spPr>
          <a:xfrm>
            <a:off x="548640" y="548640"/>
            <a:ext cx="11064240" cy="685800"/>
          </a:xfrm>
          <a:prstGeom prst="rect">
            <a:avLst/>
          </a:prstGeom>
          <a:noFill/>
        </p:spPr>
        <p:txBody>
          <a:bodyPr wrap="square" anchor="ctr" lIns="36576" rIns="36576" tIns="18288" bIns="18288">
            <a:spAutoFit/>
          </a:bodyPr>
          <a:lstStyle/>
          <a:p>
            <a:pPr algn="l">
              <a:spcAft>
                <a:spcPts val="800"/>
              </a:spcAft>
            </a:pPr>
            <a:r>
              <a:rPr sz="3000" b="1">
                <a:solidFill>
                  <a:srgbClr val="0B2F4A"/>
                </a:solidFill>
                <a:latin typeface="Calibri"/>
              </a:rPr>
              <a:t>Data model and sample dataset</a:t>
            </a:r>
          </a:p>
        </p:txBody>
      </p:sp>
      <p:sp>
        <p:nvSpPr>
          <p:cNvPr id="4" name="TextBox 3"/>
          <p:cNvSpPr txBox="1"/>
          <p:nvPr/>
        </p:nvSpPr>
        <p:spPr>
          <a:xfrm>
            <a:off x="548640" y="6473952"/>
            <a:ext cx="9601200" cy="274320"/>
          </a:xfrm>
          <a:prstGeom prst="rect">
            <a:avLst/>
          </a:prstGeom>
          <a:noFill/>
        </p:spPr>
        <p:txBody>
          <a:bodyPr wrap="square" anchor="t" lIns="36576" rIns="36576" tIns="18288" bIns="18288">
            <a:spAutoFit/>
          </a:bodyPr>
          <a:lstStyle/>
          <a:p>
            <a:pPr algn="l">
              <a:spcAft>
                <a:spcPts val="800"/>
              </a:spcAft>
            </a:pPr>
            <a:r>
              <a:rPr sz="900" b="0">
                <a:solidFill>
                  <a:srgbClr val="4C5A67"/>
                </a:solidFill>
                <a:latin typeface="Calibri"/>
              </a:rPr>
              <a:t>AquaGuard AI  |  IBM academic project  |  UN SDG 6  |  Educational screening tool - not a safety certification. Not endorsed by IBM, the UN or any agency.</a:t>
            </a:r>
          </a:p>
        </p:txBody>
      </p:sp>
      <p:sp>
        <p:nvSpPr>
          <p:cNvPr id="5" name="TextBox 4"/>
          <p:cNvSpPr txBox="1"/>
          <p:nvPr/>
        </p:nvSpPr>
        <p:spPr>
          <a:xfrm>
            <a:off x="11155680" y="6473952"/>
            <a:ext cx="548640" cy="274320"/>
          </a:xfrm>
          <a:prstGeom prst="rect">
            <a:avLst/>
          </a:prstGeom>
          <a:noFill/>
        </p:spPr>
        <p:txBody>
          <a:bodyPr wrap="square" anchor="t" lIns="36576" rIns="36576" tIns="18288" bIns="18288">
            <a:spAutoFit/>
          </a:bodyPr>
          <a:lstStyle/>
          <a:p>
            <a:pPr algn="r">
              <a:spcAft>
                <a:spcPts val="800"/>
              </a:spcAft>
            </a:pPr>
            <a:r>
              <a:rPr sz="1000" b="0">
                <a:solidFill>
                  <a:srgbClr val="4C5A67"/>
                </a:solidFill>
                <a:latin typeface="Calibri"/>
              </a:rPr>
              <a:t>13</a:t>
            </a:r>
          </a:p>
        </p:txBody>
      </p:sp>
      <p:pic>
        <p:nvPicPr>
          <p:cNvPr id="6" name="Picture 5" descr="data_model.png"/>
          <p:cNvPicPr>
            <a:picLocks noChangeAspect="1"/>
          </p:cNvPicPr>
          <p:nvPr/>
        </p:nvPicPr>
        <p:blipFill>
          <a:blip r:embed="rId3"/>
          <a:stretch>
            <a:fillRect/>
          </a:stretch>
        </p:blipFill>
        <p:spPr>
          <a:xfrm>
            <a:off x="457200" y="2037644"/>
            <a:ext cx="7223760" cy="3605670"/>
          </a:xfrm>
          <a:prstGeom prst="rect">
            <a:avLst/>
          </a:prstGeom>
          <a:ln w="12700">
            <a:solidFill>
              <a:srgbClr val="B8CEDB"/>
            </a:solidFill>
          </a:ln>
        </p:spPr>
      </p:pic>
      <p:sp>
        <p:nvSpPr>
          <p:cNvPr id="7" name="Rounded Rectangle 6"/>
          <p:cNvSpPr/>
          <p:nvPr/>
        </p:nvSpPr>
        <p:spPr>
          <a:xfrm>
            <a:off x="7955279" y="1417320"/>
            <a:ext cx="3657600" cy="4846320"/>
          </a:xfrm>
          <a:prstGeom prst="roundRect">
            <a:avLst>
              <a:gd name="adj" fmla="val 5000"/>
            </a:avLst>
          </a:prstGeom>
          <a:solidFill>
            <a:srgbClr val="E4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19871" y="1527048"/>
            <a:ext cx="3328416" cy="457200"/>
          </a:xfrm>
          <a:prstGeom prst="rect">
            <a:avLst/>
          </a:prstGeom>
          <a:noFill/>
        </p:spPr>
        <p:txBody>
          <a:bodyPr wrap="square" anchor="t" lIns="36576" rIns="36576" tIns="18288" bIns="18288">
            <a:spAutoFit/>
          </a:bodyPr>
          <a:lstStyle/>
          <a:p>
            <a:pPr algn="l">
              <a:spcAft>
                <a:spcPts val="800"/>
              </a:spcAft>
            </a:pPr>
            <a:r>
              <a:rPr sz="1700" b="1">
                <a:solidFill>
                  <a:srgbClr val="0B6E99"/>
                </a:solidFill>
                <a:latin typeface="Calibri"/>
              </a:rPr>
              <a:t>Demo dataset (synthetic)</a:t>
            </a:r>
          </a:p>
        </p:txBody>
      </p:sp>
      <p:sp>
        <p:nvSpPr>
          <p:cNvPr id="9" name="TextBox 8"/>
          <p:cNvSpPr txBox="1"/>
          <p:nvPr/>
        </p:nvSpPr>
        <p:spPr>
          <a:xfrm>
            <a:off x="8119871" y="1984248"/>
            <a:ext cx="3328416" cy="4206240"/>
          </a:xfrm>
          <a:prstGeom prst="rect">
            <a:avLst/>
          </a:prstGeom>
          <a:noFill/>
        </p:spPr>
        <p:txBody>
          <a:bodyPr wrap="square" anchor="t" lIns="36576" rIns="36576" tIns="18288" bIns="18288">
            <a:spAutoFit/>
          </a:bodyPr>
          <a:lstStyle/>
          <a:p>
            <a:pPr algn="l" marL="300000" indent="-300000">
              <a:spcAft>
                <a:spcPts val="800"/>
              </a:spcAft>
              <a:buChar char="•"/>
            </a:pPr>
            <a:r>
              <a:rPr sz="1500" b="0">
                <a:solidFill>
                  <a:srgbClr val="0D2B3E"/>
                </a:solidFill>
                <a:latin typeface="Calibri"/>
              </a:rPr>
              <a:t>120 records, 4 fictional sites (Site A-D)</a:t>
            </a:r>
          </a:p>
          <a:p>
            <a:pPr algn="l" marL="300000" indent="-300000">
              <a:spcAft>
                <a:spcPts val="800"/>
              </a:spcAft>
              <a:buChar char="•"/>
            </a:pPr>
            <a:r>
              <a:rPr sz="1500" b="0">
                <a:solidFill>
                  <a:srgbClr val="0D2B3E"/>
                </a:solidFill>
                <a:latin typeface="Calibri"/>
              </a:rPr>
              <a:t>2026-08-01 to 2026-10-10</a:t>
            </a:r>
          </a:p>
          <a:p>
            <a:pPr algn="l" marL="300000" indent="-300000">
              <a:spcAft>
                <a:spcPts val="800"/>
              </a:spcAft>
              <a:buChar char="•"/>
            </a:pPr>
            <a:r>
              <a:rPr sz="1500" b="0">
                <a:solidFill>
                  <a:srgbClr val="0D2B3E"/>
                </a:solidFill>
                <a:latin typeface="Calibri"/>
              </a:rPr>
              <a:t>32 flagged, 4 insufficient (BIS acceptable)</a:t>
            </a:r>
          </a:p>
          <a:p>
            <a:pPr algn="l" marL="300000" indent="-300000">
              <a:spcAft>
                <a:spcPts val="800"/>
              </a:spcAft>
              <a:buChar char="•"/>
            </a:pPr>
            <a:r>
              <a:rPr sz="1500" b="0">
                <a:solidFill>
                  <a:srgbClr val="0D2B3E"/>
                </a:solidFill>
                <a:latin typeface="Calibri"/>
              </a:rPr>
              <a:t>5 statistically unusual samples</a:t>
            </a:r>
          </a:p>
          <a:p>
            <a:pPr algn="l" marL="300000" indent="-300000">
              <a:spcAft>
                <a:spcPts val="800"/>
              </a:spcAft>
              <a:buChar char="•"/>
            </a:pPr>
            <a:r>
              <a:rPr sz="1500" b="0">
                <a:solidFill>
                  <a:srgbClr val="0D2B3E"/>
                </a:solidFill>
                <a:latin typeface="Calibri"/>
              </a:rPr>
              <a:t>Missing: conductivity 20.8%, dissolved oxygen 55.8%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7315200" cy="274320"/>
          </a:xfrm>
          <a:prstGeom prst="rect">
            <a:avLst/>
          </a:prstGeom>
          <a:noFill/>
        </p:spPr>
        <p:txBody>
          <a:bodyPr wrap="square" anchor="t" lIns="36576" rIns="36576" tIns="18288" bIns="18288">
            <a:spAutoFit/>
          </a:bodyPr>
          <a:lstStyle/>
          <a:p>
            <a:pPr algn="l">
              <a:spcAft>
                <a:spcPts val="800"/>
              </a:spcAft>
            </a:pPr>
            <a:r>
              <a:rPr sz="1100" b="1">
                <a:solidFill>
                  <a:srgbClr val="0B6E99"/>
                </a:solidFill>
                <a:latin typeface="Calibri"/>
              </a:rPr>
              <a:t>DESIGN</a:t>
            </a:r>
          </a:p>
        </p:txBody>
      </p:sp>
      <p:sp>
        <p:nvSpPr>
          <p:cNvPr id="3" name="TextBox 2"/>
          <p:cNvSpPr txBox="1"/>
          <p:nvPr/>
        </p:nvSpPr>
        <p:spPr>
          <a:xfrm>
            <a:off x="548640" y="548640"/>
            <a:ext cx="11064240" cy="685800"/>
          </a:xfrm>
          <a:prstGeom prst="rect">
            <a:avLst/>
          </a:prstGeom>
          <a:noFill/>
        </p:spPr>
        <p:txBody>
          <a:bodyPr wrap="square" anchor="ctr" lIns="36576" rIns="36576" tIns="18288" bIns="18288">
            <a:spAutoFit/>
          </a:bodyPr>
          <a:lstStyle/>
          <a:p>
            <a:pPr algn="l">
              <a:spcAft>
                <a:spcPts val="800"/>
              </a:spcAft>
            </a:pPr>
            <a:r>
              <a:rPr sz="3000" b="1">
                <a:solidFill>
                  <a:srgbClr val="0B2F4A"/>
                </a:solidFill>
                <a:latin typeface="Calibri"/>
              </a:rPr>
              <a:t>Application workflow: from input to result</a:t>
            </a:r>
          </a:p>
        </p:txBody>
      </p:sp>
      <p:sp>
        <p:nvSpPr>
          <p:cNvPr id="4" name="TextBox 3"/>
          <p:cNvSpPr txBox="1"/>
          <p:nvPr/>
        </p:nvSpPr>
        <p:spPr>
          <a:xfrm>
            <a:off x="548640" y="6473952"/>
            <a:ext cx="9601200" cy="274320"/>
          </a:xfrm>
          <a:prstGeom prst="rect">
            <a:avLst/>
          </a:prstGeom>
          <a:noFill/>
        </p:spPr>
        <p:txBody>
          <a:bodyPr wrap="square" anchor="t" lIns="36576" rIns="36576" tIns="18288" bIns="18288">
            <a:spAutoFit/>
          </a:bodyPr>
          <a:lstStyle/>
          <a:p>
            <a:pPr algn="l">
              <a:spcAft>
                <a:spcPts val="800"/>
              </a:spcAft>
            </a:pPr>
            <a:r>
              <a:rPr sz="900" b="0">
                <a:solidFill>
                  <a:srgbClr val="4C5A67"/>
                </a:solidFill>
                <a:latin typeface="Calibri"/>
              </a:rPr>
              <a:t>AquaGuard AI  |  IBM academic project  |  UN SDG 6  |  Educational screening tool - not a safety certification. Not endorsed by IBM, the UN or any agency.</a:t>
            </a:r>
          </a:p>
        </p:txBody>
      </p:sp>
      <p:sp>
        <p:nvSpPr>
          <p:cNvPr id="5" name="TextBox 4"/>
          <p:cNvSpPr txBox="1"/>
          <p:nvPr/>
        </p:nvSpPr>
        <p:spPr>
          <a:xfrm>
            <a:off x="11155680" y="6473952"/>
            <a:ext cx="548640" cy="274320"/>
          </a:xfrm>
          <a:prstGeom prst="rect">
            <a:avLst/>
          </a:prstGeom>
          <a:noFill/>
        </p:spPr>
        <p:txBody>
          <a:bodyPr wrap="square" anchor="t" lIns="36576" rIns="36576" tIns="18288" bIns="18288">
            <a:spAutoFit/>
          </a:bodyPr>
          <a:lstStyle/>
          <a:p>
            <a:pPr algn="r">
              <a:spcAft>
                <a:spcPts val="800"/>
              </a:spcAft>
            </a:pPr>
            <a:r>
              <a:rPr sz="1000" b="0">
                <a:solidFill>
                  <a:srgbClr val="4C5A67"/>
                </a:solidFill>
                <a:latin typeface="Calibri"/>
              </a:rPr>
              <a:t>14</a:t>
            </a:r>
          </a:p>
        </p:txBody>
      </p:sp>
      <p:pic>
        <p:nvPicPr>
          <p:cNvPr id="6" name="Picture 5" descr="workflow.png"/>
          <p:cNvPicPr>
            <a:picLocks noChangeAspect="1"/>
          </p:cNvPicPr>
          <p:nvPr/>
        </p:nvPicPr>
        <p:blipFill>
          <a:blip r:embed="rId3"/>
          <a:stretch>
            <a:fillRect/>
          </a:stretch>
        </p:blipFill>
        <p:spPr>
          <a:xfrm>
            <a:off x="822960" y="1562285"/>
            <a:ext cx="10515600" cy="3824868"/>
          </a:xfrm>
          <a:prstGeom prst="rect">
            <a:avLst/>
          </a:prstGeom>
          <a:ln w="12700">
            <a:solidFill>
              <a:srgbClr val="B8CEDB"/>
            </a:solidFill>
          </a:ln>
        </p:spPr>
      </p:pic>
      <p:sp>
        <p:nvSpPr>
          <p:cNvPr id="7" name="TextBox 6"/>
          <p:cNvSpPr txBox="1"/>
          <p:nvPr/>
        </p:nvSpPr>
        <p:spPr>
          <a:xfrm>
            <a:off x="822960" y="5623560"/>
            <a:ext cx="10515600" cy="640080"/>
          </a:xfrm>
          <a:prstGeom prst="rect">
            <a:avLst/>
          </a:prstGeom>
          <a:noFill/>
        </p:spPr>
        <p:txBody>
          <a:bodyPr wrap="square" anchor="t" lIns="36576" rIns="36576" tIns="18288" bIns="18288">
            <a:spAutoFit/>
          </a:bodyPr>
          <a:lstStyle/>
          <a:p>
            <a:pPr algn="ctr">
              <a:spcAft>
                <a:spcPts val="800"/>
              </a:spcAft>
            </a:pPr>
            <a:r>
              <a:rPr sz="1700" b="1">
                <a:solidFill>
                  <a:srgbClr val="0B6E99"/>
                </a:solidFill>
                <a:latin typeface="Calibri"/>
              </a:rPr>
              <a:t>Every figure and chart is recalculated from the stored records and the active filters.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7315200" cy="274320"/>
          </a:xfrm>
          <a:prstGeom prst="rect">
            <a:avLst/>
          </a:prstGeom>
          <a:noFill/>
        </p:spPr>
        <p:txBody>
          <a:bodyPr wrap="square" anchor="t" lIns="36576" rIns="36576" tIns="18288" bIns="18288">
            <a:spAutoFit/>
          </a:bodyPr>
          <a:lstStyle/>
          <a:p>
            <a:pPr algn="l">
              <a:spcAft>
                <a:spcPts val="800"/>
              </a:spcAft>
            </a:pPr>
            <a:r>
              <a:rPr sz="1100" b="1">
                <a:solidFill>
                  <a:srgbClr val="0B6E99"/>
                </a:solidFill>
                <a:latin typeface="Calibri"/>
              </a:rPr>
              <a:t>SCIENCE</a:t>
            </a:r>
          </a:p>
        </p:txBody>
      </p:sp>
      <p:sp>
        <p:nvSpPr>
          <p:cNvPr id="3" name="TextBox 2"/>
          <p:cNvSpPr txBox="1"/>
          <p:nvPr/>
        </p:nvSpPr>
        <p:spPr>
          <a:xfrm>
            <a:off x="548640" y="548640"/>
            <a:ext cx="11064240" cy="685800"/>
          </a:xfrm>
          <a:prstGeom prst="rect">
            <a:avLst/>
          </a:prstGeom>
          <a:noFill/>
        </p:spPr>
        <p:txBody>
          <a:bodyPr wrap="square" anchor="ctr" lIns="36576" rIns="36576" tIns="18288" bIns="18288">
            <a:spAutoFit/>
          </a:bodyPr>
          <a:lstStyle/>
          <a:p>
            <a:pPr algn="l">
              <a:spcAft>
                <a:spcPts val="800"/>
              </a:spcAft>
            </a:pPr>
            <a:r>
              <a:rPr sz="3000" b="1">
                <a:solidFill>
                  <a:srgbClr val="0B2F4A"/>
                </a:solidFill>
                <a:latin typeface="Calibri"/>
              </a:rPr>
              <a:t>Water-quality parameters explained</a:t>
            </a:r>
          </a:p>
        </p:txBody>
      </p:sp>
      <p:sp>
        <p:nvSpPr>
          <p:cNvPr id="4" name="TextBox 3"/>
          <p:cNvSpPr txBox="1"/>
          <p:nvPr/>
        </p:nvSpPr>
        <p:spPr>
          <a:xfrm>
            <a:off x="548640" y="6473952"/>
            <a:ext cx="9601200" cy="274320"/>
          </a:xfrm>
          <a:prstGeom prst="rect">
            <a:avLst/>
          </a:prstGeom>
          <a:noFill/>
        </p:spPr>
        <p:txBody>
          <a:bodyPr wrap="square" anchor="t" lIns="36576" rIns="36576" tIns="18288" bIns="18288">
            <a:spAutoFit/>
          </a:bodyPr>
          <a:lstStyle/>
          <a:p>
            <a:pPr algn="l">
              <a:spcAft>
                <a:spcPts val="800"/>
              </a:spcAft>
            </a:pPr>
            <a:r>
              <a:rPr sz="900" b="0">
                <a:solidFill>
                  <a:srgbClr val="4C5A67"/>
                </a:solidFill>
                <a:latin typeface="Calibri"/>
              </a:rPr>
              <a:t>AquaGuard AI  |  IBM academic project  |  UN SDG 6  |  Educational screening tool - not a safety certification. Not endorsed by IBM, the UN or any agency.</a:t>
            </a:r>
          </a:p>
        </p:txBody>
      </p:sp>
      <p:sp>
        <p:nvSpPr>
          <p:cNvPr id="5" name="TextBox 4"/>
          <p:cNvSpPr txBox="1"/>
          <p:nvPr/>
        </p:nvSpPr>
        <p:spPr>
          <a:xfrm>
            <a:off x="11155680" y="6473952"/>
            <a:ext cx="548640" cy="274320"/>
          </a:xfrm>
          <a:prstGeom prst="rect">
            <a:avLst/>
          </a:prstGeom>
          <a:noFill/>
        </p:spPr>
        <p:txBody>
          <a:bodyPr wrap="square" anchor="t" lIns="36576" rIns="36576" tIns="18288" bIns="18288">
            <a:spAutoFit/>
          </a:bodyPr>
          <a:lstStyle/>
          <a:p>
            <a:pPr algn="r">
              <a:spcAft>
                <a:spcPts val="800"/>
              </a:spcAft>
            </a:pPr>
            <a:r>
              <a:rPr sz="1000" b="0">
                <a:solidFill>
                  <a:srgbClr val="4C5A67"/>
                </a:solidFill>
                <a:latin typeface="Calibri"/>
              </a:rPr>
              <a:t>15</a:t>
            </a:r>
          </a:p>
        </p:txBody>
      </p:sp>
      <p:graphicFrame>
        <p:nvGraphicFramePr>
          <p:cNvPr id="6" name="Table 5"/>
          <p:cNvGraphicFramePr>
            <a:graphicFrameLocks noGrp="1"/>
          </p:cNvGraphicFramePr>
          <p:nvPr/>
        </p:nvGraphicFramePr>
        <p:xfrm>
          <a:off x="548640" y="1417320"/>
          <a:ext cx="11064240" cy="4096512"/>
        </p:xfrm>
        <a:graphic>
          <a:graphicData uri="http://schemas.openxmlformats.org/drawingml/2006/table">
            <a:tbl>
              <a:tblPr firstRow="1" bandRow="1">
                <a:tableStyleId>{5C22544A-7EE6-4342-B048-85BDC9FD1C3A}</a:tableStyleId>
              </a:tblPr>
              <a:tblGrid>
                <a:gridCol w="2926080"/>
                <a:gridCol w="1371600"/>
                <a:gridCol w="5120640"/>
                <a:gridCol w="1645920"/>
              </a:tblGrid>
              <a:tr h="585216">
                <a:tc>
                  <a:txBody>
                    <a:bodyPr/>
                    <a:lstStyle/>
                    <a:p>
                      <a:r>
                        <a:rPr sz="1700" b="1">
                          <a:solidFill>
                            <a:srgbClr val="FFFFFF"/>
                          </a:solidFill>
                          <a:latin typeface="Calibri"/>
                        </a:rPr>
                        <a:t>Parameter</a:t>
                      </a:r>
                    </a:p>
                  </a:txBody>
                  <a:tcPr marL="54864" marR="54864" marT="22860" marB="22860">
                    <a:solidFill>
                      <a:srgbClr val="0B6E99"/>
                    </a:solidFill>
                  </a:tcPr>
                </a:tc>
                <a:tc>
                  <a:txBody>
                    <a:bodyPr/>
                    <a:lstStyle/>
                    <a:p>
                      <a:r>
                        <a:rPr sz="1700" b="1">
                          <a:solidFill>
                            <a:srgbClr val="FFFFFF"/>
                          </a:solidFill>
                          <a:latin typeface="Calibri"/>
                        </a:rPr>
                        <a:t>Unit</a:t>
                      </a:r>
                    </a:p>
                  </a:txBody>
                  <a:tcPr marL="54864" marR="54864" marT="22860" marB="22860">
                    <a:solidFill>
                      <a:srgbClr val="0B6E99"/>
                    </a:solidFill>
                  </a:tcPr>
                </a:tc>
                <a:tc>
                  <a:txBody>
                    <a:bodyPr/>
                    <a:lstStyle/>
                    <a:p>
                      <a:r>
                        <a:rPr sz="1700" b="1">
                          <a:solidFill>
                            <a:srgbClr val="FFFFFF"/>
                          </a:solidFill>
                          <a:latin typeface="Calibri"/>
                        </a:rPr>
                        <a:t>In plain words</a:t>
                      </a:r>
                    </a:p>
                  </a:txBody>
                  <a:tcPr marL="54864" marR="54864" marT="22860" marB="22860">
                    <a:solidFill>
                      <a:srgbClr val="0B6E99"/>
                    </a:solidFill>
                  </a:tcPr>
                </a:tc>
                <a:tc>
                  <a:txBody>
                    <a:bodyPr/>
                    <a:lstStyle/>
                    <a:p>
                      <a:r>
                        <a:rPr sz="1700" b="1">
                          <a:solidFill>
                            <a:srgbClr val="FFFFFF"/>
                          </a:solidFill>
                          <a:latin typeface="Calibri"/>
                        </a:rPr>
                        <a:t>Input range</a:t>
                      </a:r>
                    </a:p>
                  </a:txBody>
                  <a:tcPr marL="54864" marR="54864" marT="22860" marB="22860">
                    <a:solidFill>
                      <a:srgbClr val="0B6E99"/>
                    </a:solidFill>
                  </a:tcPr>
                </a:tc>
              </a:tr>
              <a:tr h="585216">
                <a:tc>
                  <a:txBody>
                    <a:bodyPr/>
                    <a:lstStyle/>
                    <a:p>
                      <a:r>
                        <a:rPr sz="1700" b="0">
                          <a:solidFill>
                            <a:srgbClr val="0D2B3E"/>
                          </a:solidFill>
                          <a:latin typeface="Calibri"/>
                        </a:rPr>
                        <a:t>pH</a:t>
                      </a:r>
                    </a:p>
                  </a:txBody>
                  <a:tcPr marL="54864" marR="54864" marT="22860" marB="22860">
                    <a:solidFill>
                      <a:srgbClr val="F4F9FB"/>
                    </a:solidFill>
                  </a:tcPr>
                </a:tc>
                <a:tc>
                  <a:txBody>
                    <a:bodyPr/>
                    <a:lstStyle/>
                    <a:p>
                      <a:r>
                        <a:rPr sz="1700" b="0">
                          <a:solidFill>
                            <a:srgbClr val="0D2B3E"/>
                          </a:solidFill>
                          <a:latin typeface="Calibri"/>
                        </a:rPr>
                        <a:t>pH units</a:t>
                      </a:r>
                    </a:p>
                  </a:txBody>
                  <a:tcPr marL="54864" marR="54864" marT="22860" marB="22860">
                    <a:solidFill>
                      <a:srgbClr val="F4F9FB"/>
                    </a:solidFill>
                  </a:tcPr>
                </a:tc>
                <a:tc>
                  <a:txBody>
                    <a:bodyPr/>
                    <a:lstStyle/>
                    <a:p>
                      <a:r>
                        <a:rPr sz="1700" b="0">
                          <a:solidFill>
                            <a:srgbClr val="0D2B3E"/>
                          </a:solidFill>
                          <a:latin typeface="Calibri"/>
                        </a:rPr>
                        <a:t>How acidic or alkaline the water is</a:t>
                      </a:r>
                    </a:p>
                  </a:txBody>
                  <a:tcPr marL="54864" marR="54864" marT="22860" marB="22860">
                    <a:solidFill>
                      <a:srgbClr val="F4F9FB"/>
                    </a:solidFill>
                  </a:tcPr>
                </a:tc>
                <a:tc>
                  <a:txBody>
                    <a:bodyPr/>
                    <a:lstStyle/>
                    <a:p>
                      <a:r>
                        <a:rPr sz="1700" b="0">
                          <a:solidFill>
                            <a:srgbClr val="0D2B3E"/>
                          </a:solidFill>
                          <a:latin typeface="Calibri"/>
                        </a:rPr>
                        <a:t>0 to 14</a:t>
                      </a:r>
                    </a:p>
                  </a:txBody>
                  <a:tcPr marL="54864" marR="54864" marT="22860" marB="22860">
                    <a:solidFill>
                      <a:srgbClr val="F4F9FB"/>
                    </a:solidFill>
                  </a:tcPr>
                </a:tc>
              </a:tr>
              <a:tr h="585216">
                <a:tc>
                  <a:txBody>
                    <a:bodyPr/>
                    <a:lstStyle/>
                    <a:p>
                      <a:r>
                        <a:rPr sz="1700" b="0">
                          <a:solidFill>
                            <a:srgbClr val="0D2B3E"/>
                          </a:solidFill>
                          <a:latin typeface="Calibri"/>
                        </a:rPr>
                        <a:t>Turbidity</a:t>
                      </a:r>
                    </a:p>
                  </a:txBody>
                  <a:tcPr marL="54864" marR="54864" marT="22860" marB="22860">
                    <a:solidFill>
                      <a:srgbClr val="FFFFFF"/>
                    </a:solidFill>
                  </a:tcPr>
                </a:tc>
                <a:tc>
                  <a:txBody>
                    <a:bodyPr/>
                    <a:lstStyle/>
                    <a:p>
                      <a:r>
                        <a:rPr sz="1700" b="0">
                          <a:solidFill>
                            <a:srgbClr val="0D2B3E"/>
                          </a:solidFill>
                          <a:latin typeface="Calibri"/>
                        </a:rPr>
                        <a:t>NTU</a:t>
                      </a:r>
                    </a:p>
                  </a:txBody>
                  <a:tcPr marL="54864" marR="54864" marT="22860" marB="22860">
                    <a:solidFill>
                      <a:srgbClr val="FFFFFF"/>
                    </a:solidFill>
                  </a:tcPr>
                </a:tc>
                <a:tc>
                  <a:txBody>
                    <a:bodyPr/>
                    <a:lstStyle/>
                    <a:p>
                      <a:r>
                        <a:rPr sz="1700" b="0">
                          <a:solidFill>
                            <a:srgbClr val="0D2B3E"/>
                          </a:solidFill>
                          <a:latin typeface="Calibri"/>
                        </a:rPr>
                        <a:t>How cloudy the water is (suspended particles)</a:t>
                      </a:r>
                    </a:p>
                  </a:txBody>
                  <a:tcPr marL="54864" marR="54864" marT="22860" marB="22860">
                    <a:solidFill>
                      <a:srgbClr val="FFFFFF"/>
                    </a:solidFill>
                  </a:tcPr>
                </a:tc>
                <a:tc>
                  <a:txBody>
                    <a:bodyPr/>
                    <a:lstStyle/>
                    <a:p>
                      <a:r>
                        <a:rPr sz="1700" b="0">
                          <a:solidFill>
                            <a:srgbClr val="0D2B3E"/>
                          </a:solidFill>
                          <a:latin typeface="Calibri"/>
                        </a:rPr>
                        <a:t>0 to 1000</a:t>
                      </a:r>
                    </a:p>
                  </a:txBody>
                  <a:tcPr marL="54864" marR="54864" marT="22860" marB="22860">
                    <a:solidFill>
                      <a:srgbClr val="FFFFFF"/>
                    </a:solidFill>
                  </a:tcPr>
                </a:tc>
              </a:tr>
              <a:tr h="585216">
                <a:tc>
                  <a:txBody>
                    <a:bodyPr/>
                    <a:lstStyle/>
                    <a:p>
                      <a:r>
                        <a:rPr sz="1700" b="0">
                          <a:solidFill>
                            <a:srgbClr val="0D2B3E"/>
                          </a:solidFill>
                          <a:latin typeface="Calibri"/>
                        </a:rPr>
                        <a:t>TDS</a:t>
                      </a:r>
                    </a:p>
                  </a:txBody>
                  <a:tcPr marL="54864" marR="54864" marT="22860" marB="22860">
                    <a:solidFill>
                      <a:srgbClr val="F4F9FB"/>
                    </a:solidFill>
                  </a:tcPr>
                </a:tc>
                <a:tc>
                  <a:txBody>
                    <a:bodyPr/>
                    <a:lstStyle/>
                    <a:p>
                      <a:r>
                        <a:rPr sz="1700" b="0">
                          <a:solidFill>
                            <a:srgbClr val="0D2B3E"/>
                          </a:solidFill>
                          <a:latin typeface="Calibri"/>
                        </a:rPr>
                        <a:t>mg/L</a:t>
                      </a:r>
                    </a:p>
                  </a:txBody>
                  <a:tcPr marL="54864" marR="54864" marT="22860" marB="22860">
                    <a:solidFill>
                      <a:srgbClr val="F4F9FB"/>
                    </a:solidFill>
                  </a:tcPr>
                </a:tc>
                <a:tc>
                  <a:txBody>
                    <a:bodyPr/>
                    <a:lstStyle/>
                    <a:p>
                      <a:r>
                        <a:rPr sz="1700" b="0">
                          <a:solidFill>
                            <a:srgbClr val="0D2B3E"/>
                          </a:solidFill>
                          <a:latin typeface="Calibri"/>
                        </a:rPr>
                        <a:t>Dissolved minerals and salts (taste/acceptability)</a:t>
                      </a:r>
                    </a:p>
                  </a:txBody>
                  <a:tcPr marL="54864" marR="54864" marT="22860" marB="22860">
                    <a:solidFill>
                      <a:srgbClr val="F4F9FB"/>
                    </a:solidFill>
                  </a:tcPr>
                </a:tc>
                <a:tc>
                  <a:txBody>
                    <a:bodyPr/>
                    <a:lstStyle/>
                    <a:p>
                      <a:r>
                        <a:rPr sz="1700" b="0">
                          <a:solidFill>
                            <a:srgbClr val="0D2B3E"/>
                          </a:solidFill>
                          <a:latin typeface="Calibri"/>
                        </a:rPr>
                        <a:t>0 to 50000</a:t>
                      </a:r>
                    </a:p>
                  </a:txBody>
                  <a:tcPr marL="54864" marR="54864" marT="22860" marB="22860">
                    <a:solidFill>
                      <a:srgbClr val="F4F9FB"/>
                    </a:solidFill>
                  </a:tcPr>
                </a:tc>
              </a:tr>
              <a:tr h="585216">
                <a:tc>
                  <a:txBody>
                    <a:bodyPr/>
                    <a:lstStyle/>
                    <a:p>
                      <a:r>
                        <a:rPr sz="1700" b="0">
                          <a:solidFill>
                            <a:srgbClr val="0D2B3E"/>
                          </a:solidFill>
                          <a:latin typeface="Calibri"/>
                        </a:rPr>
                        <a:t>Temperature</a:t>
                      </a:r>
                    </a:p>
                  </a:txBody>
                  <a:tcPr marL="54864" marR="54864" marT="22860" marB="22860">
                    <a:solidFill>
                      <a:srgbClr val="FFFFFF"/>
                    </a:solidFill>
                  </a:tcPr>
                </a:tc>
                <a:tc>
                  <a:txBody>
                    <a:bodyPr/>
                    <a:lstStyle/>
                    <a:p>
                      <a:r>
                        <a:rPr sz="1700" b="0">
                          <a:solidFill>
                            <a:srgbClr val="0D2B3E"/>
                          </a:solidFill>
                          <a:latin typeface="Calibri"/>
                        </a:rPr>
                        <a:t>deg C</a:t>
                      </a:r>
                    </a:p>
                  </a:txBody>
                  <a:tcPr marL="54864" marR="54864" marT="22860" marB="22860">
                    <a:solidFill>
                      <a:srgbClr val="FFFFFF"/>
                    </a:solidFill>
                  </a:tcPr>
                </a:tc>
                <a:tc>
                  <a:txBody>
                    <a:bodyPr/>
                    <a:lstStyle/>
                    <a:p>
                      <a:r>
                        <a:rPr sz="1700" b="0">
                          <a:solidFill>
                            <a:srgbClr val="0D2B3E"/>
                          </a:solidFill>
                          <a:latin typeface="Calibri"/>
                        </a:rPr>
                        <a:t>Water temperature at sampling</a:t>
                      </a:r>
                    </a:p>
                  </a:txBody>
                  <a:tcPr marL="54864" marR="54864" marT="22860" marB="22860">
                    <a:solidFill>
                      <a:srgbClr val="FFFFFF"/>
                    </a:solidFill>
                  </a:tcPr>
                </a:tc>
                <a:tc>
                  <a:txBody>
                    <a:bodyPr/>
                    <a:lstStyle/>
                    <a:p>
                      <a:r>
                        <a:rPr sz="1700" b="0">
                          <a:solidFill>
                            <a:srgbClr val="0D2B3E"/>
                          </a:solidFill>
                          <a:latin typeface="Calibri"/>
                        </a:rPr>
                        <a:t>0 to 60</a:t>
                      </a:r>
                    </a:p>
                  </a:txBody>
                  <a:tcPr marL="54864" marR="54864" marT="22860" marB="22860">
                    <a:solidFill>
                      <a:srgbClr val="FFFFFF"/>
                    </a:solidFill>
                  </a:tcPr>
                </a:tc>
              </a:tr>
              <a:tr h="585216">
                <a:tc>
                  <a:txBody>
                    <a:bodyPr/>
                    <a:lstStyle/>
                    <a:p>
                      <a:r>
                        <a:rPr sz="1700" b="0">
                          <a:solidFill>
                            <a:srgbClr val="0D2B3E"/>
                          </a:solidFill>
                          <a:latin typeface="Calibri"/>
                        </a:rPr>
                        <a:t>Conductivity (optional)</a:t>
                      </a:r>
                    </a:p>
                  </a:txBody>
                  <a:tcPr marL="54864" marR="54864" marT="22860" marB="22860">
                    <a:solidFill>
                      <a:srgbClr val="F4F9FB"/>
                    </a:solidFill>
                  </a:tcPr>
                </a:tc>
                <a:tc>
                  <a:txBody>
                    <a:bodyPr/>
                    <a:lstStyle/>
                    <a:p>
                      <a:r>
                        <a:rPr sz="1700" b="0">
                          <a:solidFill>
                            <a:srgbClr val="0D2B3E"/>
                          </a:solidFill>
                          <a:latin typeface="Calibri"/>
                        </a:rPr>
                        <a:t>uS/cm</a:t>
                      </a:r>
                    </a:p>
                  </a:txBody>
                  <a:tcPr marL="54864" marR="54864" marT="22860" marB="22860">
                    <a:solidFill>
                      <a:srgbClr val="F4F9FB"/>
                    </a:solidFill>
                  </a:tcPr>
                </a:tc>
                <a:tc>
                  <a:txBody>
                    <a:bodyPr/>
                    <a:lstStyle/>
                    <a:p>
                      <a:r>
                        <a:rPr sz="1700" b="0">
                          <a:solidFill>
                            <a:srgbClr val="0D2B3E"/>
                          </a:solidFill>
                          <a:latin typeface="Calibri"/>
                        </a:rPr>
                        <a:t>How well water conducts current; tracks dissolved ions</a:t>
                      </a:r>
                    </a:p>
                  </a:txBody>
                  <a:tcPr marL="54864" marR="54864" marT="22860" marB="22860">
                    <a:solidFill>
                      <a:srgbClr val="F4F9FB"/>
                    </a:solidFill>
                  </a:tcPr>
                </a:tc>
                <a:tc>
                  <a:txBody>
                    <a:bodyPr/>
                    <a:lstStyle/>
                    <a:p>
                      <a:r>
                        <a:rPr sz="1700" b="0">
                          <a:solidFill>
                            <a:srgbClr val="0D2B3E"/>
                          </a:solidFill>
                          <a:latin typeface="Calibri"/>
                        </a:rPr>
                        <a:t>0 to 100000</a:t>
                      </a:r>
                    </a:p>
                  </a:txBody>
                  <a:tcPr marL="54864" marR="54864" marT="22860" marB="22860">
                    <a:solidFill>
                      <a:srgbClr val="F4F9FB"/>
                    </a:solidFill>
                  </a:tcPr>
                </a:tc>
              </a:tr>
              <a:tr h="585216">
                <a:tc>
                  <a:txBody>
                    <a:bodyPr/>
                    <a:lstStyle/>
                    <a:p>
                      <a:r>
                        <a:rPr sz="1700" b="0">
                          <a:solidFill>
                            <a:srgbClr val="0D2B3E"/>
                          </a:solidFill>
                          <a:latin typeface="Calibri"/>
                        </a:rPr>
                        <a:t>Dissolved oxygen (optional)</a:t>
                      </a:r>
                    </a:p>
                  </a:txBody>
                  <a:tcPr marL="54864" marR="54864" marT="22860" marB="22860">
                    <a:solidFill>
                      <a:srgbClr val="FFFFFF"/>
                    </a:solidFill>
                  </a:tcPr>
                </a:tc>
                <a:tc>
                  <a:txBody>
                    <a:bodyPr/>
                    <a:lstStyle/>
                    <a:p>
                      <a:r>
                        <a:rPr sz="1700" b="0">
                          <a:solidFill>
                            <a:srgbClr val="0D2B3E"/>
                          </a:solidFill>
                          <a:latin typeface="Calibri"/>
                        </a:rPr>
                        <a:t>mg/L</a:t>
                      </a:r>
                    </a:p>
                  </a:txBody>
                  <a:tcPr marL="54864" marR="54864" marT="22860" marB="22860">
                    <a:solidFill>
                      <a:srgbClr val="FFFFFF"/>
                    </a:solidFill>
                  </a:tcPr>
                </a:tc>
                <a:tc>
                  <a:txBody>
                    <a:bodyPr/>
                    <a:lstStyle/>
                    <a:p>
                      <a:r>
                        <a:rPr sz="1700" b="0">
                          <a:solidFill>
                            <a:srgbClr val="0D2B3E"/>
                          </a:solidFill>
                          <a:latin typeface="Calibri"/>
                        </a:rPr>
                        <a:t>Oxygen available to aquatic life (surface water)</a:t>
                      </a:r>
                    </a:p>
                  </a:txBody>
                  <a:tcPr marL="54864" marR="54864" marT="22860" marB="22860">
                    <a:solidFill>
                      <a:srgbClr val="FFFFFF"/>
                    </a:solidFill>
                  </a:tcPr>
                </a:tc>
                <a:tc>
                  <a:txBody>
                    <a:bodyPr/>
                    <a:lstStyle/>
                    <a:p>
                      <a:r>
                        <a:rPr sz="1700" b="0">
                          <a:solidFill>
                            <a:srgbClr val="0D2B3E"/>
                          </a:solidFill>
                          <a:latin typeface="Calibri"/>
                        </a:rPr>
                        <a:t>0 to 25</a:t>
                      </a:r>
                    </a:p>
                  </a:txBody>
                  <a:tcPr marL="54864" marR="54864" marT="22860" marB="22860">
                    <a:solidFill>
                      <a:srgbClr val="FFFFFF"/>
                    </a:solidFill>
                  </a:tcPr>
                </a:tc>
              </a:tr>
            </a:tbl>
          </a:graphicData>
        </a:graphic>
      </p:graphicFrame>
      <p:sp>
        <p:nvSpPr>
          <p:cNvPr id="7" name="TextBox 6"/>
          <p:cNvSpPr txBox="1"/>
          <p:nvPr/>
        </p:nvSpPr>
        <p:spPr>
          <a:xfrm>
            <a:off x="548640" y="5486400"/>
            <a:ext cx="11064240" cy="822960"/>
          </a:xfrm>
          <a:prstGeom prst="rect">
            <a:avLst/>
          </a:prstGeom>
          <a:noFill/>
        </p:spPr>
        <p:txBody>
          <a:bodyPr wrap="square" anchor="t" lIns="36576" rIns="36576" tIns="18288" bIns="18288">
            <a:spAutoFit/>
          </a:bodyPr>
          <a:lstStyle/>
          <a:p>
            <a:pPr algn="l">
              <a:spcAft>
                <a:spcPts val="800"/>
              </a:spcAft>
            </a:pPr>
            <a:r>
              <a:rPr sz="1800" b="1">
                <a:solidFill>
                  <a:srgbClr val="C75F00"/>
                </a:solidFill>
                <a:latin typeface="Calibri"/>
              </a:rPr>
              <a:t>None of these detects bacteria, viruses, arsenic, nitrate, pesticides or heavy metals.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7315200" cy="274320"/>
          </a:xfrm>
          <a:prstGeom prst="rect">
            <a:avLst/>
          </a:prstGeom>
          <a:noFill/>
        </p:spPr>
        <p:txBody>
          <a:bodyPr wrap="square" anchor="t" lIns="36576" rIns="36576" tIns="18288" bIns="18288">
            <a:spAutoFit/>
          </a:bodyPr>
          <a:lstStyle/>
          <a:p>
            <a:pPr algn="l">
              <a:spcAft>
                <a:spcPts val="800"/>
              </a:spcAft>
            </a:pPr>
            <a:r>
              <a:rPr sz="1100" b="1">
                <a:solidFill>
                  <a:srgbClr val="0B6E99"/>
                </a:solidFill>
                <a:latin typeface="Calibri"/>
              </a:rPr>
              <a:t>SCIENCE</a:t>
            </a:r>
          </a:p>
        </p:txBody>
      </p:sp>
      <p:sp>
        <p:nvSpPr>
          <p:cNvPr id="3" name="TextBox 2"/>
          <p:cNvSpPr txBox="1"/>
          <p:nvPr/>
        </p:nvSpPr>
        <p:spPr>
          <a:xfrm>
            <a:off x="548640" y="548640"/>
            <a:ext cx="11064240" cy="685800"/>
          </a:xfrm>
          <a:prstGeom prst="rect">
            <a:avLst/>
          </a:prstGeom>
          <a:noFill/>
        </p:spPr>
        <p:txBody>
          <a:bodyPr wrap="square" anchor="ctr" lIns="36576" rIns="36576" tIns="18288" bIns="18288">
            <a:spAutoFit/>
          </a:bodyPr>
          <a:lstStyle/>
          <a:p>
            <a:pPr algn="l">
              <a:spcAft>
                <a:spcPts val="800"/>
              </a:spcAft>
            </a:pPr>
            <a:r>
              <a:rPr sz="3000" b="1">
                <a:solidFill>
                  <a:srgbClr val="0B2F4A"/>
                </a:solidFill>
                <a:latin typeface="Calibri"/>
              </a:rPr>
              <a:t>Reference thresholds and scientific limitations</a:t>
            </a:r>
          </a:p>
        </p:txBody>
      </p:sp>
      <p:sp>
        <p:nvSpPr>
          <p:cNvPr id="4" name="TextBox 3"/>
          <p:cNvSpPr txBox="1"/>
          <p:nvPr/>
        </p:nvSpPr>
        <p:spPr>
          <a:xfrm>
            <a:off x="548640" y="6473952"/>
            <a:ext cx="9601200" cy="274320"/>
          </a:xfrm>
          <a:prstGeom prst="rect">
            <a:avLst/>
          </a:prstGeom>
          <a:noFill/>
        </p:spPr>
        <p:txBody>
          <a:bodyPr wrap="square" anchor="t" lIns="36576" rIns="36576" tIns="18288" bIns="18288">
            <a:spAutoFit/>
          </a:bodyPr>
          <a:lstStyle/>
          <a:p>
            <a:pPr algn="l">
              <a:spcAft>
                <a:spcPts val="800"/>
              </a:spcAft>
            </a:pPr>
            <a:r>
              <a:rPr sz="900" b="0">
                <a:solidFill>
                  <a:srgbClr val="4C5A67"/>
                </a:solidFill>
                <a:latin typeface="Calibri"/>
              </a:rPr>
              <a:t>AquaGuard AI  |  IBM academic project  |  UN SDG 6  |  Educational screening tool - not a safety certification. Not endorsed by IBM, the UN or any agency.</a:t>
            </a:r>
          </a:p>
        </p:txBody>
      </p:sp>
      <p:sp>
        <p:nvSpPr>
          <p:cNvPr id="5" name="TextBox 4"/>
          <p:cNvSpPr txBox="1"/>
          <p:nvPr/>
        </p:nvSpPr>
        <p:spPr>
          <a:xfrm>
            <a:off x="11155680" y="6473952"/>
            <a:ext cx="548640" cy="274320"/>
          </a:xfrm>
          <a:prstGeom prst="rect">
            <a:avLst/>
          </a:prstGeom>
          <a:noFill/>
        </p:spPr>
        <p:txBody>
          <a:bodyPr wrap="square" anchor="t" lIns="36576" rIns="36576" tIns="18288" bIns="18288">
            <a:spAutoFit/>
          </a:bodyPr>
          <a:lstStyle/>
          <a:p>
            <a:pPr algn="r">
              <a:spcAft>
                <a:spcPts val="800"/>
              </a:spcAft>
            </a:pPr>
            <a:r>
              <a:rPr sz="1000" b="0">
                <a:solidFill>
                  <a:srgbClr val="4C5A67"/>
                </a:solidFill>
                <a:latin typeface="Calibri"/>
              </a:rPr>
              <a:t>16</a:t>
            </a:r>
          </a:p>
        </p:txBody>
      </p:sp>
      <p:graphicFrame>
        <p:nvGraphicFramePr>
          <p:cNvPr id="6" name="Table 5"/>
          <p:cNvGraphicFramePr>
            <a:graphicFrameLocks noGrp="1"/>
          </p:cNvGraphicFramePr>
          <p:nvPr/>
        </p:nvGraphicFramePr>
        <p:xfrm>
          <a:off x="548640" y="1417320"/>
          <a:ext cx="6949440" cy="2743200"/>
        </p:xfrm>
        <a:graphic>
          <a:graphicData uri="http://schemas.openxmlformats.org/drawingml/2006/table">
            <a:tbl>
              <a:tblPr firstRow="1" bandRow="1">
                <a:tableStyleId>{5C22544A-7EE6-4342-B048-85BDC9FD1C3A}</a:tableStyleId>
              </a:tblPr>
              <a:tblGrid>
                <a:gridCol w="2560320"/>
                <a:gridCol w="1280160"/>
                <a:gridCol w="1554480"/>
                <a:gridCol w="1554480"/>
              </a:tblGrid>
              <a:tr h="548640">
                <a:tc>
                  <a:txBody>
                    <a:bodyPr/>
                    <a:lstStyle/>
                    <a:p>
                      <a:r>
                        <a:rPr sz="1600" b="1">
                          <a:solidFill>
                            <a:srgbClr val="FFFFFF"/>
                          </a:solidFill>
                          <a:latin typeface="Calibri"/>
                        </a:rPr>
                        <a:t>Profile</a:t>
                      </a:r>
                    </a:p>
                  </a:txBody>
                  <a:tcPr marL="54864" marR="54864" marT="22860" marB="22860">
                    <a:solidFill>
                      <a:srgbClr val="0B6E99"/>
                    </a:solidFill>
                  </a:tcPr>
                </a:tc>
                <a:tc>
                  <a:txBody>
                    <a:bodyPr/>
                    <a:lstStyle/>
                    <a:p>
                      <a:r>
                        <a:rPr sz="1600" b="1">
                          <a:solidFill>
                            <a:srgbClr val="FFFFFF"/>
                          </a:solidFill>
                          <a:latin typeface="Calibri"/>
                        </a:rPr>
                        <a:t>pH</a:t>
                      </a:r>
                    </a:p>
                  </a:txBody>
                  <a:tcPr marL="54864" marR="54864" marT="22860" marB="22860">
                    <a:solidFill>
                      <a:srgbClr val="0B6E99"/>
                    </a:solidFill>
                  </a:tcPr>
                </a:tc>
                <a:tc>
                  <a:txBody>
                    <a:bodyPr/>
                    <a:lstStyle/>
                    <a:p>
                      <a:r>
                        <a:rPr sz="1600" b="1">
                          <a:solidFill>
                            <a:srgbClr val="FFFFFF"/>
                          </a:solidFill>
                          <a:latin typeface="Calibri"/>
                        </a:rPr>
                        <a:t>Turbidity</a:t>
                      </a:r>
                    </a:p>
                  </a:txBody>
                  <a:tcPr marL="54864" marR="54864" marT="22860" marB="22860">
                    <a:solidFill>
                      <a:srgbClr val="0B6E99"/>
                    </a:solidFill>
                  </a:tcPr>
                </a:tc>
                <a:tc>
                  <a:txBody>
                    <a:bodyPr/>
                    <a:lstStyle/>
                    <a:p>
                      <a:r>
                        <a:rPr sz="1600" b="1">
                          <a:solidFill>
                            <a:srgbClr val="FFFFFF"/>
                          </a:solidFill>
                          <a:latin typeface="Calibri"/>
                        </a:rPr>
                        <a:t>TDS</a:t>
                      </a:r>
                    </a:p>
                  </a:txBody>
                  <a:tcPr marL="54864" marR="54864" marT="22860" marB="22860">
                    <a:solidFill>
                      <a:srgbClr val="0B6E99"/>
                    </a:solidFill>
                  </a:tcPr>
                </a:tc>
              </a:tr>
              <a:tr h="548640">
                <a:tc>
                  <a:txBody>
                    <a:bodyPr/>
                    <a:lstStyle/>
                    <a:p>
                      <a:r>
                        <a:rPr sz="1600" b="0">
                          <a:solidFill>
                            <a:srgbClr val="0D2B3E"/>
                          </a:solidFill>
                          <a:latin typeface="Calibri"/>
                        </a:rPr>
                        <a:t>BIS acceptable</a:t>
                      </a:r>
                    </a:p>
                  </a:txBody>
                  <a:tcPr marL="54864" marR="54864" marT="22860" marB="22860">
                    <a:solidFill>
                      <a:srgbClr val="F4F9FB"/>
                    </a:solidFill>
                  </a:tcPr>
                </a:tc>
                <a:tc>
                  <a:txBody>
                    <a:bodyPr/>
                    <a:lstStyle/>
                    <a:p>
                      <a:r>
                        <a:rPr sz="1600" b="0">
                          <a:solidFill>
                            <a:srgbClr val="0D2B3E"/>
                          </a:solidFill>
                          <a:latin typeface="Calibri"/>
                        </a:rPr>
                        <a:t>6.5-8.5</a:t>
                      </a:r>
                    </a:p>
                  </a:txBody>
                  <a:tcPr marL="54864" marR="54864" marT="22860" marB="22860">
                    <a:solidFill>
                      <a:srgbClr val="F4F9FB"/>
                    </a:solidFill>
                  </a:tcPr>
                </a:tc>
                <a:tc>
                  <a:txBody>
                    <a:bodyPr/>
                    <a:lstStyle/>
                    <a:p>
                      <a:r>
                        <a:rPr sz="1600" b="0">
                          <a:solidFill>
                            <a:srgbClr val="0D2B3E"/>
                          </a:solidFill>
                          <a:latin typeface="Calibri"/>
                        </a:rPr>
                        <a:t>&lt;= 1 NTU</a:t>
                      </a:r>
                    </a:p>
                  </a:txBody>
                  <a:tcPr marL="54864" marR="54864" marT="22860" marB="22860">
                    <a:solidFill>
                      <a:srgbClr val="F4F9FB"/>
                    </a:solidFill>
                  </a:tcPr>
                </a:tc>
                <a:tc>
                  <a:txBody>
                    <a:bodyPr/>
                    <a:lstStyle/>
                    <a:p>
                      <a:r>
                        <a:rPr sz="1600" b="0">
                          <a:solidFill>
                            <a:srgbClr val="0D2B3E"/>
                          </a:solidFill>
                          <a:latin typeface="Calibri"/>
                        </a:rPr>
                        <a:t>&lt;= 500 mg/L</a:t>
                      </a:r>
                    </a:p>
                  </a:txBody>
                  <a:tcPr marL="54864" marR="54864" marT="22860" marB="22860">
                    <a:solidFill>
                      <a:srgbClr val="F4F9FB"/>
                    </a:solidFill>
                  </a:tcPr>
                </a:tc>
              </a:tr>
              <a:tr h="548640">
                <a:tc>
                  <a:txBody>
                    <a:bodyPr/>
                    <a:lstStyle/>
                    <a:p>
                      <a:r>
                        <a:rPr sz="1600" b="0">
                          <a:solidFill>
                            <a:srgbClr val="0D2B3E"/>
                          </a:solidFill>
                          <a:latin typeface="Calibri"/>
                        </a:rPr>
                        <a:t>BIS permissible</a:t>
                      </a:r>
                    </a:p>
                  </a:txBody>
                  <a:tcPr marL="54864" marR="54864" marT="22860" marB="22860">
                    <a:solidFill>
                      <a:srgbClr val="FFFFFF"/>
                    </a:solidFill>
                  </a:tcPr>
                </a:tc>
                <a:tc>
                  <a:txBody>
                    <a:bodyPr/>
                    <a:lstStyle/>
                    <a:p>
                      <a:r>
                        <a:rPr sz="1600" b="0">
                          <a:solidFill>
                            <a:srgbClr val="0D2B3E"/>
                          </a:solidFill>
                          <a:latin typeface="Calibri"/>
                        </a:rPr>
                        <a:t>6.5-8.5</a:t>
                      </a:r>
                    </a:p>
                  </a:txBody>
                  <a:tcPr marL="54864" marR="54864" marT="22860" marB="22860">
                    <a:solidFill>
                      <a:srgbClr val="FFFFFF"/>
                    </a:solidFill>
                  </a:tcPr>
                </a:tc>
                <a:tc>
                  <a:txBody>
                    <a:bodyPr/>
                    <a:lstStyle/>
                    <a:p>
                      <a:r>
                        <a:rPr sz="1600" b="0">
                          <a:solidFill>
                            <a:srgbClr val="0D2B3E"/>
                          </a:solidFill>
                          <a:latin typeface="Calibri"/>
                        </a:rPr>
                        <a:t>&lt;= 5 NTU</a:t>
                      </a:r>
                    </a:p>
                  </a:txBody>
                  <a:tcPr marL="54864" marR="54864" marT="22860" marB="22860">
                    <a:solidFill>
                      <a:srgbClr val="FFFFFF"/>
                    </a:solidFill>
                  </a:tcPr>
                </a:tc>
                <a:tc>
                  <a:txBody>
                    <a:bodyPr/>
                    <a:lstStyle/>
                    <a:p>
                      <a:r>
                        <a:rPr sz="1600" b="0">
                          <a:solidFill>
                            <a:srgbClr val="0D2B3E"/>
                          </a:solidFill>
                          <a:latin typeface="Calibri"/>
                        </a:rPr>
                        <a:t>&lt;= 2000 mg/L</a:t>
                      </a:r>
                    </a:p>
                  </a:txBody>
                  <a:tcPr marL="54864" marR="54864" marT="22860" marB="22860">
                    <a:solidFill>
                      <a:srgbClr val="FFFFFF"/>
                    </a:solidFill>
                  </a:tcPr>
                </a:tc>
              </a:tr>
              <a:tr h="548640">
                <a:tc>
                  <a:txBody>
                    <a:bodyPr/>
                    <a:lstStyle/>
                    <a:p>
                      <a:r>
                        <a:rPr sz="1600" b="0">
                          <a:solidFill>
                            <a:srgbClr val="0D2B3E"/>
                          </a:solidFill>
                          <a:latin typeface="Calibri"/>
                        </a:rPr>
                        <a:t>WHO operational</a:t>
                      </a:r>
                    </a:p>
                  </a:txBody>
                  <a:tcPr marL="54864" marR="54864" marT="22860" marB="22860">
                    <a:solidFill>
                      <a:srgbClr val="F4F9FB"/>
                    </a:solidFill>
                  </a:tcPr>
                </a:tc>
                <a:tc>
                  <a:txBody>
                    <a:bodyPr/>
                    <a:lstStyle/>
                    <a:p>
                      <a:r>
                        <a:rPr sz="1600" b="0">
                          <a:solidFill>
                            <a:srgbClr val="0D2B3E"/>
                          </a:solidFill>
                          <a:latin typeface="Calibri"/>
                        </a:rPr>
                        <a:t>6.5-8.5</a:t>
                      </a:r>
                    </a:p>
                  </a:txBody>
                  <a:tcPr marL="54864" marR="54864" marT="22860" marB="22860">
                    <a:solidFill>
                      <a:srgbClr val="F4F9FB"/>
                    </a:solidFill>
                  </a:tcPr>
                </a:tc>
                <a:tc>
                  <a:txBody>
                    <a:bodyPr/>
                    <a:lstStyle/>
                    <a:p>
                      <a:r>
                        <a:rPr sz="1600" b="0">
                          <a:solidFill>
                            <a:srgbClr val="0D2B3E"/>
                          </a:solidFill>
                          <a:latin typeface="Calibri"/>
                        </a:rPr>
                        <a:t>&lt;= 1 NTU</a:t>
                      </a:r>
                    </a:p>
                  </a:txBody>
                  <a:tcPr marL="54864" marR="54864" marT="22860" marB="22860">
                    <a:solidFill>
                      <a:srgbClr val="F4F9FB"/>
                    </a:solidFill>
                  </a:tcPr>
                </a:tc>
                <a:tc>
                  <a:txBody>
                    <a:bodyPr/>
                    <a:lstStyle/>
                    <a:p>
                      <a:r>
                        <a:rPr sz="1600" b="0">
                          <a:solidFill>
                            <a:srgbClr val="0D2B3E"/>
                          </a:solidFill>
                          <a:latin typeface="Calibri"/>
                        </a:rPr>
                        <a:t>&lt;= 600 mg/L</a:t>
                      </a:r>
                    </a:p>
                  </a:txBody>
                  <a:tcPr marL="54864" marR="54864" marT="22860" marB="22860">
                    <a:solidFill>
                      <a:srgbClr val="F4F9FB"/>
                    </a:solidFill>
                  </a:tcPr>
                </a:tc>
              </a:tr>
              <a:tr h="548640">
                <a:tc>
                  <a:txBody>
                    <a:bodyPr/>
                    <a:lstStyle/>
                    <a:p>
                      <a:r>
                        <a:rPr sz="1600" b="0">
                          <a:solidFill>
                            <a:srgbClr val="0D2B3E"/>
                          </a:solidFill>
                          <a:latin typeface="Calibri"/>
                        </a:rPr>
                        <a:t>CPCB class A (surface)</a:t>
                      </a:r>
                    </a:p>
                  </a:txBody>
                  <a:tcPr marL="54864" marR="54864" marT="22860" marB="22860">
                    <a:solidFill>
                      <a:srgbClr val="FFFFFF"/>
                    </a:solidFill>
                  </a:tcPr>
                </a:tc>
                <a:tc>
                  <a:txBody>
                    <a:bodyPr/>
                    <a:lstStyle/>
                    <a:p>
                      <a:r>
                        <a:rPr sz="1600" b="0">
                          <a:solidFill>
                            <a:srgbClr val="0D2B3E"/>
                          </a:solidFill>
                          <a:latin typeface="Calibri"/>
                        </a:rPr>
                        <a:t>6.5-8.5</a:t>
                      </a:r>
                    </a:p>
                  </a:txBody>
                  <a:tcPr marL="54864" marR="54864" marT="22860" marB="22860">
                    <a:solidFill>
                      <a:srgbClr val="FFFFFF"/>
                    </a:solidFill>
                  </a:tcPr>
                </a:tc>
                <a:tc>
                  <a:txBody>
                    <a:bodyPr/>
                    <a:lstStyle/>
                    <a:p>
                      <a:r>
                        <a:rPr sz="1600" b="0">
                          <a:solidFill>
                            <a:srgbClr val="0D2B3E"/>
                          </a:solidFill>
                          <a:latin typeface="Calibri"/>
                        </a:rPr>
                        <a:t>(DO &gt;= 6 mg/L)</a:t>
                      </a:r>
                    </a:p>
                  </a:txBody>
                  <a:tcPr marL="54864" marR="54864" marT="22860" marB="22860">
                    <a:solidFill>
                      <a:srgbClr val="FFFFFF"/>
                    </a:solidFill>
                  </a:tcPr>
                </a:tc>
                <a:tc>
                  <a:txBody>
                    <a:bodyPr/>
                    <a:lstStyle/>
                    <a:p>
                      <a:r>
                        <a:rPr sz="1600" b="0">
                          <a:solidFill>
                            <a:srgbClr val="0D2B3E"/>
                          </a:solidFill>
                          <a:latin typeface="Calibri"/>
                        </a:rPr>
                        <a:t>&lt;= 500 mg/L</a:t>
                      </a:r>
                    </a:p>
                  </a:txBody>
                  <a:tcPr marL="54864" marR="54864" marT="22860" marB="22860">
                    <a:solidFill>
                      <a:srgbClr val="FFFFFF"/>
                    </a:solidFill>
                  </a:tcPr>
                </a:tc>
              </a:tr>
            </a:tbl>
          </a:graphicData>
        </a:graphic>
      </p:graphicFrame>
      <p:sp>
        <p:nvSpPr>
          <p:cNvPr id="7" name="TextBox 6"/>
          <p:cNvSpPr txBox="1"/>
          <p:nvPr/>
        </p:nvSpPr>
        <p:spPr>
          <a:xfrm>
            <a:off x="548640" y="4114800"/>
            <a:ext cx="6949440" cy="2194560"/>
          </a:xfrm>
          <a:prstGeom prst="rect">
            <a:avLst/>
          </a:prstGeom>
          <a:noFill/>
        </p:spPr>
        <p:txBody>
          <a:bodyPr wrap="square" anchor="t" lIns="36576" rIns="36576" tIns="18288" bIns="18288">
            <a:spAutoFit/>
          </a:bodyPr>
          <a:lstStyle/>
          <a:p>
            <a:pPr algn="l" marL="300000" indent="-300000">
              <a:spcAft>
                <a:spcPts val="800"/>
              </a:spcAft>
              <a:buChar char="•"/>
            </a:pPr>
            <a:r>
              <a:rPr sz="1700" b="0">
                <a:solidFill>
                  <a:srgbClr val="0D2B3E"/>
                </a:solidFill>
                <a:latin typeface="Calibri"/>
              </a:rPr>
              <a:t>All values: UNVERIFIED (entered offline).</a:t>
            </a:r>
          </a:p>
          <a:p>
            <a:pPr algn="l" marL="300000" indent="-300000">
              <a:spcAft>
                <a:spcPts val="800"/>
              </a:spcAft>
              <a:buChar char="•"/>
            </a:pPr>
            <a:r>
              <a:rPr sz="1700" b="0">
                <a:solidFill>
                  <a:srgbClr val="0D2B3E"/>
                </a:solidFill>
                <a:latin typeface="Calibri"/>
              </a:rPr>
              <a:t>Criterion types: health-based, aesthetic/operational, environmental indicator.</a:t>
            </a:r>
          </a:p>
          <a:p>
            <a:pPr algn="l" marL="300000" indent="-300000">
              <a:spcAft>
                <a:spcPts val="800"/>
              </a:spcAft>
              <a:buChar char="•"/>
            </a:pPr>
            <a:r>
              <a:rPr sz="1700" b="0">
                <a:solidFill>
                  <a:srgbClr val="0D2B3E"/>
                </a:solidFill>
                <a:latin typeface="Calibri"/>
              </a:rPr>
              <a:t>Limits are inclusive; the active profile is always visible.</a:t>
            </a:r>
          </a:p>
        </p:txBody>
      </p:sp>
      <p:sp>
        <p:nvSpPr>
          <p:cNvPr id="8" name="Rounded Rectangle 7"/>
          <p:cNvSpPr/>
          <p:nvPr/>
        </p:nvSpPr>
        <p:spPr>
          <a:xfrm>
            <a:off x="7772400" y="1417320"/>
            <a:ext cx="3840480" cy="4846320"/>
          </a:xfrm>
          <a:prstGeom prst="roundRect">
            <a:avLst>
              <a:gd name="adj" fmla="val 5000"/>
            </a:avLst>
          </a:prstGeom>
          <a:solidFill>
            <a:srgbClr val="FF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36992" y="1527048"/>
            <a:ext cx="3511296" cy="457200"/>
          </a:xfrm>
          <a:prstGeom prst="rect">
            <a:avLst/>
          </a:prstGeom>
          <a:noFill/>
        </p:spPr>
        <p:txBody>
          <a:bodyPr wrap="square" anchor="t" lIns="36576" rIns="36576" tIns="18288" bIns="18288">
            <a:spAutoFit/>
          </a:bodyPr>
          <a:lstStyle/>
          <a:p>
            <a:pPr algn="l">
              <a:spcAft>
                <a:spcPts val="800"/>
              </a:spcAft>
            </a:pPr>
            <a:r>
              <a:rPr sz="1700" b="1">
                <a:solidFill>
                  <a:srgbClr val="C75F00"/>
                </a:solidFill>
                <a:latin typeface="Calibri"/>
              </a:rPr>
              <a:t>Scientific limitations</a:t>
            </a:r>
          </a:p>
        </p:txBody>
      </p:sp>
      <p:sp>
        <p:nvSpPr>
          <p:cNvPr id="10" name="TextBox 9"/>
          <p:cNvSpPr txBox="1"/>
          <p:nvPr/>
        </p:nvSpPr>
        <p:spPr>
          <a:xfrm>
            <a:off x="7936992" y="1984248"/>
            <a:ext cx="3511296" cy="4206240"/>
          </a:xfrm>
          <a:prstGeom prst="rect">
            <a:avLst/>
          </a:prstGeom>
          <a:noFill/>
        </p:spPr>
        <p:txBody>
          <a:bodyPr wrap="square" anchor="t" lIns="36576" rIns="36576" tIns="18288" bIns="18288">
            <a:spAutoFit/>
          </a:bodyPr>
          <a:lstStyle/>
          <a:p>
            <a:pPr algn="l" marL="300000" indent="-300000">
              <a:spcAft>
                <a:spcPts val="800"/>
              </a:spcAft>
              <a:buChar char="•"/>
            </a:pPr>
            <a:r>
              <a:rPr sz="1700" b="0">
                <a:solidFill>
                  <a:srgbClr val="0D2B3E"/>
                </a:solidFill>
                <a:latin typeface="Calibri"/>
              </a:rPr>
              <a:t>Screening cannot establish potability</a:t>
            </a:r>
          </a:p>
          <a:p>
            <a:pPr algn="l" marL="300000" indent="-300000">
              <a:spcAft>
                <a:spcPts val="800"/>
              </a:spcAft>
              <a:buChar char="•"/>
            </a:pPr>
            <a:r>
              <a:rPr sz="1700" b="0">
                <a:solidFill>
                  <a:srgbClr val="0D2B3E"/>
                </a:solidFill>
                <a:latin typeface="Calibri"/>
              </a:rPr>
              <a:t>Microbial and toxic hazards are invisible</a:t>
            </a:r>
          </a:p>
          <a:p>
            <a:pPr algn="l" marL="300000" indent="-300000">
              <a:spcAft>
                <a:spcPts val="800"/>
              </a:spcAft>
              <a:buChar char="•"/>
            </a:pPr>
            <a:r>
              <a:rPr sz="1700" b="0">
                <a:solidFill>
                  <a:srgbClr val="0D2B3E"/>
                </a:solidFill>
                <a:latin typeface="Calibri"/>
              </a:rPr>
              <a:t>Sampling and instrument errors are not detected</a:t>
            </a:r>
          </a:p>
          <a:p>
            <a:pPr algn="l" marL="300000" indent="-300000">
              <a:spcAft>
                <a:spcPts val="800"/>
              </a:spcAft>
              <a:buChar char="•"/>
            </a:pPr>
            <a:r>
              <a:rPr sz="1700" b="0">
                <a:solidFill>
                  <a:srgbClr val="0D2B3E"/>
                </a:solidFill>
                <a:latin typeface="Calibri"/>
              </a:rPr>
              <a:t>Thresholds depend on use and jurisdiction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7315200" cy="274320"/>
          </a:xfrm>
          <a:prstGeom prst="rect">
            <a:avLst/>
          </a:prstGeom>
          <a:noFill/>
        </p:spPr>
        <p:txBody>
          <a:bodyPr wrap="square" anchor="t" lIns="36576" rIns="36576" tIns="18288" bIns="18288">
            <a:spAutoFit/>
          </a:bodyPr>
          <a:lstStyle/>
          <a:p>
            <a:pPr algn="l">
              <a:spcAft>
                <a:spcPts val="800"/>
              </a:spcAft>
            </a:pPr>
            <a:r>
              <a:rPr sz="1100" b="1">
                <a:solidFill>
                  <a:srgbClr val="0B6E99"/>
                </a:solidFill>
                <a:latin typeface="Calibri"/>
              </a:rPr>
              <a:t>METHOD</a:t>
            </a:r>
          </a:p>
        </p:txBody>
      </p:sp>
      <p:sp>
        <p:nvSpPr>
          <p:cNvPr id="3" name="TextBox 2"/>
          <p:cNvSpPr txBox="1"/>
          <p:nvPr/>
        </p:nvSpPr>
        <p:spPr>
          <a:xfrm>
            <a:off x="548640" y="548640"/>
            <a:ext cx="11064240" cy="685800"/>
          </a:xfrm>
          <a:prstGeom prst="rect">
            <a:avLst/>
          </a:prstGeom>
          <a:noFill/>
        </p:spPr>
        <p:txBody>
          <a:bodyPr wrap="square" anchor="ctr" lIns="36576" rIns="36576" tIns="18288" bIns="18288">
            <a:spAutoFit/>
          </a:bodyPr>
          <a:lstStyle/>
          <a:p>
            <a:pPr algn="l">
              <a:spcAft>
                <a:spcPts val="800"/>
              </a:spcAft>
            </a:pPr>
            <a:r>
              <a:rPr sz="3000" b="1">
                <a:solidFill>
                  <a:srgbClr val="0B2F4A"/>
                </a:solidFill>
                <a:latin typeface="Calibri"/>
              </a:rPr>
              <a:t>Screening algorithm, step by step</a:t>
            </a:r>
          </a:p>
        </p:txBody>
      </p:sp>
      <p:sp>
        <p:nvSpPr>
          <p:cNvPr id="4" name="TextBox 3"/>
          <p:cNvSpPr txBox="1"/>
          <p:nvPr/>
        </p:nvSpPr>
        <p:spPr>
          <a:xfrm>
            <a:off x="548640" y="6473952"/>
            <a:ext cx="9601200" cy="274320"/>
          </a:xfrm>
          <a:prstGeom prst="rect">
            <a:avLst/>
          </a:prstGeom>
          <a:noFill/>
        </p:spPr>
        <p:txBody>
          <a:bodyPr wrap="square" anchor="t" lIns="36576" rIns="36576" tIns="18288" bIns="18288">
            <a:spAutoFit/>
          </a:bodyPr>
          <a:lstStyle/>
          <a:p>
            <a:pPr algn="l">
              <a:spcAft>
                <a:spcPts val="800"/>
              </a:spcAft>
            </a:pPr>
            <a:r>
              <a:rPr sz="900" b="0">
                <a:solidFill>
                  <a:srgbClr val="4C5A67"/>
                </a:solidFill>
                <a:latin typeface="Calibri"/>
              </a:rPr>
              <a:t>AquaGuard AI  |  IBM academic project  |  UN SDG 6  |  Educational screening tool - not a safety certification. Not endorsed by IBM, the UN or any agency.</a:t>
            </a:r>
          </a:p>
        </p:txBody>
      </p:sp>
      <p:sp>
        <p:nvSpPr>
          <p:cNvPr id="5" name="TextBox 4"/>
          <p:cNvSpPr txBox="1"/>
          <p:nvPr/>
        </p:nvSpPr>
        <p:spPr>
          <a:xfrm>
            <a:off x="11155680" y="6473952"/>
            <a:ext cx="548640" cy="274320"/>
          </a:xfrm>
          <a:prstGeom prst="rect">
            <a:avLst/>
          </a:prstGeom>
          <a:noFill/>
        </p:spPr>
        <p:txBody>
          <a:bodyPr wrap="square" anchor="t" lIns="36576" rIns="36576" tIns="18288" bIns="18288">
            <a:spAutoFit/>
          </a:bodyPr>
          <a:lstStyle/>
          <a:p>
            <a:pPr algn="r">
              <a:spcAft>
                <a:spcPts val="800"/>
              </a:spcAft>
            </a:pPr>
            <a:r>
              <a:rPr sz="1000" b="0">
                <a:solidFill>
                  <a:srgbClr val="4C5A67"/>
                </a:solidFill>
                <a:latin typeface="Calibri"/>
              </a:rPr>
              <a:t>17</a:t>
            </a:r>
          </a:p>
        </p:txBody>
      </p:sp>
      <p:sp>
        <p:nvSpPr>
          <p:cNvPr id="6" name="Rounded Rectangle 5"/>
          <p:cNvSpPr/>
          <p:nvPr/>
        </p:nvSpPr>
        <p:spPr>
          <a:xfrm>
            <a:off x="548640" y="1645920"/>
            <a:ext cx="2057400" cy="2468880"/>
          </a:xfrm>
          <a:prstGeom prst="roundRect">
            <a:avLst>
              <a:gd name="adj" fmla="val 5000"/>
            </a:avLst>
          </a:prstGeom>
          <a:solidFill>
            <a:srgbClr val="E4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755648"/>
            <a:ext cx="1728216" cy="457200"/>
          </a:xfrm>
          <a:prstGeom prst="rect">
            <a:avLst/>
          </a:prstGeom>
          <a:noFill/>
        </p:spPr>
        <p:txBody>
          <a:bodyPr wrap="square" anchor="t" lIns="36576" rIns="36576" tIns="18288" bIns="18288">
            <a:spAutoFit/>
          </a:bodyPr>
          <a:lstStyle/>
          <a:p>
            <a:pPr algn="l">
              <a:spcAft>
                <a:spcPts val="800"/>
              </a:spcAft>
            </a:pPr>
            <a:r>
              <a:rPr sz="1700" b="1">
                <a:solidFill>
                  <a:srgbClr val="0B6E99"/>
                </a:solidFill>
                <a:latin typeface="Calibri"/>
              </a:rPr>
              <a:t>1 Validate</a:t>
            </a:r>
          </a:p>
        </p:txBody>
      </p:sp>
      <p:sp>
        <p:nvSpPr>
          <p:cNvPr id="8" name="TextBox 7"/>
          <p:cNvSpPr txBox="1"/>
          <p:nvPr/>
        </p:nvSpPr>
        <p:spPr>
          <a:xfrm>
            <a:off x="713232" y="2212848"/>
            <a:ext cx="1728216" cy="1828800"/>
          </a:xfrm>
          <a:prstGeom prst="rect">
            <a:avLst/>
          </a:prstGeom>
          <a:noFill/>
        </p:spPr>
        <p:txBody>
          <a:bodyPr wrap="square" anchor="t" lIns="36576" rIns="36576" tIns="18288" bIns="18288">
            <a:spAutoFit/>
          </a:bodyPr>
          <a:lstStyle/>
          <a:p>
            <a:pPr algn="l">
              <a:spcAft>
                <a:spcPts val="800"/>
              </a:spcAft>
            </a:pPr>
            <a:r>
              <a:rPr sz="1600" b="0">
                <a:solidFill>
                  <a:srgbClr val="0D2B3E"/>
                </a:solidFill>
                <a:latin typeface="Calibri"/>
              </a:rPr>
              <a:t>Bad or incomplete data -&gt; Invalid record</a:t>
            </a:r>
          </a:p>
        </p:txBody>
      </p:sp>
      <p:sp>
        <p:nvSpPr>
          <p:cNvPr id="9" name="TextBox 8"/>
          <p:cNvSpPr txBox="1"/>
          <p:nvPr/>
        </p:nvSpPr>
        <p:spPr>
          <a:xfrm>
            <a:off x="2578608" y="2560320"/>
            <a:ext cx="274320" cy="457200"/>
          </a:xfrm>
          <a:prstGeom prst="rect">
            <a:avLst/>
          </a:prstGeom>
          <a:noFill/>
        </p:spPr>
        <p:txBody>
          <a:bodyPr wrap="square" anchor="t" lIns="36576" rIns="36576" tIns="18288" bIns="18288">
            <a:spAutoFit/>
          </a:bodyPr>
          <a:lstStyle/>
          <a:p>
            <a:pPr algn="l">
              <a:spcAft>
                <a:spcPts val="800"/>
              </a:spcAft>
            </a:pPr>
            <a:r>
              <a:rPr sz="1400" b="0">
                <a:solidFill>
                  <a:srgbClr val="0B6E99"/>
                </a:solidFill>
                <a:latin typeface="Calibri"/>
              </a:rPr>
              <a:t>▶</a:t>
            </a:r>
          </a:p>
        </p:txBody>
      </p:sp>
      <p:sp>
        <p:nvSpPr>
          <p:cNvPr id="10" name="Rounded Rectangle 9"/>
          <p:cNvSpPr/>
          <p:nvPr/>
        </p:nvSpPr>
        <p:spPr>
          <a:xfrm>
            <a:off x="2788920" y="1645920"/>
            <a:ext cx="2057400" cy="2468880"/>
          </a:xfrm>
          <a:prstGeom prst="roundRect">
            <a:avLst>
              <a:gd name="adj" fmla="val 5000"/>
            </a:avLst>
          </a:prstGeom>
          <a:solidFill>
            <a:srgbClr val="E4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53512" y="1755648"/>
            <a:ext cx="1728216" cy="457200"/>
          </a:xfrm>
          <a:prstGeom prst="rect">
            <a:avLst/>
          </a:prstGeom>
          <a:noFill/>
        </p:spPr>
        <p:txBody>
          <a:bodyPr wrap="square" anchor="t" lIns="36576" rIns="36576" tIns="18288" bIns="18288">
            <a:spAutoFit/>
          </a:bodyPr>
          <a:lstStyle/>
          <a:p>
            <a:pPr algn="l">
              <a:spcAft>
                <a:spcPts val="800"/>
              </a:spcAft>
            </a:pPr>
            <a:r>
              <a:rPr sz="1700" b="1">
                <a:solidFill>
                  <a:srgbClr val="0B6E99"/>
                </a:solidFill>
                <a:latin typeface="Calibri"/>
              </a:rPr>
              <a:t>2 Select</a:t>
            </a:r>
          </a:p>
        </p:txBody>
      </p:sp>
      <p:sp>
        <p:nvSpPr>
          <p:cNvPr id="12" name="TextBox 11"/>
          <p:cNvSpPr txBox="1"/>
          <p:nvPr/>
        </p:nvSpPr>
        <p:spPr>
          <a:xfrm>
            <a:off x="2953512" y="2212848"/>
            <a:ext cx="1728216" cy="1828800"/>
          </a:xfrm>
          <a:prstGeom prst="rect">
            <a:avLst/>
          </a:prstGeom>
          <a:noFill/>
        </p:spPr>
        <p:txBody>
          <a:bodyPr wrap="square" anchor="t" lIns="36576" rIns="36576" tIns="18288" bIns="18288">
            <a:spAutoFit/>
          </a:bodyPr>
          <a:lstStyle/>
          <a:p>
            <a:pPr algn="l">
              <a:spcAft>
                <a:spcPts val="800"/>
              </a:spcAft>
            </a:pPr>
            <a:r>
              <a:rPr sz="1600" b="0">
                <a:solidFill>
                  <a:srgbClr val="0D2B3E"/>
                </a:solidFill>
                <a:latin typeface="Calibri"/>
              </a:rPr>
              <a:t>Use parameters in the active profile that the sample has</a:t>
            </a:r>
          </a:p>
        </p:txBody>
      </p:sp>
      <p:sp>
        <p:nvSpPr>
          <p:cNvPr id="13" name="TextBox 12"/>
          <p:cNvSpPr txBox="1"/>
          <p:nvPr/>
        </p:nvSpPr>
        <p:spPr>
          <a:xfrm>
            <a:off x="4818888" y="2560320"/>
            <a:ext cx="274320" cy="457200"/>
          </a:xfrm>
          <a:prstGeom prst="rect">
            <a:avLst/>
          </a:prstGeom>
          <a:noFill/>
        </p:spPr>
        <p:txBody>
          <a:bodyPr wrap="square" anchor="t" lIns="36576" rIns="36576" tIns="18288" bIns="18288">
            <a:spAutoFit/>
          </a:bodyPr>
          <a:lstStyle/>
          <a:p>
            <a:pPr algn="l">
              <a:spcAft>
                <a:spcPts val="800"/>
              </a:spcAft>
            </a:pPr>
            <a:r>
              <a:rPr sz="1400" b="0">
                <a:solidFill>
                  <a:srgbClr val="0B6E99"/>
                </a:solidFill>
                <a:latin typeface="Calibri"/>
              </a:rPr>
              <a:t>▶</a:t>
            </a:r>
          </a:p>
        </p:txBody>
      </p:sp>
      <p:sp>
        <p:nvSpPr>
          <p:cNvPr id="14" name="Rounded Rectangle 13"/>
          <p:cNvSpPr/>
          <p:nvPr/>
        </p:nvSpPr>
        <p:spPr>
          <a:xfrm>
            <a:off x="5029200" y="1645920"/>
            <a:ext cx="2057400" cy="2468880"/>
          </a:xfrm>
          <a:prstGeom prst="roundRect">
            <a:avLst>
              <a:gd name="adj" fmla="val 5000"/>
            </a:avLst>
          </a:prstGeom>
          <a:solidFill>
            <a:srgbClr val="E4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93792" y="1755648"/>
            <a:ext cx="1728216" cy="457200"/>
          </a:xfrm>
          <a:prstGeom prst="rect">
            <a:avLst/>
          </a:prstGeom>
          <a:noFill/>
        </p:spPr>
        <p:txBody>
          <a:bodyPr wrap="square" anchor="t" lIns="36576" rIns="36576" tIns="18288" bIns="18288">
            <a:spAutoFit/>
          </a:bodyPr>
          <a:lstStyle/>
          <a:p>
            <a:pPr algn="l">
              <a:spcAft>
                <a:spcPts val="800"/>
              </a:spcAft>
            </a:pPr>
            <a:r>
              <a:rPr sz="1700" b="1">
                <a:solidFill>
                  <a:srgbClr val="0B6E99"/>
                </a:solidFill>
                <a:latin typeface="Calibri"/>
              </a:rPr>
              <a:t>3 Compare</a:t>
            </a:r>
          </a:p>
        </p:txBody>
      </p:sp>
      <p:sp>
        <p:nvSpPr>
          <p:cNvPr id="16" name="TextBox 15"/>
          <p:cNvSpPr txBox="1"/>
          <p:nvPr/>
        </p:nvSpPr>
        <p:spPr>
          <a:xfrm>
            <a:off x="5193792" y="2212848"/>
            <a:ext cx="1728216" cy="1828800"/>
          </a:xfrm>
          <a:prstGeom prst="rect">
            <a:avLst/>
          </a:prstGeom>
          <a:noFill/>
        </p:spPr>
        <p:txBody>
          <a:bodyPr wrap="square" anchor="t" lIns="36576" rIns="36576" tIns="18288" bIns="18288">
            <a:spAutoFit/>
          </a:bodyPr>
          <a:lstStyle/>
          <a:p>
            <a:pPr algn="l">
              <a:spcAft>
                <a:spcPts val="800"/>
              </a:spcAft>
            </a:pPr>
            <a:r>
              <a:rPr sz="1600" b="0">
                <a:solidFill>
                  <a:srgbClr val="0D2B3E"/>
                </a:solidFill>
                <a:latin typeface="Calibri"/>
              </a:rPr>
              <a:t>Inclusive limits: a value on the limit is within range</a:t>
            </a:r>
          </a:p>
        </p:txBody>
      </p:sp>
      <p:sp>
        <p:nvSpPr>
          <p:cNvPr id="17" name="TextBox 16"/>
          <p:cNvSpPr txBox="1"/>
          <p:nvPr/>
        </p:nvSpPr>
        <p:spPr>
          <a:xfrm>
            <a:off x="7059168" y="2560320"/>
            <a:ext cx="274320" cy="457200"/>
          </a:xfrm>
          <a:prstGeom prst="rect">
            <a:avLst/>
          </a:prstGeom>
          <a:noFill/>
        </p:spPr>
        <p:txBody>
          <a:bodyPr wrap="square" anchor="t" lIns="36576" rIns="36576" tIns="18288" bIns="18288">
            <a:spAutoFit/>
          </a:bodyPr>
          <a:lstStyle/>
          <a:p>
            <a:pPr algn="l">
              <a:spcAft>
                <a:spcPts val="800"/>
              </a:spcAft>
            </a:pPr>
            <a:r>
              <a:rPr sz="1400" b="0">
                <a:solidFill>
                  <a:srgbClr val="0B6E99"/>
                </a:solidFill>
                <a:latin typeface="Calibri"/>
              </a:rPr>
              <a:t>▶</a:t>
            </a:r>
          </a:p>
        </p:txBody>
      </p:sp>
      <p:sp>
        <p:nvSpPr>
          <p:cNvPr id="18" name="Rounded Rectangle 17"/>
          <p:cNvSpPr/>
          <p:nvPr/>
        </p:nvSpPr>
        <p:spPr>
          <a:xfrm>
            <a:off x="7269480" y="1645920"/>
            <a:ext cx="2057400" cy="2468880"/>
          </a:xfrm>
          <a:prstGeom prst="roundRect">
            <a:avLst>
              <a:gd name="adj" fmla="val 5000"/>
            </a:avLst>
          </a:prstGeom>
          <a:solidFill>
            <a:srgbClr val="E4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34072" y="1755648"/>
            <a:ext cx="1728216" cy="457200"/>
          </a:xfrm>
          <a:prstGeom prst="rect">
            <a:avLst/>
          </a:prstGeom>
          <a:noFill/>
        </p:spPr>
        <p:txBody>
          <a:bodyPr wrap="square" anchor="t" lIns="36576" rIns="36576" tIns="18288" bIns="18288">
            <a:spAutoFit/>
          </a:bodyPr>
          <a:lstStyle/>
          <a:p>
            <a:pPr algn="l">
              <a:spcAft>
                <a:spcPts val="800"/>
              </a:spcAft>
            </a:pPr>
            <a:r>
              <a:rPr sz="1700" b="1">
                <a:solidFill>
                  <a:srgbClr val="0B6E99"/>
                </a:solidFill>
                <a:latin typeface="Calibri"/>
              </a:rPr>
              <a:t>4 Count</a:t>
            </a:r>
          </a:p>
        </p:txBody>
      </p:sp>
      <p:sp>
        <p:nvSpPr>
          <p:cNvPr id="20" name="TextBox 19"/>
          <p:cNvSpPr txBox="1"/>
          <p:nvPr/>
        </p:nvSpPr>
        <p:spPr>
          <a:xfrm>
            <a:off x="7434072" y="2212848"/>
            <a:ext cx="1728216" cy="1828800"/>
          </a:xfrm>
          <a:prstGeom prst="rect">
            <a:avLst/>
          </a:prstGeom>
          <a:noFill/>
        </p:spPr>
        <p:txBody>
          <a:bodyPr wrap="square" anchor="t" lIns="36576" rIns="36576" tIns="18288" bIns="18288">
            <a:spAutoFit/>
          </a:bodyPr>
          <a:lstStyle/>
          <a:p>
            <a:pPr algn="l">
              <a:spcAft>
                <a:spcPts val="800"/>
              </a:spcAft>
            </a:pPr>
            <a:r>
              <a:rPr sz="1600" b="0">
                <a:solidFill>
                  <a:srgbClr val="0D2B3E"/>
                </a:solidFill>
                <a:latin typeface="Calibri"/>
              </a:rPr>
              <a:t>Fewer than 2 profile parameters -&gt; Insufficient data</a:t>
            </a:r>
          </a:p>
        </p:txBody>
      </p:sp>
      <p:sp>
        <p:nvSpPr>
          <p:cNvPr id="21" name="TextBox 20"/>
          <p:cNvSpPr txBox="1"/>
          <p:nvPr/>
        </p:nvSpPr>
        <p:spPr>
          <a:xfrm>
            <a:off x="9299448" y="2560320"/>
            <a:ext cx="274320" cy="457200"/>
          </a:xfrm>
          <a:prstGeom prst="rect">
            <a:avLst/>
          </a:prstGeom>
          <a:noFill/>
        </p:spPr>
        <p:txBody>
          <a:bodyPr wrap="square" anchor="t" lIns="36576" rIns="36576" tIns="18288" bIns="18288">
            <a:spAutoFit/>
          </a:bodyPr>
          <a:lstStyle/>
          <a:p>
            <a:pPr algn="l">
              <a:spcAft>
                <a:spcPts val="800"/>
              </a:spcAft>
            </a:pPr>
            <a:r>
              <a:rPr sz="1400" b="0">
                <a:solidFill>
                  <a:srgbClr val="0B6E99"/>
                </a:solidFill>
                <a:latin typeface="Calibri"/>
              </a:rPr>
              <a:t>▶</a:t>
            </a:r>
          </a:p>
        </p:txBody>
      </p:sp>
      <p:sp>
        <p:nvSpPr>
          <p:cNvPr id="22" name="Rounded Rectangle 21"/>
          <p:cNvSpPr/>
          <p:nvPr/>
        </p:nvSpPr>
        <p:spPr>
          <a:xfrm>
            <a:off x="9509760" y="1645920"/>
            <a:ext cx="2057400" cy="2468880"/>
          </a:xfrm>
          <a:prstGeom prst="roundRect">
            <a:avLst>
              <a:gd name="adj" fmla="val 5000"/>
            </a:avLst>
          </a:prstGeom>
          <a:solidFill>
            <a:srgbClr val="E4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74352" y="1755648"/>
            <a:ext cx="1728216" cy="457200"/>
          </a:xfrm>
          <a:prstGeom prst="rect">
            <a:avLst/>
          </a:prstGeom>
          <a:noFill/>
        </p:spPr>
        <p:txBody>
          <a:bodyPr wrap="square" anchor="t" lIns="36576" rIns="36576" tIns="18288" bIns="18288">
            <a:spAutoFit/>
          </a:bodyPr>
          <a:lstStyle/>
          <a:p>
            <a:pPr algn="l">
              <a:spcAft>
                <a:spcPts val="800"/>
              </a:spcAft>
            </a:pPr>
            <a:r>
              <a:rPr sz="1700" b="1">
                <a:solidFill>
                  <a:srgbClr val="0B6E99"/>
                </a:solidFill>
                <a:latin typeface="Calibri"/>
              </a:rPr>
              <a:t>5 Explain</a:t>
            </a:r>
          </a:p>
        </p:txBody>
      </p:sp>
      <p:sp>
        <p:nvSpPr>
          <p:cNvPr id="24" name="TextBox 23"/>
          <p:cNvSpPr txBox="1"/>
          <p:nvPr/>
        </p:nvSpPr>
        <p:spPr>
          <a:xfrm>
            <a:off x="9674352" y="2212848"/>
            <a:ext cx="1728216" cy="1828800"/>
          </a:xfrm>
          <a:prstGeom prst="rect">
            <a:avLst/>
          </a:prstGeom>
          <a:noFill/>
        </p:spPr>
        <p:txBody>
          <a:bodyPr wrap="square" anchor="t" lIns="36576" rIns="36576" tIns="18288" bIns="18288">
            <a:spAutoFit/>
          </a:bodyPr>
          <a:lstStyle/>
          <a:p>
            <a:pPr algn="l">
              <a:spcAft>
                <a:spcPts val="800"/>
              </a:spcAft>
            </a:pPr>
            <a:r>
              <a:rPr sz="1600" b="0">
                <a:solidFill>
                  <a:srgbClr val="0D2B3E"/>
                </a:solidFill>
                <a:latin typeface="Calibri"/>
              </a:rPr>
              <a:t>Value, unit, range, source, status, reason, next step</a:t>
            </a:r>
          </a:p>
        </p:txBody>
      </p:sp>
      <p:sp>
        <p:nvSpPr>
          <p:cNvPr id="25" name="Rounded Rectangle 24"/>
          <p:cNvSpPr/>
          <p:nvPr/>
        </p:nvSpPr>
        <p:spPr>
          <a:xfrm>
            <a:off x="548640" y="4480560"/>
            <a:ext cx="11064240" cy="1645920"/>
          </a:xfrm>
          <a:prstGeom prst="roundRect">
            <a:avLst>
              <a:gd name="adj" fmla="val 5000"/>
            </a:avLst>
          </a:prstGeom>
          <a:solidFill>
            <a:srgbClr val="E4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572000"/>
            <a:ext cx="10698480" cy="1554480"/>
          </a:xfrm>
          <a:prstGeom prst="rect">
            <a:avLst/>
          </a:prstGeom>
          <a:noFill/>
        </p:spPr>
        <p:txBody>
          <a:bodyPr wrap="square" anchor="t" lIns="36576" rIns="36576" tIns="18288" bIns="18288">
            <a:spAutoFit/>
          </a:bodyPr>
          <a:lstStyle/>
          <a:p>
            <a:pPr algn="l" marL="300000" indent="-300000">
              <a:spcAft>
                <a:spcPts val="500"/>
              </a:spcAft>
              <a:buChar char="•"/>
            </a:pPr>
            <a:r>
              <a:rPr sz="1600" b="0">
                <a:solidFill>
                  <a:srgbClr val="0D2B3E"/>
                </a:solidFill>
                <a:latin typeface="Calibri"/>
              </a:rPr>
              <a:t>Four outcomes: Within configured range | Flagged for review | Insufficient data | Invalid record.</a:t>
            </a:r>
          </a:p>
          <a:p>
            <a:pPr algn="l" marL="300000" indent="-300000">
              <a:spcAft>
                <a:spcPts val="500"/>
              </a:spcAft>
              <a:buChar char="•"/>
            </a:pPr>
            <a:r>
              <a:rPr sz="1600" b="0">
                <a:solidFill>
                  <a:srgbClr val="0D2B3E"/>
                </a:solidFill>
                <a:latin typeface="Calibri"/>
              </a:rPr>
              <a:t>Fixed wording: "No configured threshold exceedances detected" and "This result does not establish drinking-water safety."</a:t>
            </a:r>
          </a:p>
          <a:p>
            <a:pPr algn="l" marL="300000" indent="-300000">
              <a:spcAft>
                <a:spcPts val="500"/>
              </a:spcAft>
              <a:buChar char="•"/>
            </a:pPr>
            <a:r>
              <a:rPr sz="1600" b="0">
                <a:solidFill>
                  <a:srgbClr val="0D2B3E"/>
                </a:solidFill>
                <a:latin typeface="Calibri"/>
              </a:rPr>
              <a:t>There is no green "safe to drink" badge anywhere in the app.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7315200" cy="274320"/>
          </a:xfrm>
          <a:prstGeom prst="rect">
            <a:avLst/>
          </a:prstGeom>
          <a:noFill/>
        </p:spPr>
        <p:txBody>
          <a:bodyPr wrap="square" anchor="t" lIns="36576" rIns="36576" tIns="18288" bIns="18288">
            <a:spAutoFit/>
          </a:bodyPr>
          <a:lstStyle/>
          <a:p>
            <a:pPr algn="l">
              <a:spcAft>
                <a:spcPts val="800"/>
              </a:spcAft>
            </a:pPr>
            <a:r>
              <a:rPr sz="1100" b="1">
                <a:solidFill>
                  <a:srgbClr val="0B6E99"/>
                </a:solidFill>
                <a:latin typeface="Calibri"/>
              </a:rPr>
              <a:t>PRODUCT</a:t>
            </a:r>
          </a:p>
        </p:txBody>
      </p:sp>
      <p:sp>
        <p:nvSpPr>
          <p:cNvPr id="3" name="TextBox 2"/>
          <p:cNvSpPr txBox="1"/>
          <p:nvPr/>
        </p:nvSpPr>
        <p:spPr>
          <a:xfrm>
            <a:off x="548640" y="548640"/>
            <a:ext cx="11064240" cy="685800"/>
          </a:xfrm>
          <a:prstGeom prst="rect">
            <a:avLst/>
          </a:prstGeom>
          <a:noFill/>
        </p:spPr>
        <p:txBody>
          <a:bodyPr wrap="square" anchor="ctr" lIns="36576" rIns="36576" tIns="18288" bIns="18288">
            <a:spAutoFit/>
          </a:bodyPr>
          <a:lstStyle/>
          <a:p>
            <a:pPr algn="l">
              <a:spcAft>
                <a:spcPts val="800"/>
              </a:spcAft>
            </a:pPr>
            <a:r>
              <a:rPr sz="3000" b="1">
                <a:solidFill>
                  <a:srgbClr val="0B2F4A"/>
                </a:solidFill>
                <a:latin typeface="Calibri"/>
              </a:rPr>
              <a:t>Dashboard and application screenshots</a:t>
            </a:r>
          </a:p>
        </p:txBody>
      </p:sp>
      <p:sp>
        <p:nvSpPr>
          <p:cNvPr id="4" name="TextBox 3"/>
          <p:cNvSpPr txBox="1"/>
          <p:nvPr/>
        </p:nvSpPr>
        <p:spPr>
          <a:xfrm>
            <a:off x="548640" y="6473952"/>
            <a:ext cx="9601200" cy="274320"/>
          </a:xfrm>
          <a:prstGeom prst="rect">
            <a:avLst/>
          </a:prstGeom>
          <a:noFill/>
        </p:spPr>
        <p:txBody>
          <a:bodyPr wrap="square" anchor="t" lIns="36576" rIns="36576" tIns="18288" bIns="18288">
            <a:spAutoFit/>
          </a:bodyPr>
          <a:lstStyle/>
          <a:p>
            <a:pPr algn="l">
              <a:spcAft>
                <a:spcPts val="800"/>
              </a:spcAft>
            </a:pPr>
            <a:r>
              <a:rPr sz="900" b="0">
                <a:solidFill>
                  <a:srgbClr val="4C5A67"/>
                </a:solidFill>
                <a:latin typeface="Calibri"/>
              </a:rPr>
              <a:t>AquaGuard AI  |  IBM academic project  |  UN SDG 6  |  Educational screening tool - not a safety certification. Not endorsed by IBM, the UN or any agency.</a:t>
            </a:r>
          </a:p>
        </p:txBody>
      </p:sp>
      <p:sp>
        <p:nvSpPr>
          <p:cNvPr id="5" name="TextBox 4"/>
          <p:cNvSpPr txBox="1"/>
          <p:nvPr/>
        </p:nvSpPr>
        <p:spPr>
          <a:xfrm>
            <a:off x="11155680" y="6473952"/>
            <a:ext cx="548640" cy="274320"/>
          </a:xfrm>
          <a:prstGeom prst="rect">
            <a:avLst/>
          </a:prstGeom>
          <a:noFill/>
        </p:spPr>
        <p:txBody>
          <a:bodyPr wrap="square" anchor="t" lIns="36576" rIns="36576" tIns="18288" bIns="18288">
            <a:spAutoFit/>
          </a:bodyPr>
          <a:lstStyle/>
          <a:p>
            <a:pPr algn="r">
              <a:spcAft>
                <a:spcPts val="800"/>
              </a:spcAft>
            </a:pPr>
            <a:r>
              <a:rPr sz="1000" b="0">
                <a:solidFill>
                  <a:srgbClr val="4C5A67"/>
                </a:solidFill>
                <a:latin typeface="Calibri"/>
              </a:rPr>
              <a:t>18</a:t>
            </a:r>
          </a:p>
        </p:txBody>
      </p:sp>
      <p:pic>
        <p:nvPicPr>
          <p:cNvPr id="6" name="Picture 5" descr="01-dashboard.png"/>
          <p:cNvPicPr>
            <a:picLocks noChangeAspect="1"/>
          </p:cNvPicPr>
          <p:nvPr/>
        </p:nvPicPr>
        <p:blipFill>
          <a:blip r:embed="rId3"/>
          <a:stretch>
            <a:fillRect/>
          </a:stretch>
        </p:blipFill>
        <p:spPr>
          <a:xfrm>
            <a:off x="671169" y="1371600"/>
            <a:ext cx="6978700" cy="4846320"/>
          </a:xfrm>
          <a:prstGeom prst="rect">
            <a:avLst/>
          </a:prstGeom>
          <a:ln w="12700">
            <a:solidFill>
              <a:srgbClr val="B8CEDB"/>
            </a:solidFill>
          </a:ln>
        </p:spPr>
      </p:pic>
      <p:pic>
        <p:nvPicPr>
          <p:cNvPr id="7" name="Picture 6" descr="02-samples.png"/>
          <p:cNvPicPr>
            <a:picLocks noChangeAspect="1"/>
          </p:cNvPicPr>
          <p:nvPr/>
        </p:nvPicPr>
        <p:blipFill>
          <a:blip r:embed="rId4"/>
          <a:stretch>
            <a:fillRect/>
          </a:stretch>
        </p:blipFill>
        <p:spPr>
          <a:xfrm>
            <a:off x="8150961" y="1371600"/>
            <a:ext cx="3357676" cy="2331720"/>
          </a:xfrm>
          <a:prstGeom prst="rect">
            <a:avLst/>
          </a:prstGeom>
          <a:ln w="12700">
            <a:solidFill>
              <a:srgbClr val="B8CEDB"/>
            </a:solidFill>
          </a:ln>
        </p:spPr>
      </p:pic>
      <p:pic>
        <p:nvPicPr>
          <p:cNvPr id="8" name="Picture 7" descr="05-screening.png"/>
          <p:cNvPicPr>
            <a:picLocks noChangeAspect="1"/>
          </p:cNvPicPr>
          <p:nvPr/>
        </p:nvPicPr>
        <p:blipFill>
          <a:blip r:embed="rId5"/>
          <a:stretch>
            <a:fillRect/>
          </a:stretch>
        </p:blipFill>
        <p:spPr>
          <a:xfrm>
            <a:off x="8150961" y="3840480"/>
            <a:ext cx="3357676" cy="2331720"/>
          </a:xfrm>
          <a:prstGeom prst="rect">
            <a:avLst/>
          </a:prstGeom>
          <a:ln w="12700">
            <a:solidFill>
              <a:srgbClr val="B8CEDB"/>
            </a:solidFill>
          </a:ln>
        </p:spPr>
      </p:pic>
      <p:sp>
        <p:nvSpPr>
          <p:cNvPr id="9" name="TextBox 8"/>
          <p:cNvSpPr txBox="1"/>
          <p:nvPr/>
        </p:nvSpPr>
        <p:spPr>
          <a:xfrm>
            <a:off x="548640" y="6236208"/>
            <a:ext cx="11064240" cy="228600"/>
          </a:xfrm>
          <a:prstGeom prst="rect">
            <a:avLst/>
          </a:prstGeom>
          <a:noFill/>
        </p:spPr>
        <p:txBody>
          <a:bodyPr wrap="square" anchor="t" lIns="36576" rIns="36576" tIns="18288" bIns="18288">
            <a:spAutoFit/>
          </a:bodyPr>
          <a:lstStyle/>
          <a:p>
            <a:pPr algn="l">
              <a:spcAft>
                <a:spcPts val="800"/>
              </a:spcAft>
            </a:pPr>
            <a:r>
              <a:rPr sz="1000" b="0">
                <a:solidFill>
                  <a:srgbClr val="4C5A67"/>
                </a:solidFill>
                <a:latin typeface="Calibri"/>
              </a:rPr>
              <a:t>Real screenshots of the running app (Chromium, file://). Synthetic demo data.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7315200" cy="274320"/>
          </a:xfrm>
          <a:prstGeom prst="rect">
            <a:avLst/>
          </a:prstGeom>
          <a:noFill/>
        </p:spPr>
        <p:txBody>
          <a:bodyPr wrap="square" anchor="t" lIns="36576" rIns="36576" tIns="18288" bIns="18288">
            <a:spAutoFit/>
          </a:bodyPr>
          <a:lstStyle/>
          <a:p>
            <a:pPr algn="l">
              <a:spcAft>
                <a:spcPts val="800"/>
              </a:spcAft>
            </a:pPr>
            <a:r>
              <a:rPr sz="1100" b="1">
                <a:solidFill>
                  <a:srgbClr val="0B6E99"/>
                </a:solidFill>
                <a:latin typeface="Calibri"/>
              </a:rPr>
              <a:t>PRODUCT</a:t>
            </a:r>
          </a:p>
        </p:txBody>
      </p:sp>
      <p:sp>
        <p:nvSpPr>
          <p:cNvPr id="3" name="TextBox 2"/>
          <p:cNvSpPr txBox="1"/>
          <p:nvPr/>
        </p:nvSpPr>
        <p:spPr>
          <a:xfrm>
            <a:off x="548640" y="548640"/>
            <a:ext cx="11064240" cy="685800"/>
          </a:xfrm>
          <a:prstGeom prst="rect">
            <a:avLst/>
          </a:prstGeom>
          <a:noFill/>
        </p:spPr>
        <p:txBody>
          <a:bodyPr wrap="square" anchor="ctr" lIns="36576" rIns="36576" tIns="18288" bIns="18288">
            <a:spAutoFit/>
          </a:bodyPr>
          <a:lstStyle/>
          <a:p>
            <a:pPr algn="l">
              <a:spcAft>
                <a:spcPts val="800"/>
              </a:spcAft>
            </a:pPr>
            <a:r>
              <a:rPr sz="3000" b="1">
                <a:solidFill>
                  <a:srgbClr val="0B2F4A"/>
                </a:solidFill>
                <a:latin typeface="Calibri"/>
              </a:rPr>
              <a:t>CSV upload and validation workflow</a:t>
            </a:r>
          </a:p>
        </p:txBody>
      </p:sp>
      <p:sp>
        <p:nvSpPr>
          <p:cNvPr id="4" name="TextBox 3"/>
          <p:cNvSpPr txBox="1"/>
          <p:nvPr/>
        </p:nvSpPr>
        <p:spPr>
          <a:xfrm>
            <a:off x="548640" y="6473952"/>
            <a:ext cx="9601200" cy="274320"/>
          </a:xfrm>
          <a:prstGeom prst="rect">
            <a:avLst/>
          </a:prstGeom>
          <a:noFill/>
        </p:spPr>
        <p:txBody>
          <a:bodyPr wrap="square" anchor="t" lIns="36576" rIns="36576" tIns="18288" bIns="18288">
            <a:spAutoFit/>
          </a:bodyPr>
          <a:lstStyle/>
          <a:p>
            <a:pPr algn="l">
              <a:spcAft>
                <a:spcPts val="800"/>
              </a:spcAft>
            </a:pPr>
            <a:r>
              <a:rPr sz="900" b="0">
                <a:solidFill>
                  <a:srgbClr val="4C5A67"/>
                </a:solidFill>
                <a:latin typeface="Calibri"/>
              </a:rPr>
              <a:t>AquaGuard AI  |  IBM academic project  |  UN SDG 6  |  Educational screening tool - not a safety certification. Not endorsed by IBM, the UN or any agency.</a:t>
            </a:r>
          </a:p>
        </p:txBody>
      </p:sp>
      <p:sp>
        <p:nvSpPr>
          <p:cNvPr id="5" name="TextBox 4"/>
          <p:cNvSpPr txBox="1"/>
          <p:nvPr/>
        </p:nvSpPr>
        <p:spPr>
          <a:xfrm>
            <a:off x="11155680" y="6473952"/>
            <a:ext cx="548640" cy="274320"/>
          </a:xfrm>
          <a:prstGeom prst="rect">
            <a:avLst/>
          </a:prstGeom>
          <a:noFill/>
        </p:spPr>
        <p:txBody>
          <a:bodyPr wrap="square" anchor="t" lIns="36576" rIns="36576" tIns="18288" bIns="18288">
            <a:spAutoFit/>
          </a:bodyPr>
          <a:lstStyle/>
          <a:p>
            <a:pPr algn="r">
              <a:spcAft>
                <a:spcPts val="800"/>
              </a:spcAft>
            </a:pPr>
            <a:r>
              <a:rPr sz="1000" b="0">
                <a:solidFill>
                  <a:srgbClr val="4C5A67"/>
                </a:solidFill>
                <a:latin typeface="Calibri"/>
              </a:rPr>
              <a:t>19</a:t>
            </a:r>
          </a:p>
        </p:txBody>
      </p:sp>
      <p:pic>
        <p:nvPicPr>
          <p:cNvPr id="6" name="Picture 5" descr="csv_flow.png"/>
          <p:cNvPicPr>
            <a:picLocks noChangeAspect="1"/>
          </p:cNvPicPr>
          <p:nvPr/>
        </p:nvPicPr>
        <p:blipFill>
          <a:blip r:embed="rId3"/>
          <a:stretch>
            <a:fillRect/>
          </a:stretch>
        </p:blipFill>
        <p:spPr>
          <a:xfrm>
            <a:off x="457200" y="1614924"/>
            <a:ext cx="5669280" cy="2530870"/>
          </a:xfrm>
          <a:prstGeom prst="rect">
            <a:avLst/>
          </a:prstGeom>
          <a:ln w="12700">
            <a:solidFill>
              <a:srgbClr val="B8CEDB"/>
            </a:solidFill>
          </a:ln>
        </p:spPr>
      </p:pic>
      <p:pic>
        <p:nvPicPr>
          <p:cNvPr id="7" name="Picture 6" descr="04-csv-validation.png"/>
          <p:cNvPicPr>
            <a:picLocks noChangeAspect="1"/>
          </p:cNvPicPr>
          <p:nvPr/>
        </p:nvPicPr>
        <p:blipFill>
          <a:blip r:embed="rId4"/>
          <a:stretch>
            <a:fillRect/>
          </a:stretch>
        </p:blipFill>
        <p:spPr>
          <a:xfrm>
            <a:off x="6309360" y="1921509"/>
            <a:ext cx="5394960" cy="3746500"/>
          </a:xfrm>
          <a:prstGeom prst="rect">
            <a:avLst/>
          </a:prstGeom>
          <a:ln w="12700">
            <a:solidFill>
              <a:srgbClr val="B8CEDB"/>
            </a:solidFill>
          </a:ln>
        </p:spPr>
      </p:pic>
      <p:sp>
        <p:nvSpPr>
          <p:cNvPr id="8" name="TextBox 7"/>
          <p:cNvSpPr txBox="1"/>
          <p:nvPr/>
        </p:nvSpPr>
        <p:spPr>
          <a:xfrm>
            <a:off x="548640" y="4572000"/>
            <a:ext cx="5577840" cy="1737360"/>
          </a:xfrm>
          <a:prstGeom prst="rect">
            <a:avLst/>
          </a:prstGeom>
          <a:noFill/>
        </p:spPr>
        <p:txBody>
          <a:bodyPr wrap="square" anchor="t" lIns="36576" rIns="36576" tIns="18288" bIns="18288">
            <a:spAutoFit/>
          </a:bodyPr>
          <a:lstStyle/>
          <a:p>
            <a:pPr algn="l" marL="300000" indent="-300000">
              <a:spcAft>
                <a:spcPts val="500"/>
              </a:spcAft>
              <a:buChar char="•"/>
            </a:pPr>
            <a:r>
              <a:rPr sz="1500" b="0">
                <a:solidFill>
                  <a:srgbClr val="0D2B3E"/>
                </a:solidFill>
                <a:latin typeface="Calibri"/>
              </a:rPr>
              <a:t>Rejected rows are listed with every reason.</a:t>
            </a:r>
          </a:p>
          <a:p>
            <a:pPr algn="l" marL="300000" indent="-300000">
              <a:spcAft>
                <a:spcPts val="500"/>
              </a:spcAft>
              <a:buChar char="•"/>
            </a:pPr>
            <a:r>
              <a:rPr sz="1500" b="0">
                <a:solidFill>
                  <a:srgbClr val="0D2B3E"/>
                </a:solidFill>
                <a:latin typeface="Calibri"/>
              </a:rPr>
              <a:t>Headers like tds_ppm or temperature_f are refused, not converted.</a:t>
            </a:r>
          </a:p>
          <a:p>
            <a:pPr algn="l" marL="300000" indent="-300000">
              <a:spcAft>
                <a:spcPts val="500"/>
              </a:spcAft>
              <a:buChar char="•"/>
            </a:pPr>
            <a:r>
              <a:rPr sz="1500" b="0">
                <a:solidFill>
                  <a:srgbClr val="0D2B3E"/>
                </a:solidFill>
                <a:latin typeface="Calibri"/>
              </a:rPr>
              <a:t>Template download; data-quality summary download.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7315200" cy="274320"/>
          </a:xfrm>
          <a:prstGeom prst="rect">
            <a:avLst/>
          </a:prstGeom>
          <a:noFill/>
        </p:spPr>
        <p:txBody>
          <a:bodyPr wrap="square" anchor="t" lIns="36576" rIns="36576" tIns="18288" bIns="18288">
            <a:spAutoFit/>
          </a:bodyPr>
          <a:lstStyle/>
          <a:p>
            <a:pPr algn="l">
              <a:spcAft>
                <a:spcPts val="800"/>
              </a:spcAft>
            </a:pPr>
            <a:r>
              <a:rPr sz="1100" b="1">
                <a:solidFill>
                  <a:srgbClr val="0B6E99"/>
                </a:solidFill>
                <a:latin typeface="Calibri"/>
              </a:rPr>
              <a:t>ANALYTICS</a:t>
            </a:r>
          </a:p>
        </p:txBody>
      </p:sp>
      <p:sp>
        <p:nvSpPr>
          <p:cNvPr id="3" name="TextBox 2"/>
          <p:cNvSpPr txBox="1"/>
          <p:nvPr/>
        </p:nvSpPr>
        <p:spPr>
          <a:xfrm>
            <a:off x="548640" y="548640"/>
            <a:ext cx="11064240" cy="685800"/>
          </a:xfrm>
          <a:prstGeom prst="rect">
            <a:avLst/>
          </a:prstGeom>
          <a:noFill/>
        </p:spPr>
        <p:txBody>
          <a:bodyPr wrap="square" anchor="ctr" lIns="36576" rIns="36576" tIns="18288" bIns="18288">
            <a:spAutoFit/>
          </a:bodyPr>
          <a:lstStyle/>
          <a:p>
            <a:pPr algn="l">
              <a:spcAft>
                <a:spcPts val="800"/>
              </a:spcAft>
            </a:pPr>
            <a:r>
              <a:rPr sz="3000" b="1">
                <a:solidFill>
                  <a:srgbClr val="0B2F4A"/>
                </a:solidFill>
                <a:latin typeface="Calibri"/>
              </a:rPr>
              <a:t>Analytics and outlier detection</a:t>
            </a:r>
          </a:p>
        </p:txBody>
      </p:sp>
      <p:sp>
        <p:nvSpPr>
          <p:cNvPr id="4" name="TextBox 3"/>
          <p:cNvSpPr txBox="1"/>
          <p:nvPr/>
        </p:nvSpPr>
        <p:spPr>
          <a:xfrm>
            <a:off x="548640" y="6473952"/>
            <a:ext cx="9601200" cy="274320"/>
          </a:xfrm>
          <a:prstGeom prst="rect">
            <a:avLst/>
          </a:prstGeom>
          <a:noFill/>
        </p:spPr>
        <p:txBody>
          <a:bodyPr wrap="square" anchor="t" lIns="36576" rIns="36576" tIns="18288" bIns="18288">
            <a:spAutoFit/>
          </a:bodyPr>
          <a:lstStyle/>
          <a:p>
            <a:pPr algn="l">
              <a:spcAft>
                <a:spcPts val="800"/>
              </a:spcAft>
            </a:pPr>
            <a:r>
              <a:rPr sz="900" b="0">
                <a:solidFill>
                  <a:srgbClr val="4C5A67"/>
                </a:solidFill>
                <a:latin typeface="Calibri"/>
              </a:rPr>
              <a:t>AquaGuard AI  |  IBM academic project  |  UN SDG 6  |  Educational screening tool - not a safety certification. Not endorsed by IBM, the UN or any agency.</a:t>
            </a:r>
          </a:p>
        </p:txBody>
      </p:sp>
      <p:sp>
        <p:nvSpPr>
          <p:cNvPr id="5" name="TextBox 4"/>
          <p:cNvSpPr txBox="1"/>
          <p:nvPr/>
        </p:nvSpPr>
        <p:spPr>
          <a:xfrm>
            <a:off x="11155680" y="6473952"/>
            <a:ext cx="548640" cy="274320"/>
          </a:xfrm>
          <a:prstGeom prst="rect">
            <a:avLst/>
          </a:prstGeom>
          <a:noFill/>
        </p:spPr>
        <p:txBody>
          <a:bodyPr wrap="square" anchor="t" lIns="36576" rIns="36576" tIns="18288" bIns="18288">
            <a:spAutoFit/>
          </a:bodyPr>
          <a:lstStyle/>
          <a:p>
            <a:pPr algn="r">
              <a:spcAft>
                <a:spcPts val="800"/>
              </a:spcAft>
            </a:pPr>
            <a:r>
              <a:rPr sz="1000" b="0">
                <a:solidFill>
                  <a:srgbClr val="4C5A67"/>
                </a:solidFill>
                <a:latin typeface="Calibri"/>
              </a:rPr>
              <a:t>20</a:t>
            </a:r>
          </a:p>
        </p:txBody>
      </p:sp>
      <p:pic>
        <p:nvPicPr>
          <p:cNvPr id="6" name="Picture 5" descr="06-analytics.png"/>
          <p:cNvPicPr>
            <a:picLocks noChangeAspect="1"/>
          </p:cNvPicPr>
          <p:nvPr/>
        </p:nvPicPr>
        <p:blipFill>
          <a:blip r:embed="rId3"/>
          <a:stretch>
            <a:fillRect/>
          </a:stretch>
        </p:blipFill>
        <p:spPr>
          <a:xfrm>
            <a:off x="548640" y="1794510"/>
            <a:ext cx="5760719" cy="4000499"/>
          </a:xfrm>
          <a:prstGeom prst="rect">
            <a:avLst/>
          </a:prstGeom>
          <a:ln w="12700">
            <a:solidFill>
              <a:srgbClr val="B8CEDB"/>
            </a:solidFill>
          </a:ln>
        </p:spPr>
      </p:pic>
      <p:sp>
        <p:nvSpPr>
          <p:cNvPr id="7" name="Rounded Rectangle 6"/>
          <p:cNvSpPr/>
          <p:nvPr/>
        </p:nvSpPr>
        <p:spPr>
          <a:xfrm>
            <a:off x="6492240" y="1417320"/>
            <a:ext cx="5120640" cy="4846320"/>
          </a:xfrm>
          <a:prstGeom prst="roundRect">
            <a:avLst>
              <a:gd name="adj" fmla="val 5000"/>
            </a:avLst>
          </a:prstGeom>
          <a:solidFill>
            <a:srgbClr val="E4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56831" y="1527048"/>
            <a:ext cx="4791455" cy="457200"/>
          </a:xfrm>
          <a:prstGeom prst="rect">
            <a:avLst/>
          </a:prstGeom>
          <a:noFill/>
        </p:spPr>
        <p:txBody>
          <a:bodyPr wrap="square" anchor="t" lIns="36576" rIns="36576" tIns="18288" bIns="18288">
            <a:spAutoFit/>
          </a:bodyPr>
          <a:lstStyle/>
          <a:p>
            <a:pPr algn="l">
              <a:spcAft>
                <a:spcPts val="800"/>
              </a:spcAft>
            </a:pPr>
            <a:r>
              <a:rPr sz="1700" b="1">
                <a:solidFill>
                  <a:srgbClr val="0B6E99"/>
                </a:solidFill>
                <a:latin typeface="Calibri"/>
              </a:rPr>
              <a:t>Robust z-score (not ML)</a:t>
            </a:r>
          </a:p>
        </p:txBody>
      </p:sp>
      <p:sp>
        <p:nvSpPr>
          <p:cNvPr id="9" name="TextBox 8"/>
          <p:cNvSpPr txBox="1"/>
          <p:nvPr/>
        </p:nvSpPr>
        <p:spPr>
          <a:xfrm>
            <a:off x="6656831" y="1984248"/>
            <a:ext cx="4791455" cy="4206240"/>
          </a:xfrm>
          <a:prstGeom prst="rect">
            <a:avLst/>
          </a:prstGeom>
          <a:noFill/>
        </p:spPr>
        <p:txBody>
          <a:bodyPr wrap="square" anchor="t" lIns="36576" rIns="36576" tIns="18288" bIns="18288">
            <a:spAutoFit/>
          </a:bodyPr>
          <a:lstStyle/>
          <a:p>
            <a:pPr algn="l" marL="300000" indent="-300000">
              <a:spcAft>
                <a:spcPts val="800"/>
              </a:spcAft>
              <a:buChar char="•"/>
            </a:pPr>
            <a:r>
              <a:rPr sz="1500" b="0">
                <a:solidFill>
                  <a:srgbClr val="0D2B3E"/>
                </a:solidFill>
                <a:latin typeface="Calibri"/>
              </a:rPr>
              <a:t>z = 0.6745 x (value - median) / MAD</a:t>
            </a:r>
          </a:p>
          <a:p>
            <a:pPr algn="l" marL="300000" indent="-300000">
              <a:spcAft>
                <a:spcPts val="800"/>
              </a:spcAft>
              <a:buChar char="•"/>
            </a:pPr>
            <a:r>
              <a:rPr sz="1500" b="0">
                <a:solidFill>
                  <a:srgbClr val="0D2B3E"/>
                </a:solidFill>
                <a:latin typeface="Calibri"/>
              </a:rPr>
              <a:t>Flag when |z| &gt;= 3.5 (adjustable), optionally within each location</a:t>
            </a:r>
          </a:p>
          <a:p>
            <a:pPr algn="l" marL="300000" indent="-300000">
              <a:spcAft>
                <a:spcPts val="800"/>
              </a:spcAft>
              <a:buChar char="•"/>
            </a:pPr>
            <a:r>
              <a:rPr sz="1500" b="0">
                <a:solidFill>
                  <a:srgbClr val="0D2B3E"/>
                </a:solidFill>
                <a:latin typeface="Calibri"/>
              </a:rPr>
              <a:t>Median/MAD are not distorted by the outliers they seek</a:t>
            </a:r>
          </a:p>
          <a:p>
            <a:pPr algn="l" marL="300000" indent="-300000">
              <a:spcAft>
                <a:spcPts val="800"/>
              </a:spcAft>
              <a:buChar char="•"/>
            </a:pPr>
            <a:r>
              <a:rPr sz="1500" b="0">
                <a:solidFill>
                  <a:srgbClr val="0D2B3E"/>
                </a:solidFill>
                <a:latin typeface="Calibri"/>
              </a:rPr>
              <a:t>Demo data: 5 unusual samples across all sites</a:t>
            </a:r>
          </a:p>
          <a:p>
            <a:pPr algn="l" marL="300000" indent="-300000">
              <a:spcAft>
                <a:spcPts val="800"/>
              </a:spcAft>
              <a:buChar char="•"/>
            </a:pPr>
            <a:r>
              <a:rPr sz="1500" b="0">
                <a:solidFill>
                  <a:srgbClr val="0D2B3E"/>
                </a:solidFill>
                <a:latin typeface="Calibri"/>
              </a:rPr>
              <a:t>Unusual does not mean contaminated or unsafe</a:t>
            </a:r>
          </a:p>
          <a:p>
            <a:pPr algn="l" marL="300000" indent="-300000">
              <a:spcAft>
                <a:spcPts val="800"/>
              </a:spcAft>
              <a:buChar char="•"/>
            </a:pPr>
            <a:r>
              <a:rPr sz="1500" b="0">
                <a:solidFill>
                  <a:srgbClr val="0D2B3E"/>
                </a:solidFill>
                <a:latin typeface="Calibri"/>
              </a:rPr>
              <a:t>Charts: distribution, trend, location box plot, status by site, missing data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7315200" cy="274320"/>
          </a:xfrm>
          <a:prstGeom prst="rect">
            <a:avLst/>
          </a:prstGeom>
          <a:noFill/>
        </p:spPr>
        <p:txBody>
          <a:bodyPr wrap="square" anchor="t" lIns="36576" rIns="36576" tIns="18288" bIns="18288">
            <a:spAutoFit/>
          </a:bodyPr>
          <a:lstStyle/>
          <a:p>
            <a:pPr algn="l">
              <a:spcAft>
                <a:spcPts val="800"/>
              </a:spcAft>
            </a:pPr>
            <a:r>
              <a:rPr sz="1100" b="1">
                <a:solidFill>
                  <a:srgbClr val="0B6E99"/>
                </a:solidFill>
                <a:latin typeface="Calibri"/>
              </a:rPr>
              <a:t>OUTPUT</a:t>
            </a:r>
          </a:p>
        </p:txBody>
      </p:sp>
      <p:sp>
        <p:nvSpPr>
          <p:cNvPr id="3" name="TextBox 2"/>
          <p:cNvSpPr txBox="1"/>
          <p:nvPr/>
        </p:nvSpPr>
        <p:spPr>
          <a:xfrm>
            <a:off x="548640" y="548640"/>
            <a:ext cx="11064240" cy="685800"/>
          </a:xfrm>
          <a:prstGeom prst="rect">
            <a:avLst/>
          </a:prstGeom>
          <a:noFill/>
        </p:spPr>
        <p:txBody>
          <a:bodyPr wrap="square" anchor="ctr" lIns="36576" rIns="36576" tIns="18288" bIns="18288">
            <a:spAutoFit/>
          </a:bodyPr>
          <a:lstStyle/>
          <a:p>
            <a:pPr algn="l">
              <a:spcAft>
                <a:spcPts val="800"/>
              </a:spcAft>
            </a:pPr>
            <a:r>
              <a:rPr sz="3000" b="1">
                <a:solidFill>
                  <a:srgbClr val="0B2F4A"/>
                </a:solidFill>
                <a:latin typeface="Calibri"/>
              </a:rPr>
              <a:t>Reporting and export</a:t>
            </a:r>
          </a:p>
        </p:txBody>
      </p:sp>
      <p:sp>
        <p:nvSpPr>
          <p:cNvPr id="4" name="TextBox 3"/>
          <p:cNvSpPr txBox="1"/>
          <p:nvPr/>
        </p:nvSpPr>
        <p:spPr>
          <a:xfrm>
            <a:off x="548640" y="6473952"/>
            <a:ext cx="9601200" cy="274320"/>
          </a:xfrm>
          <a:prstGeom prst="rect">
            <a:avLst/>
          </a:prstGeom>
          <a:noFill/>
        </p:spPr>
        <p:txBody>
          <a:bodyPr wrap="square" anchor="t" lIns="36576" rIns="36576" tIns="18288" bIns="18288">
            <a:spAutoFit/>
          </a:bodyPr>
          <a:lstStyle/>
          <a:p>
            <a:pPr algn="l">
              <a:spcAft>
                <a:spcPts val="800"/>
              </a:spcAft>
            </a:pPr>
            <a:r>
              <a:rPr sz="900" b="0">
                <a:solidFill>
                  <a:srgbClr val="4C5A67"/>
                </a:solidFill>
                <a:latin typeface="Calibri"/>
              </a:rPr>
              <a:t>AquaGuard AI  |  IBM academic project  |  UN SDG 6  |  Educational screening tool - not a safety certification. Not endorsed by IBM, the UN or any agency.</a:t>
            </a:r>
          </a:p>
        </p:txBody>
      </p:sp>
      <p:sp>
        <p:nvSpPr>
          <p:cNvPr id="5" name="TextBox 4"/>
          <p:cNvSpPr txBox="1"/>
          <p:nvPr/>
        </p:nvSpPr>
        <p:spPr>
          <a:xfrm>
            <a:off x="11155680" y="6473952"/>
            <a:ext cx="548640" cy="274320"/>
          </a:xfrm>
          <a:prstGeom prst="rect">
            <a:avLst/>
          </a:prstGeom>
          <a:noFill/>
        </p:spPr>
        <p:txBody>
          <a:bodyPr wrap="square" anchor="t" lIns="36576" rIns="36576" tIns="18288" bIns="18288">
            <a:spAutoFit/>
          </a:bodyPr>
          <a:lstStyle/>
          <a:p>
            <a:pPr algn="r">
              <a:spcAft>
                <a:spcPts val="800"/>
              </a:spcAft>
            </a:pPr>
            <a:r>
              <a:rPr sz="1000" b="0">
                <a:solidFill>
                  <a:srgbClr val="4C5A67"/>
                </a:solidFill>
                <a:latin typeface="Calibri"/>
              </a:rPr>
              <a:t>21</a:t>
            </a:r>
          </a:p>
        </p:txBody>
      </p:sp>
      <p:pic>
        <p:nvPicPr>
          <p:cNvPr id="6" name="Picture 5" descr="08-reports.png"/>
          <p:cNvPicPr>
            <a:picLocks noChangeAspect="1"/>
          </p:cNvPicPr>
          <p:nvPr/>
        </p:nvPicPr>
        <p:blipFill>
          <a:blip r:embed="rId3"/>
          <a:stretch>
            <a:fillRect/>
          </a:stretch>
        </p:blipFill>
        <p:spPr>
          <a:xfrm>
            <a:off x="548640" y="1731010"/>
            <a:ext cx="5943599" cy="4127499"/>
          </a:xfrm>
          <a:prstGeom prst="rect">
            <a:avLst/>
          </a:prstGeom>
          <a:ln w="12700">
            <a:solidFill>
              <a:srgbClr val="B8CEDB"/>
            </a:solidFill>
          </a:ln>
        </p:spPr>
      </p:pic>
      <p:sp>
        <p:nvSpPr>
          <p:cNvPr id="7" name="Rounded Rectangle 6"/>
          <p:cNvSpPr/>
          <p:nvPr/>
        </p:nvSpPr>
        <p:spPr>
          <a:xfrm>
            <a:off x="6675120" y="1417320"/>
            <a:ext cx="4937760" cy="4846320"/>
          </a:xfrm>
          <a:prstGeom prst="roundRect">
            <a:avLst>
              <a:gd name="adj" fmla="val 5000"/>
            </a:avLst>
          </a:prstGeom>
          <a:solidFill>
            <a:srgbClr val="E4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39712" y="1527048"/>
            <a:ext cx="4608576" cy="457200"/>
          </a:xfrm>
          <a:prstGeom prst="rect">
            <a:avLst/>
          </a:prstGeom>
          <a:noFill/>
        </p:spPr>
        <p:txBody>
          <a:bodyPr wrap="square" anchor="t" lIns="36576" rIns="36576" tIns="18288" bIns="18288">
            <a:spAutoFit/>
          </a:bodyPr>
          <a:lstStyle/>
          <a:p>
            <a:pPr algn="l">
              <a:spcAft>
                <a:spcPts val="800"/>
              </a:spcAft>
            </a:pPr>
            <a:r>
              <a:rPr sz="1700" b="1">
                <a:solidFill>
                  <a:srgbClr val="0B6E99"/>
                </a:solidFill>
                <a:latin typeface="Calibri"/>
              </a:rPr>
              <a:t>Exports</a:t>
            </a:r>
          </a:p>
        </p:txBody>
      </p:sp>
      <p:sp>
        <p:nvSpPr>
          <p:cNvPr id="9" name="TextBox 8"/>
          <p:cNvSpPr txBox="1"/>
          <p:nvPr/>
        </p:nvSpPr>
        <p:spPr>
          <a:xfrm>
            <a:off x="6839712" y="1984248"/>
            <a:ext cx="4608576" cy="4206240"/>
          </a:xfrm>
          <a:prstGeom prst="rect">
            <a:avLst/>
          </a:prstGeom>
          <a:noFill/>
        </p:spPr>
        <p:txBody>
          <a:bodyPr wrap="square" anchor="t" lIns="36576" rIns="36576" tIns="18288" bIns="18288">
            <a:spAutoFit/>
          </a:bodyPr>
          <a:lstStyle/>
          <a:p>
            <a:pPr algn="l" marL="300000" indent="-300000">
              <a:spcAft>
                <a:spcPts val="800"/>
              </a:spcAft>
              <a:buChar char="•"/>
            </a:pPr>
            <a:r>
              <a:rPr sz="1500" b="0">
                <a:solidFill>
                  <a:srgbClr val="0D2B3E"/>
                </a:solidFill>
                <a:latin typeface="Calibri"/>
              </a:rPr>
              <a:t>HTML report: sample details, profile, data quality, units, flags, charts, limitations, disclaimer</a:t>
            </a:r>
          </a:p>
          <a:p>
            <a:pPr algn="l" marL="300000" indent="-300000">
              <a:spcAft>
                <a:spcPts val="800"/>
              </a:spcAft>
              <a:buChar char="•"/>
            </a:pPr>
            <a:r>
              <a:rPr sz="1500" b="0">
                <a:solidFill>
                  <a:srgbClr val="0D2B3E"/>
                </a:solidFill>
                <a:latin typeface="Calibri"/>
              </a:rPr>
              <a:t>Print / save as PDF via the browser</a:t>
            </a:r>
          </a:p>
          <a:p>
            <a:pPr algn="l" marL="300000" indent="-300000">
              <a:spcAft>
                <a:spcPts val="800"/>
              </a:spcAft>
              <a:buChar char="•"/>
            </a:pPr>
            <a:r>
              <a:rPr sz="1500" b="0">
                <a:solidFill>
                  <a:srgbClr val="0D2B3E"/>
                </a:solidFill>
                <a:latin typeface="Calibri"/>
              </a:rPr>
              <a:t>CSV: filtered records, screening results, flagged observations</a:t>
            </a:r>
          </a:p>
          <a:p>
            <a:pPr algn="l" marL="300000" indent="-300000">
              <a:spcAft>
                <a:spcPts val="800"/>
              </a:spcAft>
              <a:buChar char="•"/>
            </a:pPr>
            <a:r>
              <a:rPr sz="1500" b="0">
                <a:solidFill>
                  <a:srgbClr val="0D2B3E"/>
                </a:solidFill>
                <a:latin typeface="Calibri"/>
              </a:rPr>
              <a:t>Data-quality summary (text)</a:t>
            </a:r>
          </a:p>
          <a:p>
            <a:pPr algn="l" marL="300000" indent="-300000">
              <a:spcAft>
                <a:spcPts val="800"/>
              </a:spcAft>
              <a:buChar char="•"/>
            </a:pPr>
            <a:r>
              <a:rPr sz="1500" b="0">
                <a:solidFill>
                  <a:srgbClr val="0D2B3E"/>
                </a:solidFill>
                <a:latin typeface="Calibri"/>
              </a:rPr>
              <a:t>Text cells are formula-injection safe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7315200" cy="274320"/>
          </a:xfrm>
          <a:prstGeom prst="rect">
            <a:avLst/>
          </a:prstGeom>
          <a:noFill/>
        </p:spPr>
        <p:txBody>
          <a:bodyPr wrap="square" anchor="t" lIns="36576" rIns="36576" tIns="18288" bIns="18288">
            <a:spAutoFit/>
          </a:bodyPr>
          <a:lstStyle/>
          <a:p>
            <a:pPr algn="l">
              <a:spcAft>
                <a:spcPts val="800"/>
              </a:spcAft>
            </a:pPr>
            <a:r>
              <a:rPr sz="1100" b="1">
                <a:solidFill>
                  <a:srgbClr val="0B6E99"/>
                </a:solidFill>
                <a:latin typeface="Calibri"/>
              </a:rPr>
              <a:t>QUALITY</a:t>
            </a:r>
          </a:p>
        </p:txBody>
      </p:sp>
      <p:sp>
        <p:nvSpPr>
          <p:cNvPr id="3" name="TextBox 2"/>
          <p:cNvSpPr txBox="1"/>
          <p:nvPr/>
        </p:nvSpPr>
        <p:spPr>
          <a:xfrm>
            <a:off x="548640" y="548640"/>
            <a:ext cx="11064240" cy="685800"/>
          </a:xfrm>
          <a:prstGeom prst="rect">
            <a:avLst/>
          </a:prstGeom>
          <a:noFill/>
        </p:spPr>
        <p:txBody>
          <a:bodyPr wrap="square" anchor="ctr" lIns="36576" rIns="36576" tIns="18288" bIns="18288">
            <a:spAutoFit/>
          </a:bodyPr>
          <a:lstStyle/>
          <a:p>
            <a:pPr algn="l">
              <a:spcAft>
                <a:spcPts val="800"/>
              </a:spcAft>
            </a:pPr>
            <a:r>
              <a:rPr sz="3000" b="1">
                <a:solidFill>
                  <a:srgbClr val="0B2F4A"/>
                </a:solidFill>
                <a:latin typeface="Calibri"/>
              </a:rPr>
              <a:t>Testing strategy and actual results</a:t>
            </a:r>
          </a:p>
        </p:txBody>
      </p:sp>
      <p:sp>
        <p:nvSpPr>
          <p:cNvPr id="4" name="TextBox 3"/>
          <p:cNvSpPr txBox="1"/>
          <p:nvPr/>
        </p:nvSpPr>
        <p:spPr>
          <a:xfrm>
            <a:off x="548640" y="6473952"/>
            <a:ext cx="9601200" cy="274320"/>
          </a:xfrm>
          <a:prstGeom prst="rect">
            <a:avLst/>
          </a:prstGeom>
          <a:noFill/>
        </p:spPr>
        <p:txBody>
          <a:bodyPr wrap="square" anchor="t" lIns="36576" rIns="36576" tIns="18288" bIns="18288">
            <a:spAutoFit/>
          </a:bodyPr>
          <a:lstStyle/>
          <a:p>
            <a:pPr algn="l">
              <a:spcAft>
                <a:spcPts val="800"/>
              </a:spcAft>
            </a:pPr>
            <a:r>
              <a:rPr sz="900" b="0">
                <a:solidFill>
                  <a:srgbClr val="4C5A67"/>
                </a:solidFill>
                <a:latin typeface="Calibri"/>
              </a:rPr>
              <a:t>AquaGuard AI  |  IBM academic project  |  UN SDG 6  |  Educational screening tool - not a safety certification. Not endorsed by IBM, the UN or any agency.</a:t>
            </a:r>
          </a:p>
        </p:txBody>
      </p:sp>
      <p:sp>
        <p:nvSpPr>
          <p:cNvPr id="5" name="TextBox 4"/>
          <p:cNvSpPr txBox="1"/>
          <p:nvPr/>
        </p:nvSpPr>
        <p:spPr>
          <a:xfrm>
            <a:off x="11155680" y="6473952"/>
            <a:ext cx="548640" cy="274320"/>
          </a:xfrm>
          <a:prstGeom prst="rect">
            <a:avLst/>
          </a:prstGeom>
          <a:noFill/>
        </p:spPr>
        <p:txBody>
          <a:bodyPr wrap="square" anchor="t" lIns="36576" rIns="36576" tIns="18288" bIns="18288">
            <a:spAutoFit/>
          </a:bodyPr>
          <a:lstStyle/>
          <a:p>
            <a:pPr algn="r">
              <a:spcAft>
                <a:spcPts val="800"/>
              </a:spcAft>
            </a:pPr>
            <a:r>
              <a:rPr sz="1000" b="0">
                <a:solidFill>
                  <a:srgbClr val="4C5A67"/>
                </a:solidFill>
                <a:latin typeface="Calibri"/>
              </a:rPr>
              <a:t>22</a:t>
            </a:r>
          </a:p>
        </p:txBody>
      </p:sp>
      <p:sp>
        <p:nvSpPr>
          <p:cNvPr id="6" name="Rounded Rectangle 5"/>
          <p:cNvSpPr/>
          <p:nvPr/>
        </p:nvSpPr>
        <p:spPr>
          <a:xfrm>
            <a:off x="548640" y="1417320"/>
            <a:ext cx="3566160" cy="2103120"/>
          </a:xfrm>
          <a:prstGeom prst="roundRect">
            <a:avLst>
              <a:gd name="adj" fmla="val 5000"/>
            </a:avLst>
          </a:prstGeom>
          <a:solidFill>
            <a:srgbClr val="E4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63040"/>
            <a:ext cx="3566160" cy="1097280"/>
          </a:xfrm>
          <a:prstGeom prst="rect">
            <a:avLst/>
          </a:prstGeom>
          <a:noFill/>
        </p:spPr>
        <p:txBody>
          <a:bodyPr wrap="square" anchor="t" lIns="36576" rIns="36576" tIns="18288" bIns="18288">
            <a:spAutoFit/>
          </a:bodyPr>
          <a:lstStyle/>
          <a:p>
            <a:pPr algn="ctr">
              <a:spcAft>
                <a:spcPts val="800"/>
              </a:spcAft>
            </a:pPr>
            <a:r>
              <a:rPr sz="6000" b="1">
                <a:solidFill>
                  <a:srgbClr val="0B6E99"/>
                </a:solidFill>
                <a:latin typeface="Calibri"/>
              </a:rPr>
              <a:t>75</a:t>
            </a:r>
          </a:p>
        </p:txBody>
      </p:sp>
      <p:sp>
        <p:nvSpPr>
          <p:cNvPr id="8" name="TextBox 7"/>
          <p:cNvSpPr txBox="1"/>
          <p:nvPr/>
        </p:nvSpPr>
        <p:spPr>
          <a:xfrm>
            <a:off x="548640" y="2560320"/>
            <a:ext cx="3566160" cy="822960"/>
          </a:xfrm>
          <a:prstGeom prst="rect">
            <a:avLst/>
          </a:prstGeom>
          <a:noFill/>
        </p:spPr>
        <p:txBody>
          <a:bodyPr wrap="square" anchor="t" lIns="36576" rIns="36576" tIns="18288" bIns="18288">
            <a:spAutoFit/>
          </a:bodyPr>
          <a:lstStyle/>
          <a:p>
            <a:pPr algn="ctr">
              <a:spcAft>
                <a:spcPts val="100"/>
              </a:spcAft>
            </a:pPr>
            <a:r>
              <a:rPr sz="1400" b="0">
                <a:solidFill>
                  <a:srgbClr val="0D2B3E"/>
                </a:solidFill>
                <a:latin typeface="Calibri"/>
              </a:rPr>
              <a:t>unit checks passed</a:t>
            </a:r>
          </a:p>
          <a:p>
            <a:pPr algn="ctr">
              <a:spcAft>
                <a:spcPts val="100"/>
              </a:spcAft>
            </a:pPr>
            <a:r>
              <a:rPr sz="1400" b="0">
                <a:solidFill>
                  <a:srgbClr val="0D2B3E"/>
                </a:solidFill>
                <a:latin typeface="Calibri"/>
              </a:rPr>
              <a:t>(validation, screening, storage, reports)</a:t>
            </a:r>
          </a:p>
        </p:txBody>
      </p:sp>
      <p:sp>
        <p:nvSpPr>
          <p:cNvPr id="9" name="Rounded Rectangle 8"/>
          <p:cNvSpPr/>
          <p:nvPr/>
        </p:nvSpPr>
        <p:spPr>
          <a:xfrm>
            <a:off x="4297679" y="1417320"/>
            <a:ext cx="3566160" cy="2103120"/>
          </a:xfrm>
          <a:prstGeom prst="roundRect">
            <a:avLst>
              <a:gd name="adj" fmla="val 5000"/>
            </a:avLst>
          </a:prstGeom>
          <a:solidFill>
            <a:srgbClr val="E4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7679" y="1463040"/>
            <a:ext cx="3566160" cy="1097280"/>
          </a:xfrm>
          <a:prstGeom prst="rect">
            <a:avLst/>
          </a:prstGeom>
          <a:noFill/>
        </p:spPr>
        <p:txBody>
          <a:bodyPr wrap="square" anchor="t" lIns="36576" rIns="36576" tIns="18288" bIns="18288">
            <a:spAutoFit/>
          </a:bodyPr>
          <a:lstStyle/>
          <a:p>
            <a:pPr algn="ctr">
              <a:spcAft>
                <a:spcPts val="800"/>
              </a:spcAft>
            </a:pPr>
            <a:r>
              <a:rPr sz="6000" b="1">
                <a:solidFill>
                  <a:srgbClr val="0B6E99"/>
                </a:solidFill>
                <a:latin typeface="Calibri"/>
              </a:rPr>
              <a:t>46</a:t>
            </a:r>
          </a:p>
        </p:txBody>
      </p:sp>
      <p:sp>
        <p:nvSpPr>
          <p:cNvPr id="11" name="TextBox 10"/>
          <p:cNvSpPr txBox="1"/>
          <p:nvPr/>
        </p:nvSpPr>
        <p:spPr>
          <a:xfrm>
            <a:off x="4297679" y="2560320"/>
            <a:ext cx="3566160" cy="822960"/>
          </a:xfrm>
          <a:prstGeom prst="rect">
            <a:avLst/>
          </a:prstGeom>
          <a:noFill/>
        </p:spPr>
        <p:txBody>
          <a:bodyPr wrap="square" anchor="t" lIns="36576" rIns="36576" tIns="18288" bIns="18288">
            <a:spAutoFit/>
          </a:bodyPr>
          <a:lstStyle/>
          <a:p>
            <a:pPr algn="ctr">
              <a:spcAft>
                <a:spcPts val="100"/>
              </a:spcAft>
            </a:pPr>
            <a:r>
              <a:rPr sz="1400" b="0">
                <a:solidFill>
                  <a:srgbClr val="0D2B3E"/>
                </a:solidFill>
                <a:latin typeface="Calibri"/>
              </a:rPr>
              <a:t>browser checks passed</a:t>
            </a:r>
          </a:p>
          <a:p>
            <a:pPr algn="ctr">
              <a:spcAft>
                <a:spcPts val="100"/>
              </a:spcAft>
            </a:pPr>
            <a:r>
              <a:rPr sz="1400" b="0">
                <a:solidFill>
                  <a:srgbClr val="0D2B3E"/>
                </a:solidFill>
                <a:latin typeface="Calibri"/>
              </a:rPr>
              <a:t>(real Chromium, file://)</a:t>
            </a:r>
          </a:p>
        </p:txBody>
      </p:sp>
      <p:sp>
        <p:nvSpPr>
          <p:cNvPr id="12" name="Rounded Rectangle 11"/>
          <p:cNvSpPr/>
          <p:nvPr/>
        </p:nvSpPr>
        <p:spPr>
          <a:xfrm>
            <a:off x="8046719" y="1417320"/>
            <a:ext cx="3566160" cy="2103120"/>
          </a:xfrm>
          <a:prstGeom prst="roundRect">
            <a:avLst>
              <a:gd name="adj" fmla="val 5000"/>
            </a:avLst>
          </a:prstGeom>
          <a:solidFill>
            <a:srgbClr val="E4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19" y="1463040"/>
            <a:ext cx="3566160" cy="1097280"/>
          </a:xfrm>
          <a:prstGeom prst="rect">
            <a:avLst/>
          </a:prstGeom>
          <a:noFill/>
        </p:spPr>
        <p:txBody>
          <a:bodyPr wrap="square" anchor="t" lIns="36576" rIns="36576" tIns="18288" bIns="18288">
            <a:spAutoFit/>
          </a:bodyPr>
          <a:lstStyle/>
          <a:p>
            <a:pPr algn="ctr">
              <a:spcAft>
                <a:spcPts val="800"/>
              </a:spcAft>
            </a:pPr>
            <a:r>
              <a:rPr sz="6000" b="1">
                <a:solidFill>
                  <a:srgbClr val="0B6E99"/>
                </a:solidFill>
                <a:latin typeface="Calibri"/>
              </a:rPr>
              <a:t>0</a:t>
            </a:r>
          </a:p>
        </p:txBody>
      </p:sp>
      <p:sp>
        <p:nvSpPr>
          <p:cNvPr id="14" name="TextBox 13"/>
          <p:cNvSpPr txBox="1"/>
          <p:nvPr/>
        </p:nvSpPr>
        <p:spPr>
          <a:xfrm>
            <a:off x="8046719" y="2560320"/>
            <a:ext cx="3566160" cy="822960"/>
          </a:xfrm>
          <a:prstGeom prst="rect">
            <a:avLst/>
          </a:prstGeom>
          <a:noFill/>
        </p:spPr>
        <p:txBody>
          <a:bodyPr wrap="square" anchor="t" lIns="36576" rIns="36576" tIns="18288" bIns="18288">
            <a:spAutoFit/>
          </a:bodyPr>
          <a:lstStyle/>
          <a:p>
            <a:pPr algn="ctr">
              <a:spcAft>
                <a:spcPts val="100"/>
              </a:spcAft>
            </a:pPr>
            <a:r>
              <a:rPr sz="1400" b="0">
                <a:solidFill>
                  <a:srgbClr val="0D2B3E"/>
                </a:solidFill>
                <a:latin typeface="Calibri"/>
              </a:rPr>
              <a:t>failures and 0 console errors</a:t>
            </a:r>
          </a:p>
          <a:p>
            <a:pPr algn="ctr">
              <a:spcAft>
                <a:spcPts val="100"/>
              </a:spcAft>
            </a:pPr>
            <a:r>
              <a:rPr sz="1400" b="0">
                <a:solidFill>
                  <a:srgbClr val="0D2B3E"/>
                </a:solidFill>
                <a:latin typeface="Calibri"/>
              </a:rPr>
              <a:t>during the browser session</a:t>
            </a:r>
          </a:p>
        </p:txBody>
      </p:sp>
      <p:sp>
        <p:nvSpPr>
          <p:cNvPr id="15" name="Rounded Rectangle 14"/>
          <p:cNvSpPr/>
          <p:nvPr/>
        </p:nvSpPr>
        <p:spPr>
          <a:xfrm>
            <a:off x="548640" y="3749039"/>
            <a:ext cx="5486400" cy="2514600"/>
          </a:xfrm>
          <a:prstGeom prst="roundRect">
            <a:avLst>
              <a:gd name="adj" fmla="val 5000"/>
            </a:avLst>
          </a:prstGeom>
          <a:solidFill>
            <a:srgbClr val="E4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3858768"/>
            <a:ext cx="5157216" cy="457200"/>
          </a:xfrm>
          <a:prstGeom prst="rect">
            <a:avLst/>
          </a:prstGeom>
          <a:noFill/>
        </p:spPr>
        <p:txBody>
          <a:bodyPr wrap="square" anchor="t" lIns="36576" rIns="36576" tIns="18288" bIns="18288">
            <a:spAutoFit/>
          </a:bodyPr>
          <a:lstStyle/>
          <a:p>
            <a:pPr algn="l">
              <a:spcAft>
                <a:spcPts val="800"/>
              </a:spcAft>
            </a:pPr>
            <a:r>
              <a:rPr sz="1700" b="1">
                <a:solidFill>
                  <a:srgbClr val="0B6E99"/>
                </a:solidFill>
                <a:latin typeface="Calibri"/>
              </a:rPr>
              <a:t>Verified</a:t>
            </a:r>
          </a:p>
        </p:txBody>
      </p:sp>
      <p:sp>
        <p:nvSpPr>
          <p:cNvPr id="17" name="TextBox 16"/>
          <p:cNvSpPr txBox="1"/>
          <p:nvPr/>
        </p:nvSpPr>
        <p:spPr>
          <a:xfrm>
            <a:off x="713232" y="4315968"/>
            <a:ext cx="5157216" cy="1874519"/>
          </a:xfrm>
          <a:prstGeom prst="rect">
            <a:avLst/>
          </a:prstGeom>
          <a:noFill/>
        </p:spPr>
        <p:txBody>
          <a:bodyPr wrap="square" anchor="t" lIns="36576" rIns="36576" tIns="18288" bIns="18288">
            <a:spAutoFit/>
          </a:bodyPr>
          <a:lstStyle/>
          <a:p>
            <a:pPr algn="l" marL="300000" indent="-300000">
              <a:spcAft>
                <a:spcPts val="800"/>
              </a:spcAft>
              <a:buChar char="•"/>
            </a:pPr>
            <a:r>
              <a:rPr sz="1500" b="0">
                <a:solidFill>
                  <a:srgbClr val="0D2B3E"/>
                </a:solidFill>
                <a:latin typeface="Calibri"/>
              </a:rPr>
              <a:t>Add / edit / delete, persistence, reset</a:t>
            </a:r>
          </a:p>
          <a:p>
            <a:pPr algn="l" marL="300000" indent="-300000">
              <a:spcAft>
                <a:spcPts val="800"/>
              </a:spcAft>
              <a:buChar char="•"/>
            </a:pPr>
            <a:r>
              <a:rPr sz="1500" b="0">
                <a:solidFill>
                  <a:srgbClr val="0D2B3E"/>
                </a:solidFill>
                <a:latin typeface="Calibri"/>
              </a:rPr>
              <a:t>CSV valid, messy, empty, unit, binary files</a:t>
            </a:r>
          </a:p>
          <a:p>
            <a:pPr algn="l" marL="300000" indent="-300000">
              <a:spcAft>
                <a:spcPts val="800"/>
              </a:spcAft>
              <a:buChar char="•"/>
            </a:pPr>
            <a:r>
              <a:rPr sz="1500" b="0">
                <a:solidFill>
                  <a:srgbClr val="0D2B3E"/>
                </a:solidFill>
                <a:latin typeface="Calibri"/>
              </a:rPr>
              <a:t>Filters, search, sorting, charts, outliers</a:t>
            </a:r>
          </a:p>
          <a:p>
            <a:pPr algn="l" marL="300000" indent="-300000">
              <a:spcAft>
                <a:spcPts val="800"/>
              </a:spcAft>
              <a:buChar char="•"/>
            </a:pPr>
            <a:r>
              <a:rPr sz="1500" b="0">
                <a:solidFill>
                  <a:srgbClr val="0D2B3E"/>
                </a:solidFill>
                <a:latin typeface="Calibri"/>
              </a:rPr>
              <a:t>Reports and exports; offline (0 requests)</a:t>
            </a:r>
          </a:p>
          <a:p>
            <a:pPr algn="l" marL="300000" indent="-300000">
              <a:spcAft>
                <a:spcPts val="800"/>
              </a:spcAft>
              <a:buChar char="•"/>
            </a:pPr>
            <a:r>
              <a:rPr sz="1500" b="0">
                <a:solidFill>
                  <a:srgbClr val="0D2B3E"/>
                </a:solidFill>
                <a:latin typeface="Calibri"/>
              </a:rPr>
              <a:t>Mobile layout at 390 px; keyboard and labels</a:t>
            </a:r>
          </a:p>
        </p:txBody>
      </p:sp>
      <p:sp>
        <p:nvSpPr>
          <p:cNvPr id="18" name="Rounded Rectangle 17"/>
          <p:cNvSpPr/>
          <p:nvPr/>
        </p:nvSpPr>
        <p:spPr>
          <a:xfrm>
            <a:off x="6217920" y="3749039"/>
            <a:ext cx="5394960" cy="2514600"/>
          </a:xfrm>
          <a:prstGeom prst="roundRect">
            <a:avLst>
              <a:gd name="adj" fmla="val 5000"/>
            </a:avLst>
          </a:prstGeom>
          <a:solidFill>
            <a:srgbClr val="FF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82512" y="3858768"/>
            <a:ext cx="5065776" cy="457200"/>
          </a:xfrm>
          <a:prstGeom prst="rect">
            <a:avLst/>
          </a:prstGeom>
          <a:noFill/>
        </p:spPr>
        <p:txBody>
          <a:bodyPr wrap="square" anchor="t" lIns="36576" rIns="36576" tIns="18288" bIns="18288">
            <a:spAutoFit/>
          </a:bodyPr>
          <a:lstStyle/>
          <a:p>
            <a:pPr algn="l">
              <a:spcAft>
                <a:spcPts val="800"/>
              </a:spcAft>
            </a:pPr>
            <a:r>
              <a:rPr sz="1700" b="1">
                <a:solidFill>
                  <a:srgbClr val="C75F00"/>
                </a:solidFill>
                <a:latin typeface="Calibri"/>
              </a:rPr>
              <a:t>NOT verified</a:t>
            </a:r>
          </a:p>
        </p:txBody>
      </p:sp>
      <p:sp>
        <p:nvSpPr>
          <p:cNvPr id="20" name="TextBox 19"/>
          <p:cNvSpPr txBox="1"/>
          <p:nvPr/>
        </p:nvSpPr>
        <p:spPr>
          <a:xfrm>
            <a:off x="6382512" y="4315968"/>
            <a:ext cx="5065776" cy="1874519"/>
          </a:xfrm>
          <a:prstGeom prst="rect">
            <a:avLst/>
          </a:prstGeom>
          <a:noFill/>
        </p:spPr>
        <p:txBody>
          <a:bodyPr wrap="square" anchor="t" lIns="36576" rIns="36576" tIns="18288" bIns="18288">
            <a:spAutoFit/>
          </a:bodyPr>
          <a:lstStyle/>
          <a:p>
            <a:pPr algn="l" marL="300000" indent="-300000">
              <a:spcAft>
                <a:spcPts val="800"/>
              </a:spcAft>
              <a:buChar char="•"/>
            </a:pPr>
            <a:r>
              <a:rPr sz="1500" b="0">
                <a:solidFill>
                  <a:srgbClr val="0D2B3E"/>
                </a:solidFill>
                <a:latin typeface="Calibri"/>
              </a:rPr>
              <a:t>Safari and Firefox</a:t>
            </a:r>
          </a:p>
          <a:p>
            <a:pPr algn="l" marL="300000" indent="-300000">
              <a:spcAft>
                <a:spcPts val="800"/>
              </a:spcAft>
              <a:buChar char="•"/>
            </a:pPr>
            <a:r>
              <a:rPr sz="1500" b="0">
                <a:solidFill>
                  <a:srgbClr val="0D2B3E"/>
                </a:solidFill>
                <a:latin typeface="Calibri"/>
              </a:rPr>
              <a:t>Live print dialog / PDF output</a:t>
            </a:r>
          </a:p>
          <a:p>
            <a:pPr algn="l" marL="300000" indent="-300000">
              <a:spcAft>
                <a:spcPts val="800"/>
              </a:spcAft>
              <a:buChar char="•"/>
            </a:pPr>
            <a:r>
              <a:rPr sz="1500" b="0">
                <a:solidFill>
                  <a:srgbClr val="0D2B3E"/>
                </a:solidFill>
                <a:latin typeface="Calibri"/>
              </a:rPr>
              <a:t>Real phones; screen-reader audit</a:t>
            </a:r>
          </a:p>
          <a:p>
            <a:pPr algn="l" marL="300000" indent="-300000">
              <a:spcAft>
                <a:spcPts val="800"/>
              </a:spcAft>
              <a:buChar char="•"/>
            </a:pPr>
            <a:r>
              <a:rPr sz="1500" b="0">
                <a:solidFill>
                  <a:srgbClr val="0D2B3E"/>
                </a:solidFill>
                <a:latin typeface="Calibri"/>
              </a:rPr>
              <a:t>Thresholds against live standards</a:t>
            </a:r>
          </a:p>
          <a:p>
            <a:pPr algn="l" marL="300000" indent="-300000">
              <a:spcAft>
                <a:spcPts val="800"/>
              </a:spcAft>
              <a:buChar char="•"/>
            </a:pPr>
            <a:r>
              <a:rPr sz="1500" b="0">
                <a:solidFill>
                  <a:srgbClr val="0D2B3E"/>
                </a:solidFill>
                <a:latin typeface="Calibri"/>
              </a:rPr>
              <a:t>Any real-world pilot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7315200" cy="274320"/>
          </a:xfrm>
          <a:prstGeom prst="rect">
            <a:avLst/>
          </a:prstGeom>
          <a:noFill/>
        </p:spPr>
        <p:txBody>
          <a:bodyPr wrap="square" anchor="t" lIns="36576" rIns="36576" tIns="18288" bIns="18288">
            <a:spAutoFit/>
          </a:bodyPr>
          <a:lstStyle/>
          <a:p>
            <a:pPr algn="l">
              <a:spcAft>
                <a:spcPts val="800"/>
              </a:spcAft>
            </a:pPr>
            <a:r>
              <a:rPr sz="1100" b="1">
                <a:solidFill>
                  <a:srgbClr val="0B6E99"/>
                </a:solidFill>
                <a:latin typeface="Calibri"/>
              </a:rPr>
              <a:t>VALUE</a:t>
            </a:r>
          </a:p>
        </p:txBody>
      </p:sp>
      <p:sp>
        <p:nvSpPr>
          <p:cNvPr id="3" name="TextBox 2"/>
          <p:cNvSpPr txBox="1"/>
          <p:nvPr/>
        </p:nvSpPr>
        <p:spPr>
          <a:xfrm>
            <a:off x="548640" y="548640"/>
            <a:ext cx="11064240" cy="685800"/>
          </a:xfrm>
          <a:prstGeom prst="rect">
            <a:avLst/>
          </a:prstGeom>
          <a:noFill/>
        </p:spPr>
        <p:txBody>
          <a:bodyPr wrap="square" anchor="ctr" lIns="36576" rIns="36576" tIns="18288" bIns="18288">
            <a:spAutoFit/>
          </a:bodyPr>
          <a:lstStyle/>
          <a:p>
            <a:pPr algn="l">
              <a:spcAft>
                <a:spcPts val="800"/>
              </a:spcAft>
            </a:pPr>
            <a:r>
              <a:rPr sz="3000" b="1">
                <a:solidFill>
                  <a:srgbClr val="0B2F4A"/>
                </a:solidFill>
                <a:latin typeface="Calibri"/>
              </a:rPr>
              <a:t>Advantages, disadvantages and practical use cases</a:t>
            </a:r>
          </a:p>
        </p:txBody>
      </p:sp>
      <p:sp>
        <p:nvSpPr>
          <p:cNvPr id="4" name="TextBox 3"/>
          <p:cNvSpPr txBox="1"/>
          <p:nvPr/>
        </p:nvSpPr>
        <p:spPr>
          <a:xfrm>
            <a:off x="548640" y="6473952"/>
            <a:ext cx="9601200" cy="274320"/>
          </a:xfrm>
          <a:prstGeom prst="rect">
            <a:avLst/>
          </a:prstGeom>
          <a:noFill/>
        </p:spPr>
        <p:txBody>
          <a:bodyPr wrap="square" anchor="t" lIns="36576" rIns="36576" tIns="18288" bIns="18288">
            <a:spAutoFit/>
          </a:bodyPr>
          <a:lstStyle/>
          <a:p>
            <a:pPr algn="l">
              <a:spcAft>
                <a:spcPts val="800"/>
              </a:spcAft>
            </a:pPr>
            <a:r>
              <a:rPr sz="900" b="0">
                <a:solidFill>
                  <a:srgbClr val="4C5A67"/>
                </a:solidFill>
                <a:latin typeface="Calibri"/>
              </a:rPr>
              <a:t>AquaGuard AI  |  IBM academic project  |  UN SDG 6  |  Educational screening tool - not a safety certification. Not endorsed by IBM, the UN or any agency.</a:t>
            </a:r>
          </a:p>
        </p:txBody>
      </p:sp>
      <p:sp>
        <p:nvSpPr>
          <p:cNvPr id="5" name="TextBox 4"/>
          <p:cNvSpPr txBox="1"/>
          <p:nvPr/>
        </p:nvSpPr>
        <p:spPr>
          <a:xfrm>
            <a:off x="11155680" y="6473952"/>
            <a:ext cx="548640" cy="274320"/>
          </a:xfrm>
          <a:prstGeom prst="rect">
            <a:avLst/>
          </a:prstGeom>
          <a:noFill/>
        </p:spPr>
        <p:txBody>
          <a:bodyPr wrap="square" anchor="t" lIns="36576" rIns="36576" tIns="18288" bIns="18288">
            <a:spAutoFit/>
          </a:bodyPr>
          <a:lstStyle/>
          <a:p>
            <a:pPr algn="r">
              <a:spcAft>
                <a:spcPts val="800"/>
              </a:spcAft>
            </a:pPr>
            <a:r>
              <a:rPr sz="1000" b="0">
                <a:solidFill>
                  <a:srgbClr val="4C5A67"/>
                </a:solidFill>
                <a:latin typeface="Calibri"/>
              </a:rPr>
              <a:t>23</a:t>
            </a:r>
          </a:p>
        </p:txBody>
      </p:sp>
      <p:sp>
        <p:nvSpPr>
          <p:cNvPr id="6" name="Rounded Rectangle 5"/>
          <p:cNvSpPr/>
          <p:nvPr/>
        </p:nvSpPr>
        <p:spPr>
          <a:xfrm>
            <a:off x="548640" y="1417320"/>
            <a:ext cx="3657600" cy="3200400"/>
          </a:xfrm>
          <a:prstGeom prst="roundRect">
            <a:avLst>
              <a:gd name="adj" fmla="val 5000"/>
            </a:avLst>
          </a:prstGeom>
          <a:solidFill>
            <a:srgbClr val="E4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527048"/>
            <a:ext cx="3328416" cy="457200"/>
          </a:xfrm>
          <a:prstGeom prst="rect">
            <a:avLst/>
          </a:prstGeom>
          <a:noFill/>
        </p:spPr>
        <p:txBody>
          <a:bodyPr wrap="square" anchor="t" lIns="36576" rIns="36576" tIns="18288" bIns="18288">
            <a:spAutoFit/>
          </a:bodyPr>
          <a:lstStyle/>
          <a:p>
            <a:pPr algn="l">
              <a:spcAft>
                <a:spcPts val="800"/>
              </a:spcAft>
            </a:pPr>
            <a:r>
              <a:rPr sz="1700" b="1">
                <a:solidFill>
                  <a:srgbClr val="0B6E99"/>
                </a:solidFill>
                <a:latin typeface="Calibri"/>
              </a:rPr>
              <a:t>Advantages</a:t>
            </a:r>
          </a:p>
        </p:txBody>
      </p:sp>
      <p:sp>
        <p:nvSpPr>
          <p:cNvPr id="8" name="TextBox 7"/>
          <p:cNvSpPr txBox="1"/>
          <p:nvPr/>
        </p:nvSpPr>
        <p:spPr>
          <a:xfrm>
            <a:off x="713232" y="1984248"/>
            <a:ext cx="3328416" cy="2560320"/>
          </a:xfrm>
          <a:prstGeom prst="rect">
            <a:avLst/>
          </a:prstGeom>
          <a:noFill/>
        </p:spPr>
        <p:txBody>
          <a:bodyPr wrap="square" anchor="t" lIns="36576" rIns="36576" tIns="18288" bIns="18288">
            <a:spAutoFit/>
          </a:bodyPr>
          <a:lstStyle/>
          <a:p>
            <a:pPr algn="l" marL="300000" indent="-300000">
              <a:spcAft>
                <a:spcPts val="800"/>
              </a:spcAft>
              <a:buChar char="•"/>
            </a:pPr>
            <a:r>
              <a:rPr sz="1700" b="0">
                <a:solidFill>
                  <a:srgbClr val="0D2B3E"/>
                </a:solidFill>
                <a:latin typeface="Calibri"/>
              </a:rPr>
              <a:t>Opens by double-click</a:t>
            </a:r>
          </a:p>
          <a:p>
            <a:pPr algn="l" marL="300000" indent="-300000">
              <a:spcAft>
                <a:spcPts val="800"/>
              </a:spcAft>
              <a:buChar char="•"/>
            </a:pPr>
            <a:r>
              <a:rPr sz="1700" b="0">
                <a:solidFill>
                  <a:srgbClr val="0D2B3E"/>
                </a:solidFill>
                <a:latin typeface="Calibri"/>
              </a:rPr>
              <a:t>Private: no data leaves the browser</a:t>
            </a:r>
          </a:p>
          <a:p>
            <a:pPr algn="l" marL="300000" indent="-300000">
              <a:spcAft>
                <a:spcPts val="800"/>
              </a:spcAft>
              <a:buChar char="•"/>
            </a:pPr>
            <a:r>
              <a:rPr sz="1700" b="0">
                <a:solidFill>
                  <a:srgbClr val="0D2B3E"/>
                </a:solidFill>
                <a:latin typeface="Calibri"/>
              </a:rPr>
              <a:t>Validation before analysis</a:t>
            </a:r>
          </a:p>
          <a:p>
            <a:pPr algn="l" marL="300000" indent="-300000">
              <a:spcAft>
                <a:spcPts val="800"/>
              </a:spcAft>
              <a:buChar char="•"/>
            </a:pPr>
            <a:r>
              <a:rPr sz="1700" b="0">
                <a:solidFill>
                  <a:srgbClr val="0D2B3E"/>
                </a:solidFill>
                <a:latin typeface="Calibri"/>
              </a:rPr>
              <a:t>Transparent, auditable rules</a:t>
            </a:r>
          </a:p>
        </p:txBody>
      </p:sp>
      <p:sp>
        <p:nvSpPr>
          <p:cNvPr id="9" name="Rounded Rectangle 8"/>
          <p:cNvSpPr/>
          <p:nvPr/>
        </p:nvSpPr>
        <p:spPr>
          <a:xfrm>
            <a:off x="4389120" y="1417320"/>
            <a:ext cx="3657600" cy="3200400"/>
          </a:xfrm>
          <a:prstGeom prst="roundRect">
            <a:avLst>
              <a:gd name="adj" fmla="val 5000"/>
            </a:avLst>
          </a:prstGeom>
          <a:solidFill>
            <a:srgbClr val="FF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1527048"/>
            <a:ext cx="3328416" cy="457200"/>
          </a:xfrm>
          <a:prstGeom prst="rect">
            <a:avLst/>
          </a:prstGeom>
          <a:noFill/>
        </p:spPr>
        <p:txBody>
          <a:bodyPr wrap="square" anchor="t" lIns="36576" rIns="36576" tIns="18288" bIns="18288">
            <a:spAutoFit/>
          </a:bodyPr>
          <a:lstStyle/>
          <a:p>
            <a:pPr algn="l">
              <a:spcAft>
                <a:spcPts val="800"/>
              </a:spcAft>
            </a:pPr>
            <a:r>
              <a:rPr sz="1700" b="1">
                <a:solidFill>
                  <a:srgbClr val="C75F00"/>
                </a:solidFill>
                <a:latin typeface="Calibri"/>
              </a:rPr>
              <a:t>Disadvantages</a:t>
            </a:r>
          </a:p>
        </p:txBody>
      </p:sp>
      <p:sp>
        <p:nvSpPr>
          <p:cNvPr id="11" name="TextBox 10"/>
          <p:cNvSpPr txBox="1"/>
          <p:nvPr/>
        </p:nvSpPr>
        <p:spPr>
          <a:xfrm>
            <a:off x="4553712" y="1984248"/>
            <a:ext cx="3328416" cy="2560320"/>
          </a:xfrm>
          <a:prstGeom prst="rect">
            <a:avLst/>
          </a:prstGeom>
          <a:noFill/>
        </p:spPr>
        <p:txBody>
          <a:bodyPr wrap="square" anchor="t" lIns="36576" rIns="36576" tIns="18288" bIns="18288">
            <a:spAutoFit/>
          </a:bodyPr>
          <a:lstStyle/>
          <a:p>
            <a:pPr algn="l" marL="300000" indent="-300000">
              <a:spcAft>
                <a:spcPts val="800"/>
              </a:spcAft>
              <a:buChar char="•"/>
            </a:pPr>
            <a:r>
              <a:rPr sz="1700" b="0">
                <a:solidFill>
                  <a:srgbClr val="0D2B3E"/>
                </a:solidFill>
                <a:latin typeface="Calibri"/>
              </a:rPr>
              <a:t>Six parameters only</a:t>
            </a:r>
          </a:p>
          <a:p>
            <a:pPr algn="l" marL="300000" indent="-300000">
              <a:spcAft>
                <a:spcPts val="800"/>
              </a:spcAft>
              <a:buChar char="•"/>
            </a:pPr>
            <a:r>
              <a:rPr sz="1700" b="0">
                <a:solidFill>
                  <a:srgbClr val="0D2B3E"/>
                </a:solidFill>
                <a:latin typeface="Calibri"/>
              </a:rPr>
              <a:t>Browser-local storage (per browser)</a:t>
            </a:r>
          </a:p>
          <a:p>
            <a:pPr algn="l" marL="300000" indent="-300000">
              <a:spcAft>
                <a:spcPts val="800"/>
              </a:spcAft>
              <a:buChar char="•"/>
            </a:pPr>
            <a:r>
              <a:rPr sz="1700" b="0">
                <a:solidFill>
                  <a:srgbClr val="0D2B3E"/>
                </a:solidFill>
                <a:latin typeface="Calibri"/>
              </a:rPr>
              <a:t>Thresholds unverified</a:t>
            </a:r>
          </a:p>
          <a:p>
            <a:pPr algn="l" marL="300000" indent="-300000">
              <a:spcAft>
                <a:spcPts val="800"/>
              </a:spcAft>
              <a:buChar char="•"/>
            </a:pPr>
            <a:r>
              <a:rPr sz="1700" b="0">
                <a:solidFill>
                  <a:srgbClr val="0D2B3E"/>
                </a:solidFill>
                <a:latin typeface="Calibri"/>
              </a:rPr>
              <a:t>No sharing or multi-user mode</a:t>
            </a:r>
          </a:p>
        </p:txBody>
      </p:sp>
      <p:sp>
        <p:nvSpPr>
          <p:cNvPr id="12" name="Rounded Rectangle 11"/>
          <p:cNvSpPr/>
          <p:nvPr/>
        </p:nvSpPr>
        <p:spPr>
          <a:xfrm>
            <a:off x="8229600" y="1417320"/>
            <a:ext cx="3383280" cy="3200400"/>
          </a:xfrm>
          <a:prstGeom prst="roundRect">
            <a:avLst>
              <a:gd name="adj" fmla="val 5000"/>
            </a:avLst>
          </a:prstGeom>
          <a:solidFill>
            <a:srgbClr val="E4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94192" y="1527048"/>
            <a:ext cx="3054096" cy="457200"/>
          </a:xfrm>
          <a:prstGeom prst="rect">
            <a:avLst/>
          </a:prstGeom>
          <a:noFill/>
        </p:spPr>
        <p:txBody>
          <a:bodyPr wrap="square" anchor="t" lIns="36576" rIns="36576" tIns="18288" bIns="18288">
            <a:spAutoFit/>
          </a:bodyPr>
          <a:lstStyle/>
          <a:p>
            <a:pPr algn="l">
              <a:spcAft>
                <a:spcPts val="800"/>
              </a:spcAft>
            </a:pPr>
            <a:r>
              <a:rPr sz="1700" b="1">
                <a:solidFill>
                  <a:srgbClr val="0B6E99"/>
                </a:solidFill>
                <a:latin typeface="Calibri"/>
              </a:rPr>
              <a:t>Use cases</a:t>
            </a:r>
          </a:p>
        </p:txBody>
      </p:sp>
      <p:sp>
        <p:nvSpPr>
          <p:cNvPr id="14" name="TextBox 13"/>
          <p:cNvSpPr txBox="1"/>
          <p:nvPr/>
        </p:nvSpPr>
        <p:spPr>
          <a:xfrm>
            <a:off x="8394192" y="1984248"/>
            <a:ext cx="3054096" cy="2560320"/>
          </a:xfrm>
          <a:prstGeom prst="rect">
            <a:avLst/>
          </a:prstGeom>
          <a:noFill/>
        </p:spPr>
        <p:txBody>
          <a:bodyPr wrap="square" anchor="t" lIns="36576" rIns="36576" tIns="18288" bIns="18288">
            <a:spAutoFit/>
          </a:bodyPr>
          <a:lstStyle/>
          <a:p>
            <a:pPr algn="l" marL="300000" indent="-300000">
              <a:spcAft>
                <a:spcPts val="800"/>
              </a:spcAft>
              <a:buChar char="•"/>
            </a:pPr>
            <a:r>
              <a:rPr sz="1700" b="0">
                <a:solidFill>
                  <a:srgbClr val="0D2B3E"/>
                </a:solidFill>
                <a:latin typeface="Calibri"/>
              </a:rPr>
              <a:t>Teaching data literacy</a:t>
            </a:r>
          </a:p>
          <a:p>
            <a:pPr algn="l" marL="300000" indent="-300000">
              <a:spcAft>
                <a:spcPts val="800"/>
              </a:spcAft>
              <a:buChar char="•"/>
            </a:pPr>
            <a:r>
              <a:rPr sz="1700" b="0">
                <a:solidFill>
                  <a:srgbClr val="0D2B3E"/>
                </a:solidFill>
                <a:latin typeface="Calibri"/>
              </a:rPr>
              <a:t>Community monitoring logs</a:t>
            </a:r>
          </a:p>
          <a:p>
            <a:pPr algn="l" marL="300000" indent="-300000">
              <a:spcAft>
                <a:spcPts val="800"/>
              </a:spcAft>
              <a:buChar char="•"/>
            </a:pPr>
            <a:r>
              <a:rPr sz="1700" b="0">
                <a:solidFill>
                  <a:srgbClr val="0D2B3E"/>
                </a:solidFill>
                <a:latin typeface="Calibri"/>
              </a:rPr>
              <a:t>Preparing a lab-test request</a:t>
            </a:r>
          </a:p>
          <a:p>
            <a:pPr algn="l" marL="300000" indent="-300000">
              <a:spcAft>
                <a:spcPts val="800"/>
              </a:spcAft>
              <a:buChar char="•"/>
            </a:pPr>
            <a:r>
              <a:rPr sz="1700" b="0">
                <a:solidFill>
                  <a:srgbClr val="0D2B3E"/>
                </a:solidFill>
                <a:latin typeface="Calibri"/>
              </a:rPr>
              <a:t>Demonstrating screening logic</a:t>
            </a:r>
          </a:p>
        </p:txBody>
      </p:sp>
      <p:sp>
        <p:nvSpPr>
          <p:cNvPr id="15" name="Rounded Rectangle 14"/>
          <p:cNvSpPr/>
          <p:nvPr/>
        </p:nvSpPr>
        <p:spPr>
          <a:xfrm>
            <a:off x="548640" y="4846320"/>
            <a:ext cx="11064240" cy="1371600"/>
          </a:xfrm>
          <a:prstGeom prst="roundRect">
            <a:avLst>
              <a:gd name="adj" fmla="val 5000"/>
            </a:avLst>
          </a:prstGeom>
          <a:solidFill>
            <a:srgbClr val="E4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937760"/>
            <a:ext cx="10698480" cy="1188720"/>
          </a:xfrm>
          <a:prstGeom prst="rect">
            <a:avLst/>
          </a:prstGeom>
          <a:noFill/>
        </p:spPr>
        <p:txBody>
          <a:bodyPr wrap="square" anchor="t" lIns="36576" rIns="36576" tIns="18288" bIns="18288">
            <a:spAutoFit/>
          </a:bodyPr>
          <a:lstStyle/>
          <a:p>
            <a:pPr algn="l">
              <a:spcAft>
                <a:spcPts val="800"/>
              </a:spcAft>
            </a:pPr>
            <a:r>
              <a:rPr sz="1900" b="0">
                <a:solidFill>
                  <a:srgbClr val="0D2B3E"/>
                </a:solidFill>
                <a:latin typeface="Calibri"/>
              </a:rPr>
              <a:t>Compared with manual interpretation: consistent rules, early data-quality checks, trends and exports. Not compared: accuracy of conclusions, because none was measured.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7315200" cy="274320"/>
          </a:xfrm>
          <a:prstGeom prst="rect">
            <a:avLst/>
          </a:prstGeom>
          <a:noFill/>
        </p:spPr>
        <p:txBody>
          <a:bodyPr wrap="square" anchor="t" lIns="36576" rIns="36576" tIns="18288" bIns="18288">
            <a:spAutoFit/>
          </a:bodyPr>
          <a:lstStyle/>
          <a:p>
            <a:pPr algn="l">
              <a:spcAft>
                <a:spcPts val="800"/>
              </a:spcAft>
            </a:pPr>
            <a:r>
              <a:rPr sz="1100" b="1">
                <a:solidFill>
                  <a:srgbClr val="0B6E99"/>
                </a:solidFill>
                <a:latin typeface="Calibri"/>
              </a:rPr>
              <a:t>RESPONSIBILITY</a:t>
            </a:r>
          </a:p>
        </p:txBody>
      </p:sp>
      <p:sp>
        <p:nvSpPr>
          <p:cNvPr id="3" name="TextBox 2"/>
          <p:cNvSpPr txBox="1"/>
          <p:nvPr/>
        </p:nvSpPr>
        <p:spPr>
          <a:xfrm>
            <a:off x="548640" y="548640"/>
            <a:ext cx="11064240" cy="685800"/>
          </a:xfrm>
          <a:prstGeom prst="rect">
            <a:avLst/>
          </a:prstGeom>
          <a:noFill/>
        </p:spPr>
        <p:txBody>
          <a:bodyPr wrap="square" anchor="ctr" lIns="36576" rIns="36576" tIns="18288" bIns="18288">
            <a:spAutoFit/>
          </a:bodyPr>
          <a:lstStyle/>
          <a:p>
            <a:pPr algn="l">
              <a:spcAft>
                <a:spcPts val="800"/>
              </a:spcAft>
            </a:pPr>
            <a:r>
              <a:rPr sz="3000" b="1">
                <a:solidFill>
                  <a:srgbClr val="0B2F4A"/>
                </a:solidFill>
                <a:latin typeface="Calibri"/>
              </a:rPr>
              <a:t>Privacy, security, ethics and limitations</a:t>
            </a:r>
          </a:p>
        </p:txBody>
      </p:sp>
      <p:sp>
        <p:nvSpPr>
          <p:cNvPr id="4" name="TextBox 3"/>
          <p:cNvSpPr txBox="1"/>
          <p:nvPr/>
        </p:nvSpPr>
        <p:spPr>
          <a:xfrm>
            <a:off x="548640" y="6473952"/>
            <a:ext cx="9601200" cy="274320"/>
          </a:xfrm>
          <a:prstGeom prst="rect">
            <a:avLst/>
          </a:prstGeom>
          <a:noFill/>
        </p:spPr>
        <p:txBody>
          <a:bodyPr wrap="square" anchor="t" lIns="36576" rIns="36576" tIns="18288" bIns="18288">
            <a:spAutoFit/>
          </a:bodyPr>
          <a:lstStyle/>
          <a:p>
            <a:pPr algn="l">
              <a:spcAft>
                <a:spcPts val="800"/>
              </a:spcAft>
            </a:pPr>
            <a:r>
              <a:rPr sz="900" b="0">
                <a:solidFill>
                  <a:srgbClr val="4C5A67"/>
                </a:solidFill>
                <a:latin typeface="Calibri"/>
              </a:rPr>
              <a:t>AquaGuard AI  |  IBM academic project  |  UN SDG 6  |  Educational screening tool - not a safety certification. Not endorsed by IBM, the UN or any agency.</a:t>
            </a:r>
          </a:p>
        </p:txBody>
      </p:sp>
      <p:sp>
        <p:nvSpPr>
          <p:cNvPr id="5" name="TextBox 4"/>
          <p:cNvSpPr txBox="1"/>
          <p:nvPr/>
        </p:nvSpPr>
        <p:spPr>
          <a:xfrm>
            <a:off x="11155680" y="6473952"/>
            <a:ext cx="548640" cy="274320"/>
          </a:xfrm>
          <a:prstGeom prst="rect">
            <a:avLst/>
          </a:prstGeom>
          <a:noFill/>
        </p:spPr>
        <p:txBody>
          <a:bodyPr wrap="square" anchor="t" lIns="36576" rIns="36576" tIns="18288" bIns="18288">
            <a:spAutoFit/>
          </a:bodyPr>
          <a:lstStyle/>
          <a:p>
            <a:pPr algn="r">
              <a:spcAft>
                <a:spcPts val="800"/>
              </a:spcAft>
            </a:pPr>
            <a:r>
              <a:rPr sz="1000" b="0">
                <a:solidFill>
                  <a:srgbClr val="4C5A67"/>
                </a:solidFill>
                <a:latin typeface="Calibri"/>
              </a:rPr>
              <a:t>24</a:t>
            </a:r>
          </a:p>
        </p:txBody>
      </p:sp>
      <p:sp>
        <p:nvSpPr>
          <p:cNvPr id="6" name="Rounded Rectangle 5"/>
          <p:cNvSpPr/>
          <p:nvPr/>
        </p:nvSpPr>
        <p:spPr>
          <a:xfrm>
            <a:off x="548640" y="1417320"/>
            <a:ext cx="5394960" cy="2286000"/>
          </a:xfrm>
          <a:prstGeom prst="roundRect">
            <a:avLst>
              <a:gd name="adj" fmla="val 5000"/>
            </a:avLst>
          </a:prstGeom>
          <a:solidFill>
            <a:srgbClr val="E4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527048"/>
            <a:ext cx="5065776" cy="457200"/>
          </a:xfrm>
          <a:prstGeom prst="rect">
            <a:avLst/>
          </a:prstGeom>
          <a:noFill/>
        </p:spPr>
        <p:txBody>
          <a:bodyPr wrap="square" anchor="t" lIns="36576" rIns="36576" tIns="18288" bIns="18288">
            <a:spAutoFit/>
          </a:bodyPr>
          <a:lstStyle/>
          <a:p>
            <a:pPr algn="l">
              <a:spcAft>
                <a:spcPts val="800"/>
              </a:spcAft>
            </a:pPr>
            <a:r>
              <a:rPr sz="1700" b="1">
                <a:solidFill>
                  <a:srgbClr val="0B6E99"/>
                </a:solidFill>
                <a:latin typeface="Calibri"/>
              </a:rPr>
              <a:t>Privacy</a:t>
            </a:r>
          </a:p>
        </p:txBody>
      </p:sp>
      <p:sp>
        <p:nvSpPr>
          <p:cNvPr id="8" name="TextBox 7"/>
          <p:cNvSpPr txBox="1"/>
          <p:nvPr/>
        </p:nvSpPr>
        <p:spPr>
          <a:xfrm>
            <a:off x="713232" y="1984248"/>
            <a:ext cx="5065776" cy="1645920"/>
          </a:xfrm>
          <a:prstGeom prst="rect">
            <a:avLst/>
          </a:prstGeom>
          <a:noFill/>
        </p:spPr>
        <p:txBody>
          <a:bodyPr wrap="square" anchor="t" lIns="36576" rIns="36576" tIns="18288" bIns="18288">
            <a:spAutoFit/>
          </a:bodyPr>
          <a:lstStyle/>
          <a:p>
            <a:pPr algn="l">
              <a:spcAft>
                <a:spcPts val="800"/>
              </a:spcAft>
            </a:pPr>
            <a:r>
              <a:rPr sz="1900" b="0">
                <a:solidFill>
                  <a:srgbClr val="0D2B3E"/>
                </a:solidFill>
                <a:latin typeface="Calibri"/>
              </a:rPr>
              <a:t>No accounts, no personal data, no network calls; data stays in this browser's localStorage.</a:t>
            </a:r>
          </a:p>
        </p:txBody>
      </p:sp>
      <p:sp>
        <p:nvSpPr>
          <p:cNvPr id="9" name="Rounded Rectangle 8"/>
          <p:cNvSpPr/>
          <p:nvPr/>
        </p:nvSpPr>
        <p:spPr>
          <a:xfrm>
            <a:off x="6217920" y="1417320"/>
            <a:ext cx="5394960" cy="2286000"/>
          </a:xfrm>
          <a:prstGeom prst="roundRect">
            <a:avLst>
              <a:gd name="adj" fmla="val 5000"/>
            </a:avLst>
          </a:prstGeom>
          <a:solidFill>
            <a:srgbClr val="E4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2512" y="1527048"/>
            <a:ext cx="5065776" cy="457200"/>
          </a:xfrm>
          <a:prstGeom prst="rect">
            <a:avLst/>
          </a:prstGeom>
          <a:noFill/>
        </p:spPr>
        <p:txBody>
          <a:bodyPr wrap="square" anchor="t" lIns="36576" rIns="36576" tIns="18288" bIns="18288">
            <a:spAutoFit/>
          </a:bodyPr>
          <a:lstStyle/>
          <a:p>
            <a:pPr algn="l">
              <a:spcAft>
                <a:spcPts val="800"/>
              </a:spcAft>
            </a:pPr>
            <a:r>
              <a:rPr sz="1700" b="1">
                <a:solidFill>
                  <a:srgbClr val="0B6E99"/>
                </a:solidFill>
                <a:latin typeface="Calibri"/>
              </a:rPr>
              <a:t>Security</a:t>
            </a:r>
          </a:p>
        </p:txBody>
      </p:sp>
      <p:sp>
        <p:nvSpPr>
          <p:cNvPr id="11" name="TextBox 10"/>
          <p:cNvSpPr txBox="1"/>
          <p:nvPr/>
        </p:nvSpPr>
        <p:spPr>
          <a:xfrm>
            <a:off x="6382512" y="1984248"/>
            <a:ext cx="5065776" cy="1645920"/>
          </a:xfrm>
          <a:prstGeom prst="rect">
            <a:avLst/>
          </a:prstGeom>
          <a:noFill/>
        </p:spPr>
        <p:txBody>
          <a:bodyPr wrap="square" anchor="t" lIns="36576" rIns="36576" tIns="18288" bIns="18288">
            <a:spAutoFit/>
          </a:bodyPr>
          <a:lstStyle/>
          <a:p>
            <a:pPr algn="l">
              <a:spcAft>
                <a:spcPts val="800"/>
              </a:spcAft>
            </a:pPr>
            <a:r>
              <a:rPr sz="1900" b="0">
                <a:solidFill>
                  <a:srgbClr val="0D2B3E"/>
                </a:solidFill>
                <a:latin typeface="Calibri"/>
              </a:rPr>
              <a:t>Files parsed as text only; size limits; all output HTML-escaped; CSV formula injection neutralised.</a:t>
            </a:r>
          </a:p>
        </p:txBody>
      </p:sp>
      <p:sp>
        <p:nvSpPr>
          <p:cNvPr id="12" name="Rounded Rectangle 11"/>
          <p:cNvSpPr/>
          <p:nvPr/>
        </p:nvSpPr>
        <p:spPr>
          <a:xfrm>
            <a:off x="548640" y="3886200"/>
            <a:ext cx="5394960" cy="2286000"/>
          </a:xfrm>
          <a:prstGeom prst="roundRect">
            <a:avLst>
              <a:gd name="adj" fmla="val 5000"/>
            </a:avLst>
          </a:prstGeom>
          <a:solidFill>
            <a:srgbClr val="E4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3995928"/>
            <a:ext cx="5065776" cy="457200"/>
          </a:xfrm>
          <a:prstGeom prst="rect">
            <a:avLst/>
          </a:prstGeom>
          <a:noFill/>
        </p:spPr>
        <p:txBody>
          <a:bodyPr wrap="square" anchor="t" lIns="36576" rIns="36576" tIns="18288" bIns="18288">
            <a:spAutoFit/>
          </a:bodyPr>
          <a:lstStyle/>
          <a:p>
            <a:pPr algn="l">
              <a:spcAft>
                <a:spcPts val="800"/>
              </a:spcAft>
            </a:pPr>
            <a:r>
              <a:rPr sz="1700" b="1">
                <a:solidFill>
                  <a:srgbClr val="0B6E99"/>
                </a:solidFill>
                <a:latin typeface="Calibri"/>
              </a:rPr>
              <a:t>Ethics</a:t>
            </a:r>
          </a:p>
        </p:txBody>
      </p:sp>
      <p:sp>
        <p:nvSpPr>
          <p:cNvPr id="14" name="TextBox 13"/>
          <p:cNvSpPr txBox="1"/>
          <p:nvPr/>
        </p:nvSpPr>
        <p:spPr>
          <a:xfrm>
            <a:off x="713232" y="4453128"/>
            <a:ext cx="5065776" cy="1645920"/>
          </a:xfrm>
          <a:prstGeom prst="rect">
            <a:avLst/>
          </a:prstGeom>
          <a:noFill/>
        </p:spPr>
        <p:txBody>
          <a:bodyPr wrap="square" anchor="t" lIns="36576" rIns="36576" tIns="18288" bIns="18288">
            <a:spAutoFit/>
          </a:bodyPr>
          <a:lstStyle/>
          <a:p>
            <a:pPr algn="l">
              <a:spcAft>
                <a:spcPts val="800"/>
              </a:spcAft>
            </a:pPr>
            <a:r>
              <a:rPr sz="1900" b="0">
                <a:solidFill>
                  <a:srgbClr val="0D2B3E"/>
                </a:solidFill>
                <a:latin typeface="Calibri"/>
              </a:rPr>
              <a:t>Never labels water safe/unsafe; synthetic data always labelled; no endorsement claimed.</a:t>
            </a:r>
          </a:p>
        </p:txBody>
      </p:sp>
      <p:sp>
        <p:nvSpPr>
          <p:cNvPr id="15" name="Rounded Rectangle 14"/>
          <p:cNvSpPr/>
          <p:nvPr/>
        </p:nvSpPr>
        <p:spPr>
          <a:xfrm>
            <a:off x="6217920" y="3886200"/>
            <a:ext cx="5394960" cy="2286000"/>
          </a:xfrm>
          <a:prstGeom prst="roundRect">
            <a:avLst>
              <a:gd name="adj" fmla="val 5000"/>
            </a:avLst>
          </a:prstGeom>
          <a:solidFill>
            <a:srgbClr val="FF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3995928"/>
            <a:ext cx="5065776" cy="457200"/>
          </a:xfrm>
          <a:prstGeom prst="rect">
            <a:avLst/>
          </a:prstGeom>
          <a:noFill/>
        </p:spPr>
        <p:txBody>
          <a:bodyPr wrap="square" anchor="t" lIns="36576" rIns="36576" tIns="18288" bIns="18288">
            <a:spAutoFit/>
          </a:bodyPr>
          <a:lstStyle/>
          <a:p>
            <a:pPr algn="l">
              <a:spcAft>
                <a:spcPts val="800"/>
              </a:spcAft>
            </a:pPr>
            <a:r>
              <a:rPr sz="1700" b="1">
                <a:solidFill>
                  <a:srgbClr val="C75F00"/>
                </a:solidFill>
                <a:latin typeface="Calibri"/>
              </a:rPr>
              <a:t>Limitations</a:t>
            </a:r>
          </a:p>
        </p:txBody>
      </p:sp>
      <p:sp>
        <p:nvSpPr>
          <p:cNvPr id="17" name="TextBox 16"/>
          <p:cNvSpPr txBox="1"/>
          <p:nvPr/>
        </p:nvSpPr>
        <p:spPr>
          <a:xfrm>
            <a:off x="6382512" y="4453128"/>
            <a:ext cx="5065776" cy="1645920"/>
          </a:xfrm>
          <a:prstGeom prst="rect">
            <a:avLst/>
          </a:prstGeom>
          <a:noFill/>
        </p:spPr>
        <p:txBody>
          <a:bodyPr wrap="square" anchor="t" lIns="36576" rIns="36576" tIns="18288" bIns="18288">
            <a:spAutoFit/>
          </a:bodyPr>
          <a:lstStyle/>
          <a:p>
            <a:pPr algn="l">
              <a:spcAft>
                <a:spcPts val="800"/>
              </a:spcAft>
            </a:pPr>
            <a:r>
              <a:rPr sz="1900" b="0">
                <a:solidFill>
                  <a:srgbClr val="0D2B3E"/>
                </a:solidFill>
                <a:latin typeface="Calibri"/>
              </a:rPr>
              <a:t>Few parameters; no microbiology or toxic chemicals; unverified thresholds; tested in Chromium only.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7315200" cy="274320"/>
          </a:xfrm>
          <a:prstGeom prst="rect">
            <a:avLst/>
          </a:prstGeom>
          <a:noFill/>
        </p:spPr>
        <p:txBody>
          <a:bodyPr wrap="square" anchor="t" lIns="36576" rIns="36576" tIns="18288" bIns="18288">
            <a:spAutoFit/>
          </a:bodyPr>
          <a:lstStyle/>
          <a:p>
            <a:pPr algn="l">
              <a:spcAft>
                <a:spcPts val="800"/>
              </a:spcAft>
            </a:pPr>
            <a:r>
              <a:rPr sz="1100" b="1">
                <a:solidFill>
                  <a:srgbClr val="0B6E99"/>
                </a:solidFill>
                <a:latin typeface="Calibri"/>
              </a:rPr>
              <a:t>FUTURE</a:t>
            </a:r>
          </a:p>
        </p:txBody>
      </p:sp>
      <p:sp>
        <p:nvSpPr>
          <p:cNvPr id="3" name="TextBox 2"/>
          <p:cNvSpPr txBox="1"/>
          <p:nvPr/>
        </p:nvSpPr>
        <p:spPr>
          <a:xfrm>
            <a:off x="548640" y="548640"/>
            <a:ext cx="11064240" cy="685800"/>
          </a:xfrm>
          <a:prstGeom prst="rect">
            <a:avLst/>
          </a:prstGeom>
          <a:noFill/>
        </p:spPr>
        <p:txBody>
          <a:bodyPr wrap="square" anchor="ctr" lIns="36576" rIns="36576" tIns="18288" bIns="18288">
            <a:spAutoFit/>
          </a:bodyPr>
          <a:lstStyle/>
          <a:p>
            <a:pPr algn="l">
              <a:spcAft>
                <a:spcPts val="800"/>
              </a:spcAft>
            </a:pPr>
            <a:r>
              <a:rPr sz="3000" b="1">
                <a:solidFill>
                  <a:srgbClr val="0B2F4A"/>
                </a:solidFill>
                <a:latin typeface="Calibri"/>
              </a:rPr>
              <a:t>SDG impact pathway and future scope</a:t>
            </a:r>
          </a:p>
        </p:txBody>
      </p:sp>
      <p:sp>
        <p:nvSpPr>
          <p:cNvPr id="4" name="TextBox 3"/>
          <p:cNvSpPr txBox="1"/>
          <p:nvPr/>
        </p:nvSpPr>
        <p:spPr>
          <a:xfrm>
            <a:off x="548640" y="6473952"/>
            <a:ext cx="9601200" cy="274320"/>
          </a:xfrm>
          <a:prstGeom prst="rect">
            <a:avLst/>
          </a:prstGeom>
          <a:noFill/>
        </p:spPr>
        <p:txBody>
          <a:bodyPr wrap="square" anchor="t" lIns="36576" rIns="36576" tIns="18288" bIns="18288">
            <a:spAutoFit/>
          </a:bodyPr>
          <a:lstStyle/>
          <a:p>
            <a:pPr algn="l">
              <a:spcAft>
                <a:spcPts val="800"/>
              </a:spcAft>
            </a:pPr>
            <a:r>
              <a:rPr sz="900" b="0">
                <a:solidFill>
                  <a:srgbClr val="4C5A67"/>
                </a:solidFill>
                <a:latin typeface="Calibri"/>
              </a:rPr>
              <a:t>AquaGuard AI  |  IBM academic project  |  UN SDG 6  |  Educational screening tool - not a safety certification. Not endorsed by IBM, the UN or any agency.</a:t>
            </a:r>
          </a:p>
        </p:txBody>
      </p:sp>
      <p:sp>
        <p:nvSpPr>
          <p:cNvPr id="5" name="TextBox 4"/>
          <p:cNvSpPr txBox="1"/>
          <p:nvPr/>
        </p:nvSpPr>
        <p:spPr>
          <a:xfrm>
            <a:off x="11155680" y="6473952"/>
            <a:ext cx="548640" cy="274320"/>
          </a:xfrm>
          <a:prstGeom prst="rect">
            <a:avLst/>
          </a:prstGeom>
          <a:noFill/>
        </p:spPr>
        <p:txBody>
          <a:bodyPr wrap="square" anchor="t" lIns="36576" rIns="36576" tIns="18288" bIns="18288">
            <a:spAutoFit/>
          </a:bodyPr>
          <a:lstStyle/>
          <a:p>
            <a:pPr algn="r">
              <a:spcAft>
                <a:spcPts val="800"/>
              </a:spcAft>
            </a:pPr>
            <a:r>
              <a:rPr sz="1000" b="0">
                <a:solidFill>
                  <a:srgbClr val="4C5A67"/>
                </a:solidFill>
                <a:latin typeface="Calibri"/>
              </a:rPr>
              <a:t>25</a:t>
            </a:r>
          </a:p>
        </p:txBody>
      </p:sp>
      <p:sp>
        <p:nvSpPr>
          <p:cNvPr id="6" name="Rounded Rectangle 5"/>
          <p:cNvSpPr/>
          <p:nvPr/>
        </p:nvSpPr>
        <p:spPr>
          <a:xfrm>
            <a:off x="548640" y="1463040"/>
            <a:ext cx="2651760" cy="2011680"/>
          </a:xfrm>
          <a:prstGeom prst="roundRect">
            <a:avLst>
              <a:gd name="adj" fmla="val 5000"/>
            </a:avLst>
          </a:prstGeom>
          <a:solidFill>
            <a:srgbClr val="E4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572768"/>
            <a:ext cx="2322576" cy="457200"/>
          </a:xfrm>
          <a:prstGeom prst="rect">
            <a:avLst/>
          </a:prstGeom>
          <a:noFill/>
        </p:spPr>
        <p:txBody>
          <a:bodyPr wrap="square" anchor="t" lIns="36576" rIns="36576" tIns="18288" bIns="18288">
            <a:spAutoFit/>
          </a:bodyPr>
          <a:lstStyle/>
          <a:p>
            <a:pPr algn="l">
              <a:spcAft>
                <a:spcPts val="800"/>
              </a:spcAft>
            </a:pPr>
            <a:r>
              <a:rPr sz="1700" b="1">
                <a:solidFill>
                  <a:srgbClr val="0B6E99"/>
                </a:solidFill>
                <a:latin typeface="Calibri"/>
              </a:rPr>
              <a:t>Clearer interpretation</a:t>
            </a:r>
          </a:p>
        </p:txBody>
      </p:sp>
      <p:sp>
        <p:nvSpPr>
          <p:cNvPr id="8" name="TextBox 7"/>
          <p:cNvSpPr txBox="1"/>
          <p:nvPr/>
        </p:nvSpPr>
        <p:spPr>
          <a:xfrm>
            <a:off x="713232" y="2029968"/>
            <a:ext cx="2322576" cy="1371600"/>
          </a:xfrm>
          <a:prstGeom prst="rect">
            <a:avLst/>
          </a:prstGeom>
          <a:noFill/>
        </p:spPr>
        <p:txBody>
          <a:bodyPr wrap="square" anchor="t" lIns="36576" rIns="36576" tIns="18288" bIns="18288">
            <a:spAutoFit/>
          </a:bodyPr>
          <a:lstStyle/>
          <a:p>
            <a:pPr algn="l">
              <a:spcAft>
                <a:spcPts val="800"/>
              </a:spcAft>
            </a:pPr>
            <a:r>
              <a:rPr sz="1600" b="0">
                <a:solidFill>
                  <a:srgbClr val="0D2B3E"/>
                </a:solidFill>
                <a:latin typeface="Calibri"/>
              </a:rPr>
              <a:t>Readings are validated and explained</a:t>
            </a:r>
          </a:p>
        </p:txBody>
      </p:sp>
      <p:sp>
        <p:nvSpPr>
          <p:cNvPr id="9" name="TextBox 8"/>
          <p:cNvSpPr txBox="1"/>
          <p:nvPr/>
        </p:nvSpPr>
        <p:spPr>
          <a:xfrm>
            <a:off x="3182112" y="2286000"/>
            <a:ext cx="274320" cy="365760"/>
          </a:xfrm>
          <a:prstGeom prst="rect">
            <a:avLst/>
          </a:prstGeom>
          <a:noFill/>
        </p:spPr>
        <p:txBody>
          <a:bodyPr wrap="square" anchor="t" lIns="36576" rIns="36576" tIns="18288" bIns="18288">
            <a:spAutoFit/>
          </a:bodyPr>
          <a:lstStyle/>
          <a:p>
            <a:pPr algn="l">
              <a:spcAft>
                <a:spcPts val="800"/>
              </a:spcAft>
            </a:pPr>
            <a:r>
              <a:rPr sz="1200" b="0">
                <a:solidFill>
                  <a:srgbClr val="0B6E99"/>
                </a:solidFill>
                <a:latin typeface="Calibri"/>
              </a:rPr>
              <a:t>▶</a:t>
            </a:r>
          </a:p>
        </p:txBody>
      </p:sp>
      <p:sp>
        <p:nvSpPr>
          <p:cNvPr id="10" name="Rounded Rectangle 9"/>
          <p:cNvSpPr/>
          <p:nvPr/>
        </p:nvSpPr>
        <p:spPr>
          <a:xfrm>
            <a:off x="3337560" y="1463040"/>
            <a:ext cx="2651760" cy="2011680"/>
          </a:xfrm>
          <a:prstGeom prst="roundRect">
            <a:avLst>
              <a:gd name="adj" fmla="val 5000"/>
            </a:avLst>
          </a:prstGeom>
          <a:solidFill>
            <a:srgbClr val="E4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02152" y="1572768"/>
            <a:ext cx="2322576" cy="457200"/>
          </a:xfrm>
          <a:prstGeom prst="rect">
            <a:avLst/>
          </a:prstGeom>
          <a:noFill/>
        </p:spPr>
        <p:txBody>
          <a:bodyPr wrap="square" anchor="t" lIns="36576" rIns="36576" tIns="18288" bIns="18288">
            <a:spAutoFit/>
          </a:bodyPr>
          <a:lstStyle/>
          <a:p>
            <a:pPr algn="l">
              <a:spcAft>
                <a:spcPts val="800"/>
              </a:spcAft>
            </a:pPr>
            <a:r>
              <a:rPr sz="1700" b="1">
                <a:solidFill>
                  <a:srgbClr val="0B6E99"/>
                </a:solidFill>
                <a:latin typeface="Calibri"/>
              </a:rPr>
              <a:t>Better follow-up</a:t>
            </a:r>
          </a:p>
        </p:txBody>
      </p:sp>
      <p:sp>
        <p:nvSpPr>
          <p:cNvPr id="12" name="TextBox 11"/>
          <p:cNvSpPr txBox="1"/>
          <p:nvPr/>
        </p:nvSpPr>
        <p:spPr>
          <a:xfrm>
            <a:off x="3502152" y="2029968"/>
            <a:ext cx="2322576" cy="1371600"/>
          </a:xfrm>
          <a:prstGeom prst="rect">
            <a:avLst/>
          </a:prstGeom>
          <a:noFill/>
        </p:spPr>
        <p:txBody>
          <a:bodyPr wrap="square" anchor="t" lIns="36576" rIns="36576" tIns="18288" bIns="18288">
            <a:spAutoFit/>
          </a:bodyPr>
          <a:lstStyle/>
          <a:p>
            <a:pPr algn="l">
              <a:spcAft>
                <a:spcPts val="800"/>
              </a:spcAft>
            </a:pPr>
            <a:r>
              <a:rPr sz="1600" b="0">
                <a:solidFill>
                  <a:srgbClr val="0D2B3E"/>
                </a:solidFill>
                <a:latin typeface="Calibri"/>
              </a:rPr>
              <a:t>Users know when lab testing is warranted</a:t>
            </a:r>
          </a:p>
        </p:txBody>
      </p:sp>
      <p:sp>
        <p:nvSpPr>
          <p:cNvPr id="13" name="TextBox 12"/>
          <p:cNvSpPr txBox="1"/>
          <p:nvPr/>
        </p:nvSpPr>
        <p:spPr>
          <a:xfrm>
            <a:off x="5971031" y="2286000"/>
            <a:ext cx="274320" cy="365760"/>
          </a:xfrm>
          <a:prstGeom prst="rect">
            <a:avLst/>
          </a:prstGeom>
          <a:noFill/>
        </p:spPr>
        <p:txBody>
          <a:bodyPr wrap="square" anchor="t" lIns="36576" rIns="36576" tIns="18288" bIns="18288">
            <a:spAutoFit/>
          </a:bodyPr>
          <a:lstStyle/>
          <a:p>
            <a:pPr algn="l">
              <a:spcAft>
                <a:spcPts val="800"/>
              </a:spcAft>
            </a:pPr>
            <a:r>
              <a:rPr sz="1200" b="0">
                <a:solidFill>
                  <a:srgbClr val="0B6E99"/>
                </a:solidFill>
                <a:latin typeface="Calibri"/>
              </a:rPr>
              <a:t>▶</a:t>
            </a:r>
          </a:p>
        </p:txBody>
      </p:sp>
      <p:sp>
        <p:nvSpPr>
          <p:cNvPr id="14" name="Rounded Rectangle 13"/>
          <p:cNvSpPr/>
          <p:nvPr/>
        </p:nvSpPr>
        <p:spPr>
          <a:xfrm>
            <a:off x="6126479" y="1463040"/>
            <a:ext cx="2651760" cy="2011680"/>
          </a:xfrm>
          <a:prstGeom prst="roundRect">
            <a:avLst>
              <a:gd name="adj" fmla="val 5000"/>
            </a:avLst>
          </a:prstGeom>
          <a:solidFill>
            <a:srgbClr val="E4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91071" y="1572768"/>
            <a:ext cx="2322576" cy="457200"/>
          </a:xfrm>
          <a:prstGeom prst="rect">
            <a:avLst/>
          </a:prstGeom>
          <a:noFill/>
        </p:spPr>
        <p:txBody>
          <a:bodyPr wrap="square" anchor="t" lIns="36576" rIns="36576" tIns="18288" bIns="18288">
            <a:spAutoFit/>
          </a:bodyPr>
          <a:lstStyle/>
          <a:p>
            <a:pPr algn="l">
              <a:spcAft>
                <a:spcPts val="800"/>
              </a:spcAft>
            </a:pPr>
            <a:r>
              <a:rPr sz="1700" b="1">
                <a:solidFill>
                  <a:srgbClr val="0B6E99"/>
                </a:solidFill>
                <a:latin typeface="Calibri"/>
              </a:rPr>
              <a:t>Earlier attention</a:t>
            </a:r>
          </a:p>
        </p:txBody>
      </p:sp>
      <p:sp>
        <p:nvSpPr>
          <p:cNvPr id="16" name="TextBox 15"/>
          <p:cNvSpPr txBox="1"/>
          <p:nvPr/>
        </p:nvSpPr>
        <p:spPr>
          <a:xfrm>
            <a:off x="6291071" y="2029968"/>
            <a:ext cx="2322576" cy="1371600"/>
          </a:xfrm>
          <a:prstGeom prst="rect">
            <a:avLst/>
          </a:prstGeom>
          <a:noFill/>
        </p:spPr>
        <p:txBody>
          <a:bodyPr wrap="square" anchor="t" lIns="36576" rIns="36576" tIns="18288" bIns="18288">
            <a:spAutoFit/>
          </a:bodyPr>
          <a:lstStyle/>
          <a:p>
            <a:pPr algn="l">
              <a:spcAft>
                <a:spcPts val="800"/>
              </a:spcAft>
            </a:pPr>
            <a:r>
              <a:rPr sz="1600" b="0">
                <a:solidFill>
                  <a:srgbClr val="0D2B3E"/>
                </a:solidFill>
                <a:latin typeface="Calibri"/>
              </a:rPr>
              <a:t>Drifting sites are noticed sooner</a:t>
            </a:r>
          </a:p>
        </p:txBody>
      </p:sp>
      <p:sp>
        <p:nvSpPr>
          <p:cNvPr id="17" name="TextBox 16"/>
          <p:cNvSpPr txBox="1"/>
          <p:nvPr/>
        </p:nvSpPr>
        <p:spPr>
          <a:xfrm>
            <a:off x="8759951" y="2286000"/>
            <a:ext cx="274320" cy="365760"/>
          </a:xfrm>
          <a:prstGeom prst="rect">
            <a:avLst/>
          </a:prstGeom>
          <a:noFill/>
        </p:spPr>
        <p:txBody>
          <a:bodyPr wrap="square" anchor="t" lIns="36576" rIns="36576" tIns="18288" bIns="18288">
            <a:spAutoFit/>
          </a:bodyPr>
          <a:lstStyle/>
          <a:p>
            <a:pPr algn="l">
              <a:spcAft>
                <a:spcPts val="800"/>
              </a:spcAft>
            </a:pPr>
            <a:r>
              <a:rPr sz="1200" b="0">
                <a:solidFill>
                  <a:srgbClr val="0B6E99"/>
                </a:solidFill>
                <a:latin typeface="Calibri"/>
              </a:rPr>
              <a:t>▶</a:t>
            </a:r>
          </a:p>
        </p:txBody>
      </p:sp>
      <p:sp>
        <p:nvSpPr>
          <p:cNvPr id="18" name="Rounded Rectangle 17"/>
          <p:cNvSpPr/>
          <p:nvPr/>
        </p:nvSpPr>
        <p:spPr>
          <a:xfrm>
            <a:off x="8915399" y="1463040"/>
            <a:ext cx="2651760" cy="2011680"/>
          </a:xfrm>
          <a:prstGeom prst="roundRect">
            <a:avLst>
              <a:gd name="adj" fmla="val 5000"/>
            </a:avLst>
          </a:prstGeom>
          <a:solidFill>
            <a:srgbClr val="E4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79991" y="1572768"/>
            <a:ext cx="2322576" cy="457200"/>
          </a:xfrm>
          <a:prstGeom prst="rect">
            <a:avLst/>
          </a:prstGeom>
          <a:noFill/>
        </p:spPr>
        <p:txBody>
          <a:bodyPr wrap="square" anchor="t" lIns="36576" rIns="36576" tIns="18288" bIns="18288">
            <a:spAutoFit/>
          </a:bodyPr>
          <a:lstStyle/>
          <a:p>
            <a:pPr algn="l">
              <a:spcAft>
                <a:spcPts val="800"/>
              </a:spcAft>
            </a:pPr>
            <a:r>
              <a:rPr sz="1700" b="1">
                <a:solidFill>
                  <a:srgbClr val="0B6E99"/>
                </a:solidFill>
                <a:latin typeface="Calibri"/>
              </a:rPr>
              <a:t>Possible SDG 6 benefit</a:t>
            </a:r>
          </a:p>
        </p:txBody>
      </p:sp>
      <p:sp>
        <p:nvSpPr>
          <p:cNvPr id="20" name="TextBox 19"/>
          <p:cNvSpPr txBox="1"/>
          <p:nvPr/>
        </p:nvSpPr>
        <p:spPr>
          <a:xfrm>
            <a:off x="9079991" y="2029968"/>
            <a:ext cx="2322576" cy="1371600"/>
          </a:xfrm>
          <a:prstGeom prst="rect">
            <a:avLst/>
          </a:prstGeom>
          <a:noFill/>
        </p:spPr>
        <p:txBody>
          <a:bodyPr wrap="square" anchor="t" lIns="36576" rIns="36576" tIns="18288" bIns="18288">
            <a:spAutoFit/>
          </a:bodyPr>
          <a:lstStyle/>
          <a:p>
            <a:pPr algn="l">
              <a:spcAft>
                <a:spcPts val="800"/>
              </a:spcAft>
            </a:pPr>
            <a:r>
              <a:rPr sz="1600" b="0">
                <a:solidFill>
                  <a:srgbClr val="0D2B3E"/>
                </a:solidFill>
                <a:latin typeface="Calibri"/>
              </a:rPr>
              <a:t>Requires action by water managers; not claimed</a:t>
            </a:r>
          </a:p>
        </p:txBody>
      </p:sp>
      <p:sp>
        <p:nvSpPr>
          <p:cNvPr id="21" name="Rounded Rectangle 20"/>
          <p:cNvSpPr/>
          <p:nvPr/>
        </p:nvSpPr>
        <p:spPr>
          <a:xfrm>
            <a:off x="548640" y="3749039"/>
            <a:ext cx="5486400" cy="2514600"/>
          </a:xfrm>
          <a:prstGeom prst="roundRect">
            <a:avLst>
              <a:gd name="adj" fmla="val 5000"/>
            </a:avLst>
          </a:prstGeom>
          <a:solidFill>
            <a:srgbClr val="E4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3858768"/>
            <a:ext cx="5157216" cy="457200"/>
          </a:xfrm>
          <a:prstGeom prst="rect">
            <a:avLst/>
          </a:prstGeom>
          <a:noFill/>
        </p:spPr>
        <p:txBody>
          <a:bodyPr wrap="square" anchor="t" lIns="36576" rIns="36576" tIns="18288" bIns="18288">
            <a:spAutoFit/>
          </a:bodyPr>
          <a:lstStyle/>
          <a:p>
            <a:pPr algn="l">
              <a:spcAft>
                <a:spcPts val="800"/>
              </a:spcAft>
            </a:pPr>
            <a:r>
              <a:rPr sz="1700" b="1">
                <a:solidFill>
                  <a:srgbClr val="0B6E99"/>
                </a:solidFill>
                <a:latin typeface="Calibri"/>
              </a:rPr>
              <a:t>Realistic next steps</a:t>
            </a:r>
          </a:p>
        </p:txBody>
      </p:sp>
      <p:sp>
        <p:nvSpPr>
          <p:cNvPr id="23" name="TextBox 22"/>
          <p:cNvSpPr txBox="1"/>
          <p:nvPr/>
        </p:nvSpPr>
        <p:spPr>
          <a:xfrm>
            <a:off x="713232" y="4315968"/>
            <a:ext cx="5157216" cy="1874519"/>
          </a:xfrm>
          <a:prstGeom prst="rect">
            <a:avLst/>
          </a:prstGeom>
          <a:noFill/>
        </p:spPr>
        <p:txBody>
          <a:bodyPr wrap="square" anchor="t" lIns="36576" rIns="36576" tIns="18288" bIns="18288">
            <a:spAutoFit/>
          </a:bodyPr>
          <a:lstStyle/>
          <a:p>
            <a:pPr algn="l" marL="300000" indent="-300000">
              <a:spcAft>
                <a:spcPts val="800"/>
              </a:spcAft>
              <a:buChar char="•"/>
            </a:pPr>
            <a:r>
              <a:rPr sz="1600" b="0">
                <a:solidFill>
                  <a:srgbClr val="0D2B3E"/>
                </a:solidFill>
                <a:latin typeface="Calibri"/>
              </a:rPr>
              <a:t>Verify every threshold against the sources</a:t>
            </a:r>
          </a:p>
          <a:p>
            <a:pPr algn="l" marL="300000" indent="-300000">
              <a:spcAft>
                <a:spcPts val="800"/>
              </a:spcAft>
              <a:buChar char="•"/>
            </a:pPr>
            <a:r>
              <a:rPr sz="1600" b="0">
                <a:solidFill>
                  <a:srgbClr val="0D2B3E"/>
                </a:solidFill>
                <a:latin typeface="Calibri"/>
              </a:rPr>
              <a:t>Test in Safari and Firefox; accessibility audit</a:t>
            </a:r>
          </a:p>
          <a:p>
            <a:pPr algn="l" marL="300000" indent="-300000">
              <a:spcAft>
                <a:spcPts val="800"/>
              </a:spcAft>
              <a:buChar char="•"/>
            </a:pPr>
            <a:r>
              <a:rPr sz="1600" b="0">
                <a:solidFill>
                  <a:srgbClr val="0D2B3E"/>
                </a:solidFill>
                <a:latin typeface="Calibri"/>
              </a:rPr>
              <a:t>Add parameters with documented criteria</a:t>
            </a:r>
          </a:p>
          <a:p>
            <a:pPr algn="l" marL="300000" indent="-300000">
              <a:spcAft>
                <a:spcPts val="800"/>
              </a:spcAft>
              <a:buChar char="•"/>
            </a:pPr>
            <a:r>
              <a:rPr sz="1600" b="0">
                <a:solidFill>
                  <a:srgbClr val="0D2B3E"/>
                </a:solidFill>
                <a:latin typeface="Calibri"/>
              </a:rPr>
              <a:t>Bundled PDF export</a:t>
            </a:r>
          </a:p>
        </p:txBody>
      </p:sp>
      <p:sp>
        <p:nvSpPr>
          <p:cNvPr id="24" name="Rounded Rectangle 23"/>
          <p:cNvSpPr/>
          <p:nvPr/>
        </p:nvSpPr>
        <p:spPr>
          <a:xfrm>
            <a:off x="6217920" y="3749039"/>
            <a:ext cx="5394960" cy="2514600"/>
          </a:xfrm>
          <a:prstGeom prst="roundRect">
            <a:avLst>
              <a:gd name="adj" fmla="val 5000"/>
            </a:avLst>
          </a:prstGeom>
          <a:solidFill>
            <a:srgbClr val="E4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82512" y="3858768"/>
            <a:ext cx="5065776" cy="457200"/>
          </a:xfrm>
          <a:prstGeom prst="rect">
            <a:avLst/>
          </a:prstGeom>
          <a:noFill/>
        </p:spPr>
        <p:txBody>
          <a:bodyPr wrap="square" anchor="t" lIns="36576" rIns="36576" tIns="18288" bIns="18288">
            <a:spAutoFit/>
          </a:bodyPr>
          <a:lstStyle/>
          <a:p>
            <a:pPr algn="l">
              <a:spcAft>
                <a:spcPts val="800"/>
              </a:spcAft>
            </a:pPr>
            <a:r>
              <a:rPr sz="1700" b="1">
                <a:solidFill>
                  <a:srgbClr val="0B6E99"/>
                </a:solidFill>
                <a:latin typeface="Calibri"/>
              </a:rPr>
              <a:t>Evaluation plan (not yet done)</a:t>
            </a:r>
          </a:p>
        </p:txBody>
      </p:sp>
      <p:sp>
        <p:nvSpPr>
          <p:cNvPr id="26" name="TextBox 25"/>
          <p:cNvSpPr txBox="1"/>
          <p:nvPr/>
        </p:nvSpPr>
        <p:spPr>
          <a:xfrm>
            <a:off x="6382512" y="4315968"/>
            <a:ext cx="5065776" cy="1874519"/>
          </a:xfrm>
          <a:prstGeom prst="rect">
            <a:avLst/>
          </a:prstGeom>
          <a:noFill/>
        </p:spPr>
        <p:txBody>
          <a:bodyPr wrap="square" anchor="t" lIns="36576" rIns="36576" tIns="18288" bIns="18288">
            <a:spAutoFit/>
          </a:bodyPr>
          <a:lstStyle/>
          <a:p>
            <a:pPr algn="l" marL="300000" indent="-300000">
              <a:spcAft>
                <a:spcPts val="800"/>
              </a:spcAft>
              <a:buChar char="•"/>
            </a:pPr>
            <a:r>
              <a:rPr sz="1600" b="0">
                <a:solidFill>
                  <a:srgbClr val="0D2B3E"/>
                </a:solidFill>
                <a:latin typeface="Calibri"/>
              </a:rPr>
              <a:t>Pilot with 2-3 school/community monitors, with consent</a:t>
            </a:r>
          </a:p>
          <a:p>
            <a:pPr algn="l" marL="300000" indent="-300000">
              <a:spcAft>
                <a:spcPts val="800"/>
              </a:spcAft>
              <a:buChar char="•"/>
            </a:pPr>
            <a:r>
              <a:rPr sz="1600" b="0">
                <a:solidFill>
                  <a:srgbClr val="0D2B3E"/>
                </a:solidFill>
                <a:latin typeface="Calibri"/>
              </a:rPr>
              <a:t>Measure time to interpret, errors caught, comprehension</a:t>
            </a:r>
          </a:p>
          <a:p>
            <a:pPr algn="l" marL="300000" indent="-300000">
              <a:spcAft>
                <a:spcPts val="800"/>
              </a:spcAft>
              <a:buChar char="•"/>
            </a:pPr>
            <a:r>
              <a:rPr sz="1600" b="0">
                <a:solidFill>
                  <a:srgbClr val="0D2B3E"/>
                </a:solidFill>
                <a:latin typeface="Calibri"/>
              </a:rPr>
              <a:t>Compare with a spreadsheet baseline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7315200" cy="274320"/>
          </a:xfrm>
          <a:prstGeom prst="rect">
            <a:avLst/>
          </a:prstGeom>
          <a:noFill/>
        </p:spPr>
        <p:txBody>
          <a:bodyPr wrap="square" anchor="t" lIns="36576" rIns="36576" tIns="18288" bIns="18288">
            <a:spAutoFit/>
          </a:bodyPr>
          <a:lstStyle/>
          <a:p>
            <a:pPr algn="l">
              <a:spcAft>
                <a:spcPts val="800"/>
              </a:spcAft>
            </a:pPr>
            <a:r>
              <a:rPr sz="1100" b="1">
                <a:solidFill>
                  <a:srgbClr val="0B6E99"/>
                </a:solidFill>
                <a:latin typeface="Calibri"/>
              </a:rPr>
              <a:t>WRAP-UP</a:t>
            </a:r>
          </a:p>
        </p:txBody>
      </p:sp>
      <p:sp>
        <p:nvSpPr>
          <p:cNvPr id="3" name="TextBox 2"/>
          <p:cNvSpPr txBox="1"/>
          <p:nvPr/>
        </p:nvSpPr>
        <p:spPr>
          <a:xfrm>
            <a:off x="548640" y="548640"/>
            <a:ext cx="11064240" cy="685800"/>
          </a:xfrm>
          <a:prstGeom prst="rect">
            <a:avLst/>
          </a:prstGeom>
          <a:noFill/>
        </p:spPr>
        <p:txBody>
          <a:bodyPr wrap="square" anchor="ctr" lIns="36576" rIns="36576" tIns="18288" bIns="18288">
            <a:spAutoFit/>
          </a:bodyPr>
          <a:lstStyle/>
          <a:p>
            <a:pPr algn="l">
              <a:spcAft>
                <a:spcPts val="800"/>
              </a:spcAft>
            </a:pPr>
            <a:r>
              <a:rPr sz="3000" b="1">
                <a:solidFill>
                  <a:srgbClr val="0B2F4A"/>
                </a:solidFill>
                <a:latin typeface="Calibri"/>
              </a:rPr>
              <a:t>Conclusion and references</a:t>
            </a:r>
          </a:p>
        </p:txBody>
      </p:sp>
      <p:sp>
        <p:nvSpPr>
          <p:cNvPr id="4" name="TextBox 3"/>
          <p:cNvSpPr txBox="1"/>
          <p:nvPr/>
        </p:nvSpPr>
        <p:spPr>
          <a:xfrm>
            <a:off x="548640" y="6473952"/>
            <a:ext cx="9601200" cy="274320"/>
          </a:xfrm>
          <a:prstGeom prst="rect">
            <a:avLst/>
          </a:prstGeom>
          <a:noFill/>
        </p:spPr>
        <p:txBody>
          <a:bodyPr wrap="square" anchor="t" lIns="36576" rIns="36576" tIns="18288" bIns="18288">
            <a:spAutoFit/>
          </a:bodyPr>
          <a:lstStyle/>
          <a:p>
            <a:pPr algn="l">
              <a:spcAft>
                <a:spcPts val="800"/>
              </a:spcAft>
            </a:pPr>
            <a:r>
              <a:rPr sz="900" b="0">
                <a:solidFill>
                  <a:srgbClr val="4C5A67"/>
                </a:solidFill>
                <a:latin typeface="Calibri"/>
              </a:rPr>
              <a:t>AquaGuard AI  |  IBM academic project  |  UN SDG 6  |  Educational screening tool - not a safety certification. Not endorsed by IBM, the UN or any agency.</a:t>
            </a:r>
          </a:p>
        </p:txBody>
      </p:sp>
      <p:sp>
        <p:nvSpPr>
          <p:cNvPr id="5" name="TextBox 4"/>
          <p:cNvSpPr txBox="1"/>
          <p:nvPr/>
        </p:nvSpPr>
        <p:spPr>
          <a:xfrm>
            <a:off x="11155680" y="6473952"/>
            <a:ext cx="548640" cy="274320"/>
          </a:xfrm>
          <a:prstGeom prst="rect">
            <a:avLst/>
          </a:prstGeom>
          <a:noFill/>
        </p:spPr>
        <p:txBody>
          <a:bodyPr wrap="square" anchor="t" lIns="36576" rIns="36576" tIns="18288" bIns="18288">
            <a:spAutoFit/>
          </a:bodyPr>
          <a:lstStyle/>
          <a:p>
            <a:pPr algn="r">
              <a:spcAft>
                <a:spcPts val="800"/>
              </a:spcAft>
            </a:pPr>
            <a:r>
              <a:rPr sz="1000" b="0">
                <a:solidFill>
                  <a:srgbClr val="4C5A67"/>
                </a:solidFill>
                <a:latin typeface="Calibri"/>
              </a:rPr>
              <a:t>26</a:t>
            </a:r>
          </a:p>
        </p:txBody>
      </p:sp>
      <p:sp>
        <p:nvSpPr>
          <p:cNvPr id="6" name="Rounded Rectangle 5"/>
          <p:cNvSpPr/>
          <p:nvPr/>
        </p:nvSpPr>
        <p:spPr>
          <a:xfrm>
            <a:off x="548640" y="1417320"/>
            <a:ext cx="4754880" cy="4846320"/>
          </a:xfrm>
          <a:prstGeom prst="roundRect">
            <a:avLst>
              <a:gd name="adj" fmla="val 5000"/>
            </a:avLst>
          </a:prstGeom>
          <a:solidFill>
            <a:srgbClr val="E4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527048"/>
            <a:ext cx="4425696" cy="457200"/>
          </a:xfrm>
          <a:prstGeom prst="rect">
            <a:avLst/>
          </a:prstGeom>
          <a:noFill/>
        </p:spPr>
        <p:txBody>
          <a:bodyPr wrap="square" anchor="t" lIns="36576" rIns="36576" tIns="18288" bIns="18288">
            <a:spAutoFit/>
          </a:bodyPr>
          <a:lstStyle/>
          <a:p>
            <a:pPr algn="l">
              <a:spcAft>
                <a:spcPts val="800"/>
              </a:spcAft>
            </a:pPr>
            <a:r>
              <a:rPr sz="1700" b="1">
                <a:solidFill>
                  <a:srgbClr val="0B6E99"/>
                </a:solidFill>
                <a:latin typeface="Calibri"/>
              </a:rPr>
              <a:t>Conclusion</a:t>
            </a:r>
          </a:p>
        </p:txBody>
      </p:sp>
      <p:sp>
        <p:nvSpPr>
          <p:cNvPr id="8" name="TextBox 7"/>
          <p:cNvSpPr txBox="1"/>
          <p:nvPr/>
        </p:nvSpPr>
        <p:spPr>
          <a:xfrm>
            <a:off x="713232" y="1984248"/>
            <a:ext cx="4425696" cy="4206240"/>
          </a:xfrm>
          <a:prstGeom prst="rect">
            <a:avLst/>
          </a:prstGeom>
          <a:noFill/>
        </p:spPr>
        <p:txBody>
          <a:bodyPr wrap="square" anchor="t" lIns="36576" rIns="36576" tIns="18288" bIns="18288">
            <a:spAutoFit/>
          </a:bodyPr>
          <a:lstStyle/>
          <a:p>
            <a:pPr algn="l" marL="300000" indent="-300000">
              <a:spcAft>
                <a:spcPts val="800"/>
              </a:spcAft>
              <a:buChar char="•"/>
            </a:pPr>
            <a:r>
              <a:rPr sz="1900" b="0">
                <a:solidFill>
                  <a:srgbClr val="0D2B3E"/>
                </a:solidFill>
                <a:latin typeface="Calibri"/>
              </a:rPr>
              <a:t>AquaGuard AI is a working, tested, double-click web app for transparent water-quality screening.</a:t>
            </a:r>
          </a:p>
          <a:p>
            <a:pPr algn="l" marL="300000" indent="-300000">
              <a:spcAft>
                <a:spcPts val="800"/>
              </a:spcAft>
              <a:buChar char="•"/>
            </a:pPr>
            <a:r>
              <a:rPr sz="1900" b="0">
                <a:solidFill>
                  <a:srgbClr val="0D2B3E"/>
                </a:solidFill>
                <a:latin typeface="Calibri"/>
              </a:rPr>
              <a:t>It validates data, explains flags and refuses to overclaim.</a:t>
            </a:r>
          </a:p>
          <a:p>
            <a:pPr algn="l" marL="300000" indent="-300000">
              <a:spcAft>
                <a:spcPts val="800"/>
              </a:spcAft>
              <a:buChar char="•"/>
            </a:pPr>
            <a:r>
              <a:rPr sz="1900" b="0">
                <a:solidFill>
                  <a:srgbClr val="0D2B3E"/>
                </a:solidFill>
                <a:latin typeface="Calibri"/>
              </a:rPr>
              <a:t>Its value for real users still has to be evaluated.</a:t>
            </a:r>
          </a:p>
        </p:txBody>
      </p:sp>
      <p:sp>
        <p:nvSpPr>
          <p:cNvPr id="9" name="TextBox 8"/>
          <p:cNvSpPr txBox="1"/>
          <p:nvPr/>
        </p:nvSpPr>
        <p:spPr>
          <a:xfrm>
            <a:off x="5577840" y="1417320"/>
            <a:ext cx="6035040" cy="4937760"/>
          </a:xfrm>
          <a:prstGeom prst="rect">
            <a:avLst/>
          </a:prstGeom>
          <a:noFill/>
        </p:spPr>
        <p:txBody>
          <a:bodyPr wrap="square" anchor="t" lIns="36576" rIns="36576" tIns="18288" bIns="18288">
            <a:spAutoFit/>
          </a:bodyPr>
          <a:lstStyle/>
          <a:p>
            <a:pPr algn="l">
              <a:spcAft>
                <a:spcPts val="700"/>
              </a:spcAft>
            </a:pPr>
            <a:r>
              <a:rPr sz="1400" b="0">
                <a:solidFill>
                  <a:srgbClr val="0D2B3E"/>
                </a:solidFill>
                <a:latin typeface="Calibri"/>
              </a:rPr>
              <a:t>References (URLs not re-opened during build; verify):</a:t>
            </a:r>
          </a:p>
          <a:p>
            <a:pPr algn="l">
              <a:spcAft>
                <a:spcPts val="700"/>
              </a:spcAft>
            </a:pPr>
            <a:r>
              <a:rPr sz="1400" b="0">
                <a:solidFill>
                  <a:srgbClr val="0D2B3E"/>
                </a:solidFill>
                <a:latin typeface="Calibri"/>
              </a:rPr>
              <a:t>UN SDG 6: https://sdgs.un.org/goals/goal6</a:t>
            </a:r>
          </a:p>
          <a:p>
            <a:pPr algn="l">
              <a:spcAft>
                <a:spcPts val="700"/>
              </a:spcAft>
            </a:pPr>
            <a:r>
              <a:rPr sz="1400" b="0">
                <a:solidFill>
                  <a:srgbClr val="0D2B3E"/>
                </a:solidFill>
                <a:latin typeface="Calibri"/>
              </a:rPr>
              <a:t>WHO Guidelines for drinking-water quality, 4th ed. + addenda (2022): https://www.who.int/publications/i/item/9789240045064</a:t>
            </a:r>
          </a:p>
          <a:p>
            <a:pPr algn="l">
              <a:spcAft>
                <a:spcPts val="700"/>
              </a:spcAft>
            </a:pPr>
            <a:r>
              <a:rPr sz="1400" b="0">
                <a:solidFill>
                  <a:srgbClr val="0D2B3E"/>
                </a:solidFill>
                <a:latin typeface="Calibri"/>
              </a:rPr>
              <a:t>WHO/UNICEF JMP: https://washdata.org</a:t>
            </a:r>
          </a:p>
          <a:p>
            <a:pPr algn="l">
              <a:spcAft>
                <a:spcPts val="700"/>
              </a:spcAft>
            </a:pPr>
            <a:r>
              <a:rPr sz="1400" b="0">
                <a:solidFill>
                  <a:srgbClr val="0D2B3E"/>
                </a:solidFill>
                <a:latin typeface="Calibri"/>
              </a:rPr>
              <a:t>BIS IS 10500: https://www.bis.gov.in</a:t>
            </a:r>
          </a:p>
          <a:p>
            <a:pPr algn="l">
              <a:spcAft>
                <a:spcPts val="700"/>
              </a:spcAft>
            </a:pPr>
            <a:r>
              <a:rPr sz="1400" b="0">
                <a:solidFill>
                  <a:srgbClr val="0D2B3E"/>
                </a:solidFill>
                <a:latin typeface="Calibri"/>
              </a:rPr>
              <a:t>CPCB: https://cpcb.nic.in</a:t>
            </a:r>
          </a:p>
          <a:p>
            <a:pPr algn="l">
              <a:spcAft>
                <a:spcPts val="700"/>
              </a:spcAft>
            </a:pPr>
            <a:r>
              <a:rPr sz="1400" b="0">
                <a:solidFill>
                  <a:srgbClr val="0D2B3E"/>
                </a:solidFill>
                <a:latin typeface="Calibri"/>
              </a:rPr>
              <a:t>UN-Water SDG 6 Synthesis Report 2018: https://www.unwater.org/publications/highlights-sdg-6-synthesis-report-2018-water-and-sanitation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